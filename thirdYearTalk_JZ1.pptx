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863" r:id="rId3"/>
    <p:sldId id="869" r:id="rId4"/>
    <p:sldId id="870" r:id="rId5"/>
    <p:sldId id="871" r:id="rId6"/>
    <p:sldId id="872" r:id="rId7"/>
    <p:sldId id="263" r:id="rId8"/>
    <p:sldId id="874" r:id="rId9"/>
    <p:sldId id="873" r:id="rId10"/>
    <p:sldId id="876" r:id="rId11"/>
    <p:sldId id="875" r:id="rId12"/>
    <p:sldId id="865" r:id="rId13"/>
    <p:sldId id="860" r:id="rId14"/>
    <p:sldId id="308" r:id="rId15"/>
    <p:sldId id="270" r:id="rId16"/>
    <p:sldId id="854" r:id="rId17"/>
    <p:sldId id="281" r:id="rId18"/>
    <p:sldId id="856" r:id="rId19"/>
    <p:sldId id="855" r:id="rId20"/>
    <p:sldId id="864" r:id="rId21"/>
    <p:sldId id="277" r:id="rId22"/>
    <p:sldId id="853" r:id="rId23"/>
    <p:sldId id="861" r:id="rId24"/>
    <p:sldId id="852" r:id="rId25"/>
    <p:sldId id="311" r:id="rId26"/>
    <p:sldId id="862" r:id="rId27"/>
    <p:sldId id="278" r:id="rId28"/>
    <p:sldId id="293" r:id="rId29"/>
    <p:sldId id="294" r:id="rId30"/>
    <p:sldId id="840" r:id="rId31"/>
    <p:sldId id="842" r:id="rId32"/>
    <p:sldId id="848" r:id="rId33"/>
    <p:sldId id="851" r:id="rId34"/>
    <p:sldId id="291" r:id="rId35"/>
    <p:sldId id="261" r:id="rId36"/>
    <p:sldId id="792" r:id="rId37"/>
    <p:sldId id="794" r:id="rId38"/>
    <p:sldId id="795" r:id="rId39"/>
    <p:sldId id="857" r:id="rId40"/>
    <p:sldId id="285" r:id="rId41"/>
    <p:sldId id="288" r:id="rId42"/>
    <p:sldId id="287" r:id="rId43"/>
    <p:sldId id="28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8B6321-2491-5B4A-8DF4-8348E1BD7867}" v="49" dt="2025-05-02T01:13:02.292"/>
    <p1510:client id="{CA33795E-8B1E-2D41-A7D4-638E96C28E54}" v="123" dt="2025-05-01T14:18:48.5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80"/>
    <p:restoredTop sz="70642"/>
  </p:normalViewPr>
  <p:slideViewPr>
    <p:cSldViewPr snapToGrid="0">
      <p:cViewPr>
        <p:scale>
          <a:sx n="55" d="100"/>
          <a:sy n="55" d="100"/>
        </p:scale>
        <p:origin x="2008" y="368"/>
      </p:cViewPr>
      <p:guideLst/>
    </p:cSldViewPr>
  </p:slideViewPr>
  <p:notesTextViewPr>
    <p:cViewPr>
      <p:scale>
        <a:sx n="1" d="1"/>
        <a:sy n="1" d="1"/>
      </p:scale>
      <p:origin x="0" y="-928"/>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m Zhang" userId="fa6909b4-cf68-47b2-80b2-932828f90439" providerId="ADAL" clId="{3F8B6321-2491-5B4A-8DF4-8348E1BD7867}"/>
    <pc:docChg chg="undo custSel addSld delSld modSld">
      <pc:chgData name="Jim Zhang" userId="fa6909b4-cf68-47b2-80b2-932828f90439" providerId="ADAL" clId="{3F8B6321-2491-5B4A-8DF4-8348E1BD7867}" dt="2025-05-02T01:16:51.185" v="1669" actId="2696"/>
      <pc:docMkLst>
        <pc:docMk/>
      </pc:docMkLst>
      <pc:sldChg chg="modNotesTx">
        <pc:chgData name="Jim Zhang" userId="fa6909b4-cf68-47b2-80b2-932828f90439" providerId="ADAL" clId="{3F8B6321-2491-5B4A-8DF4-8348E1BD7867}" dt="2025-05-02T00:34:42.907" v="565" actId="20577"/>
        <pc:sldMkLst>
          <pc:docMk/>
          <pc:sldMk cId="180898774" sldId="256"/>
        </pc:sldMkLst>
      </pc:sldChg>
      <pc:sldChg chg="del">
        <pc:chgData name="Jim Zhang" userId="fa6909b4-cf68-47b2-80b2-932828f90439" providerId="ADAL" clId="{3F8B6321-2491-5B4A-8DF4-8348E1BD7867}" dt="2025-05-02T01:16:50.059" v="1666" actId="2696"/>
        <pc:sldMkLst>
          <pc:docMk/>
          <pc:sldMk cId="3705768515" sldId="262"/>
        </pc:sldMkLst>
      </pc:sldChg>
      <pc:sldChg chg="delSp add mod modNotesTx">
        <pc:chgData name="Jim Zhang" userId="fa6909b4-cf68-47b2-80b2-932828f90439" providerId="ADAL" clId="{3F8B6321-2491-5B4A-8DF4-8348E1BD7867}" dt="2025-05-02T01:05:10.815" v="1445" actId="113"/>
        <pc:sldMkLst>
          <pc:docMk/>
          <pc:sldMk cId="782166819" sldId="263"/>
        </pc:sldMkLst>
        <pc:picChg chg="del">
          <ac:chgData name="Jim Zhang" userId="fa6909b4-cf68-47b2-80b2-932828f90439" providerId="ADAL" clId="{3F8B6321-2491-5B4A-8DF4-8348E1BD7867}" dt="2025-05-02T01:05:04.391" v="1443" actId="478"/>
          <ac:picMkLst>
            <pc:docMk/>
            <pc:sldMk cId="782166819" sldId="263"/>
            <ac:picMk id="4" creationId="{C82B7B83-512C-F99B-CEFD-C2EEC578541D}"/>
          </ac:picMkLst>
        </pc:picChg>
        <pc:picChg chg="del">
          <ac:chgData name="Jim Zhang" userId="fa6909b4-cf68-47b2-80b2-932828f90439" providerId="ADAL" clId="{3F8B6321-2491-5B4A-8DF4-8348E1BD7867}" dt="2025-05-02T01:05:04.905" v="1444" actId="478"/>
          <ac:picMkLst>
            <pc:docMk/>
            <pc:sldMk cId="782166819" sldId="263"/>
            <ac:picMk id="5" creationId="{7B9DEAB4-BB6C-A92D-0ED9-F4B82356F258}"/>
          </ac:picMkLst>
        </pc:picChg>
      </pc:sldChg>
      <pc:sldChg chg="addSp delSp modSp mod modNotesTx">
        <pc:chgData name="Jim Zhang" userId="fa6909b4-cf68-47b2-80b2-932828f90439" providerId="ADAL" clId="{3F8B6321-2491-5B4A-8DF4-8348E1BD7867}" dt="2025-05-02T00:32:51.332" v="322" actId="20577"/>
        <pc:sldMkLst>
          <pc:docMk/>
          <pc:sldMk cId="3921197420" sldId="270"/>
        </pc:sldMkLst>
        <pc:spChg chg="del mod">
          <ac:chgData name="Jim Zhang" userId="fa6909b4-cf68-47b2-80b2-932828f90439" providerId="ADAL" clId="{3F8B6321-2491-5B4A-8DF4-8348E1BD7867}" dt="2025-05-02T00:11:10.442" v="201" actId="478"/>
          <ac:spMkLst>
            <pc:docMk/>
            <pc:sldMk cId="3921197420" sldId="270"/>
            <ac:spMk id="5" creationId="{79F5F522-D756-D4BA-6BE5-6D34579E20B6}"/>
          </ac:spMkLst>
        </pc:spChg>
        <pc:spChg chg="mod">
          <ac:chgData name="Jim Zhang" userId="fa6909b4-cf68-47b2-80b2-932828f90439" providerId="ADAL" clId="{3F8B6321-2491-5B4A-8DF4-8348E1BD7867}" dt="2025-05-02T00:11:17.209" v="213" actId="1076"/>
          <ac:spMkLst>
            <pc:docMk/>
            <pc:sldMk cId="3921197420" sldId="270"/>
            <ac:spMk id="6" creationId="{C7BA8B36-BD2E-B839-E202-808FE2833342}"/>
          </ac:spMkLst>
        </pc:spChg>
        <pc:spChg chg="mod">
          <ac:chgData name="Jim Zhang" userId="fa6909b4-cf68-47b2-80b2-932828f90439" providerId="ADAL" clId="{3F8B6321-2491-5B4A-8DF4-8348E1BD7867}" dt="2025-05-02T00:11:45.931" v="231" actId="1076"/>
          <ac:spMkLst>
            <pc:docMk/>
            <pc:sldMk cId="3921197420" sldId="270"/>
            <ac:spMk id="7" creationId="{328AC38C-8F96-0A7B-F506-8065746E3FBD}"/>
          </ac:spMkLst>
        </pc:spChg>
        <pc:spChg chg="del mod">
          <ac:chgData name="Jim Zhang" userId="fa6909b4-cf68-47b2-80b2-932828f90439" providerId="ADAL" clId="{3F8B6321-2491-5B4A-8DF4-8348E1BD7867}" dt="2025-05-02T00:11:26.321" v="228" actId="478"/>
          <ac:spMkLst>
            <pc:docMk/>
            <pc:sldMk cId="3921197420" sldId="270"/>
            <ac:spMk id="9" creationId="{30CB43DF-DA16-F375-5F87-599D9D3F9FB6}"/>
          </ac:spMkLst>
        </pc:spChg>
        <pc:spChg chg="del mod">
          <ac:chgData name="Jim Zhang" userId="fa6909b4-cf68-47b2-80b2-932828f90439" providerId="ADAL" clId="{3F8B6321-2491-5B4A-8DF4-8348E1BD7867}" dt="2025-05-02T00:08:31.874" v="162" actId="478"/>
          <ac:spMkLst>
            <pc:docMk/>
            <pc:sldMk cId="3921197420" sldId="270"/>
            <ac:spMk id="13" creationId="{56B31B7C-C9D8-37DB-E94A-84A475470ECD}"/>
          </ac:spMkLst>
        </pc:spChg>
        <pc:grpChg chg="add mod">
          <ac:chgData name="Jim Zhang" userId="fa6909b4-cf68-47b2-80b2-932828f90439" providerId="ADAL" clId="{3F8B6321-2491-5B4A-8DF4-8348E1BD7867}" dt="2025-05-02T00:12:38.274" v="233" actId="1076"/>
          <ac:grpSpMkLst>
            <pc:docMk/>
            <pc:sldMk cId="3921197420" sldId="270"/>
            <ac:grpSpMk id="2" creationId="{564D826D-57FF-749B-5E62-4607F111F018}"/>
          </ac:grpSpMkLst>
        </pc:grpChg>
        <pc:grpChg chg="mod">
          <ac:chgData name="Jim Zhang" userId="fa6909b4-cf68-47b2-80b2-932828f90439" providerId="ADAL" clId="{3F8B6321-2491-5B4A-8DF4-8348E1BD7867}" dt="2025-05-02T00:09:47.821" v="176" actId="1076"/>
          <ac:grpSpMkLst>
            <pc:docMk/>
            <pc:sldMk cId="3921197420" sldId="270"/>
            <ac:grpSpMk id="42" creationId="{8CA174F5-E271-A87A-1E3B-28BE30197810}"/>
          </ac:grpSpMkLst>
        </pc:grpChg>
        <pc:picChg chg="mod">
          <ac:chgData name="Jim Zhang" userId="fa6909b4-cf68-47b2-80b2-932828f90439" providerId="ADAL" clId="{3F8B6321-2491-5B4A-8DF4-8348E1BD7867}" dt="2025-05-02T00:08:19.906" v="161" actId="1076"/>
          <ac:picMkLst>
            <pc:docMk/>
            <pc:sldMk cId="3921197420" sldId="270"/>
            <ac:picMk id="40" creationId="{EA331BC1-460C-19DB-DACD-92F75764F558}"/>
          </ac:picMkLst>
        </pc:picChg>
        <pc:cxnChg chg="mod">
          <ac:chgData name="Jim Zhang" userId="fa6909b4-cf68-47b2-80b2-932828f90439" providerId="ADAL" clId="{3F8B6321-2491-5B4A-8DF4-8348E1BD7867}" dt="2025-05-02T00:08:45.178" v="164" actId="14100"/>
          <ac:cxnSpMkLst>
            <pc:docMk/>
            <pc:sldMk cId="3921197420" sldId="270"/>
            <ac:cxnSpMk id="3" creationId="{029A085C-5F11-26B5-7D40-310752786864}"/>
          </ac:cxnSpMkLst>
        </pc:cxnChg>
        <pc:cxnChg chg="mod">
          <ac:chgData name="Jim Zhang" userId="fa6909b4-cf68-47b2-80b2-932828f90439" providerId="ADAL" clId="{3F8B6321-2491-5B4A-8DF4-8348E1BD7867}" dt="2025-05-02T00:11:42.591" v="230" actId="1076"/>
          <ac:cxnSpMkLst>
            <pc:docMk/>
            <pc:sldMk cId="3921197420" sldId="270"/>
            <ac:cxnSpMk id="4" creationId="{FAB20800-B3B6-5060-54D8-8EECB39D9D77}"/>
          </ac:cxnSpMkLst>
        </pc:cxnChg>
      </pc:sldChg>
      <pc:sldChg chg="addSp delSp modSp mod">
        <pc:chgData name="Jim Zhang" userId="fa6909b4-cf68-47b2-80b2-932828f90439" providerId="ADAL" clId="{3F8B6321-2491-5B4A-8DF4-8348E1BD7867}" dt="2025-05-02T01:11:07.076" v="1641" actId="14100"/>
        <pc:sldMkLst>
          <pc:docMk/>
          <pc:sldMk cId="3166302339" sldId="294"/>
        </pc:sldMkLst>
        <pc:picChg chg="add mod modCrop">
          <ac:chgData name="Jim Zhang" userId="fa6909b4-cf68-47b2-80b2-932828f90439" providerId="ADAL" clId="{3F8B6321-2491-5B4A-8DF4-8348E1BD7867}" dt="2025-05-02T01:11:07.076" v="1641" actId="14100"/>
          <ac:picMkLst>
            <pc:docMk/>
            <pc:sldMk cId="3166302339" sldId="294"/>
            <ac:picMk id="3" creationId="{16BA7446-120E-DF06-3332-41BF29DF048F}"/>
          </ac:picMkLst>
        </pc:picChg>
        <pc:picChg chg="del">
          <ac:chgData name="Jim Zhang" userId="fa6909b4-cf68-47b2-80b2-932828f90439" providerId="ADAL" clId="{3F8B6321-2491-5B4A-8DF4-8348E1BD7867}" dt="2025-05-02T01:10:45.825" v="1632" actId="478"/>
          <ac:picMkLst>
            <pc:docMk/>
            <pc:sldMk cId="3166302339" sldId="294"/>
            <ac:picMk id="57" creationId="{1F5569A9-6A1C-FDEE-910B-B12A953EEFCC}"/>
          </ac:picMkLst>
        </pc:picChg>
      </pc:sldChg>
      <pc:sldChg chg="del">
        <pc:chgData name="Jim Zhang" userId="fa6909b4-cf68-47b2-80b2-932828f90439" providerId="ADAL" clId="{3F8B6321-2491-5B4A-8DF4-8348E1BD7867}" dt="2025-05-02T01:16:50.404" v="1667" actId="2696"/>
        <pc:sldMkLst>
          <pc:docMk/>
          <pc:sldMk cId="1599197276" sldId="858"/>
        </pc:sldMkLst>
      </pc:sldChg>
      <pc:sldChg chg="del">
        <pc:chgData name="Jim Zhang" userId="fa6909b4-cf68-47b2-80b2-932828f90439" providerId="ADAL" clId="{3F8B6321-2491-5B4A-8DF4-8348E1BD7867}" dt="2025-05-02T01:14:56.706" v="1665" actId="2696"/>
        <pc:sldMkLst>
          <pc:docMk/>
          <pc:sldMk cId="397773981" sldId="859"/>
        </pc:sldMkLst>
      </pc:sldChg>
      <pc:sldChg chg="addSp delSp modSp mod modNotesTx">
        <pc:chgData name="Jim Zhang" userId="fa6909b4-cf68-47b2-80b2-932828f90439" providerId="ADAL" clId="{3F8B6321-2491-5B4A-8DF4-8348E1BD7867}" dt="2025-05-02T01:04:21.150" v="1437" actId="113"/>
        <pc:sldMkLst>
          <pc:docMk/>
          <pc:sldMk cId="1172713857" sldId="863"/>
        </pc:sldMkLst>
        <pc:spChg chg="mod">
          <ac:chgData name="Jim Zhang" userId="fa6909b4-cf68-47b2-80b2-932828f90439" providerId="ADAL" clId="{3F8B6321-2491-5B4A-8DF4-8348E1BD7867}" dt="2025-05-02T00:40:53.746" v="1280" actId="20577"/>
          <ac:spMkLst>
            <pc:docMk/>
            <pc:sldMk cId="1172713857" sldId="863"/>
            <ac:spMk id="3" creationId="{D2062675-2B5A-F475-C9A1-EF2732481DF3}"/>
          </ac:spMkLst>
        </pc:spChg>
        <pc:spChg chg="add del mod">
          <ac:chgData name="Jim Zhang" userId="fa6909b4-cf68-47b2-80b2-932828f90439" providerId="ADAL" clId="{3F8B6321-2491-5B4A-8DF4-8348E1BD7867}" dt="2025-05-02T00:40:46.751" v="1275" actId="22"/>
          <ac:spMkLst>
            <pc:docMk/>
            <pc:sldMk cId="1172713857" sldId="863"/>
            <ac:spMk id="5" creationId="{8D0E6402-B30D-01C8-1B85-CF3CB3AAAF4E}"/>
          </ac:spMkLst>
        </pc:spChg>
      </pc:sldChg>
      <pc:sldChg chg="addSp delSp modSp mod">
        <pc:chgData name="Jim Zhang" userId="fa6909b4-cf68-47b2-80b2-932828f90439" providerId="ADAL" clId="{3F8B6321-2491-5B4A-8DF4-8348E1BD7867}" dt="2025-05-02T00:10:43.627" v="200" actId="1076"/>
        <pc:sldMkLst>
          <pc:docMk/>
          <pc:sldMk cId="4054303916" sldId="865"/>
        </pc:sldMkLst>
        <pc:spChg chg="add del mod">
          <ac:chgData name="Jim Zhang" userId="fa6909b4-cf68-47b2-80b2-932828f90439" providerId="ADAL" clId="{3F8B6321-2491-5B4A-8DF4-8348E1BD7867}" dt="2025-05-02T00:07:21.001" v="158" actId="478"/>
          <ac:spMkLst>
            <pc:docMk/>
            <pc:sldMk cId="4054303916" sldId="865"/>
            <ac:spMk id="4" creationId="{665824FD-081B-9ED6-84B5-F410EE5AD8D5}"/>
          </ac:spMkLst>
        </pc:spChg>
        <pc:spChg chg="add mod">
          <ac:chgData name="Jim Zhang" userId="fa6909b4-cf68-47b2-80b2-932828f90439" providerId="ADAL" clId="{3F8B6321-2491-5B4A-8DF4-8348E1BD7867}" dt="2025-05-01T23:55:12.827" v="3" actId="2085"/>
          <ac:spMkLst>
            <pc:docMk/>
            <pc:sldMk cId="4054303916" sldId="865"/>
            <ac:spMk id="6" creationId="{A2A52E61-193F-8458-E2AA-893FB5535CF3}"/>
          </ac:spMkLst>
        </pc:spChg>
        <pc:spChg chg="add mod">
          <ac:chgData name="Jim Zhang" userId="fa6909b4-cf68-47b2-80b2-932828f90439" providerId="ADAL" clId="{3F8B6321-2491-5B4A-8DF4-8348E1BD7867}" dt="2025-05-02T00:10:16.112" v="180" actId="20577"/>
          <ac:spMkLst>
            <pc:docMk/>
            <pc:sldMk cId="4054303916" sldId="865"/>
            <ac:spMk id="14" creationId="{3B75C973-62AC-DFD5-5578-9A71F36BD6FC}"/>
          </ac:spMkLst>
        </pc:spChg>
        <pc:spChg chg="add mod">
          <ac:chgData name="Jim Zhang" userId="fa6909b4-cf68-47b2-80b2-932828f90439" providerId="ADAL" clId="{3F8B6321-2491-5B4A-8DF4-8348E1BD7867}" dt="2025-05-02T00:10:17.671" v="184" actId="20577"/>
          <ac:spMkLst>
            <pc:docMk/>
            <pc:sldMk cId="4054303916" sldId="865"/>
            <ac:spMk id="15" creationId="{7ED6D621-5E9E-7B23-9A5D-CE3AE95E0523}"/>
          </ac:spMkLst>
        </pc:spChg>
        <pc:spChg chg="add mod">
          <ac:chgData name="Jim Zhang" userId="fa6909b4-cf68-47b2-80b2-932828f90439" providerId="ADAL" clId="{3F8B6321-2491-5B4A-8DF4-8348E1BD7867}" dt="2025-05-02T00:03:19.262" v="90" actId="1076"/>
          <ac:spMkLst>
            <pc:docMk/>
            <pc:sldMk cId="4054303916" sldId="865"/>
            <ac:spMk id="16" creationId="{7A1D9C6D-DE05-0A65-1902-797938B1ED73}"/>
          </ac:spMkLst>
        </pc:spChg>
        <pc:spChg chg="add mod">
          <ac:chgData name="Jim Zhang" userId="fa6909b4-cf68-47b2-80b2-932828f90439" providerId="ADAL" clId="{3F8B6321-2491-5B4A-8DF4-8348E1BD7867}" dt="2025-05-02T00:10:35.712" v="194" actId="1076"/>
          <ac:spMkLst>
            <pc:docMk/>
            <pc:sldMk cId="4054303916" sldId="865"/>
            <ac:spMk id="22" creationId="{A172A595-1D0B-5674-FE7D-676AE335958A}"/>
          </ac:spMkLst>
        </pc:spChg>
        <pc:spChg chg="add del mod">
          <ac:chgData name="Jim Zhang" userId="fa6909b4-cf68-47b2-80b2-932828f90439" providerId="ADAL" clId="{3F8B6321-2491-5B4A-8DF4-8348E1BD7867}" dt="2025-05-02T00:10:32.593" v="193" actId="478"/>
          <ac:spMkLst>
            <pc:docMk/>
            <pc:sldMk cId="4054303916" sldId="865"/>
            <ac:spMk id="23" creationId="{4B553ECB-CBD1-4CB5-468F-C7AD4E300141}"/>
          </ac:spMkLst>
        </pc:spChg>
        <pc:spChg chg="add del mod">
          <ac:chgData name="Jim Zhang" userId="fa6909b4-cf68-47b2-80b2-932828f90439" providerId="ADAL" clId="{3F8B6321-2491-5B4A-8DF4-8348E1BD7867}" dt="2025-05-02T00:10:39.636" v="195" actId="478"/>
          <ac:spMkLst>
            <pc:docMk/>
            <pc:sldMk cId="4054303916" sldId="865"/>
            <ac:spMk id="24" creationId="{56F73C78-7913-3A69-3247-BC81E9E57802}"/>
          </ac:spMkLst>
        </pc:spChg>
        <pc:spChg chg="add mod">
          <ac:chgData name="Jim Zhang" userId="fa6909b4-cf68-47b2-80b2-932828f90439" providerId="ADAL" clId="{3F8B6321-2491-5B4A-8DF4-8348E1BD7867}" dt="2025-05-02T00:10:43.627" v="200" actId="1076"/>
          <ac:spMkLst>
            <pc:docMk/>
            <pc:sldMk cId="4054303916" sldId="865"/>
            <ac:spMk id="25" creationId="{654CFDD7-74E0-E5C1-96B4-4256EABE7956}"/>
          </ac:spMkLst>
        </pc:spChg>
        <pc:spChg chg="add mod">
          <ac:chgData name="Jim Zhang" userId="fa6909b4-cf68-47b2-80b2-932828f90439" providerId="ADAL" clId="{3F8B6321-2491-5B4A-8DF4-8348E1BD7867}" dt="2025-05-02T00:05:45.775" v="148" actId="1076"/>
          <ac:spMkLst>
            <pc:docMk/>
            <pc:sldMk cId="4054303916" sldId="865"/>
            <ac:spMk id="27" creationId="{4F092662-1714-9C9B-16EF-540969E239EC}"/>
          </ac:spMkLst>
        </pc:spChg>
        <pc:grpChg chg="add del mod">
          <ac:chgData name="Jim Zhang" userId="fa6909b4-cf68-47b2-80b2-932828f90439" providerId="ADAL" clId="{3F8B6321-2491-5B4A-8DF4-8348E1BD7867}" dt="2025-05-02T00:07:19.564" v="157" actId="478"/>
          <ac:grpSpMkLst>
            <pc:docMk/>
            <pc:sldMk cId="4054303916" sldId="865"/>
            <ac:grpSpMk id="7" creationId="{AB5F964C-429D-E78D-83CA-1BF97D554104}"/>
          </ac:grpSpMkLst>
        </pc:grpChg>
        <pc:grpChg chg="add mod">
          <ac:chgData name="Jim Zhang" userId="fa6909b4-cf68-47b2-80b2-932828f90439" providerId="ADAL" clId="{3F8B6321-2491-5B4A-8DF4-8348E1BD7867}" dt="2025-05-02T00:05:11.415" v="130" actId="1076"/>
          <ac:grpSpMkLst>
            <pc:docMk/>
            <pc:sldMk cId="4054303916" sldId="865"/>
            <ac:grpSpMk id="26" creationId="{ED76D7B8-E6CD-04B6-4913-FEB1EEFAAA7B}"/>
          </ac:grpSpMkLst>
        </pc:grpChg>
        <pc:grpChg chg="add mod">
          <ac:chgData name="Jim Zhang" userId="fa6909b4-cf68-47b2-80b2-932828f90439" providerId="ADAL" clId="{3F8B6321-2491-5B4A-8DF4-8348E1BD7867}" dt="2025-05-02T00:07:06.450" v="156" actId="1076"/>
          <ac:grpSpMkLst>
            <pc:docMk/>
            <pc:sldMk cId="4054303916" sldId="865"/>
            <ac:grpSpMk id="28" creationId="{F92940FB-82C1-85C8-2FA7-4751EB2299E2}"/>
          </ac:grpSpMkLst>
        </pc:grpChg>
        <pc:picChg chg="mod modCrop">
          <ac:chgData name="Jim Zhang" userId="fa6909b4-cf68-47b2-80b2-932828f90439" providerId="ADAL" clId="{3F8B6321-2491-5B4A-8DF4-8348E1BD7867}" dt="2025-05-01T23:54:51.842" v="0" actId="732"/>
          <ac:picMkLst>
            <pc:docMk/>
            <pc:sldMk cId="4054303916" sldId="865"/>
            <ac:picMk id="5" creationId="{03A16501-843D-D5EE-C3BE-875F89FA6E38}"/>
          </ac:picMkLst>
        </pc:picChg>
        <pc:cxnChg chg="add del mod">
          <ac:chgData name="Jim Zhang" userId="fa6909b4-cf68-47b2-80b2-932828f90439" providerId="ADAL" clId="{3F8B6321-2491-5B4A-8DF4-8348E1BD7867}" dt="2025-05-02T00:00:22.445" v="13" actId="478"/>
          <ac:cxnSpMkLst>
            <pc:docMk/>
            <pc:sldMk cId="4054303916" sldId="865"/>
            <ac:cxnSpMk id="9" creationId="{ED88FF58-A5E4-687B-533E-B43323186282}"/>
          </ac:cxnSpMkLst>
        </pc:cxnChg>
        <pc:cxnChg chg="add mod">
          <ac:chgData name="Jim Zhang" userId="fa6909b4-cf68-47b2-80b2-932828f90439" providerId="ADAL" clId="{3F8B6321-2491-5B4A-8DF4-8348E1BD7867}" dt="2025-05-02T00:03:15.536" v="89" actId="14100"/>
          <ac:cxnSpMkLst>
            <pc:docMk/>
            <pc:sldMk cId="4054303916" sldId="865"/>
            <ac:cxnSpMk id="13" creationId="{AD06BAC9-D118-120D-F43C-846AFD386620}"/>
          </ac:cxnSpMkLst>
        </pc:cxnChg>
        <pc:cxnChg chg="add mod">
          <ac:chgData name="Jim Zhang" userId="fa6909b4-cf68-47b2-80b2-932828f90439" providerId="ADAL" clId="{3F8B6321-2491-5B4A-8DF4-8348E1BD7867}" dt="2025-05-02T00:06:40.266" v="151" actId="1582"/>
          <ac:cxnSpMkLst>
            <pc:docMk/>
            <pc:sldMk cId="4054303916" sldId="865"/>
            <ac:cxnSpMk id="17" creationId="{EAA99C56-3C26-8F41-5FB8-E9380DBF8687}"/>
          </ac:cxnSpMkLst>
        </pc:cxnChg>
        <pc:cxnChg chg="add mod">
          <ac:chgData name="Jim Zhang" userId="fa6909b4-cf68-47b2-80b2-932828f90439" providerId="ADAL" clId="{3F8B6321-2491-5B4A-8DF4-8348E1BD7867}" dt="2025-05-02T00:06:51.539" v="154" actId="1582"/>
          <ac:cxnSpMkLst>
            <pc:docMk/>
            <pc:sldMk cId="4054303916" sldId="865"/>
            <ac:cxnSpMk id="20" creationId="{A3CAF4CD-48BC-155D-3C0C-4B4B76CE4E72}"/>
          </ac:cxnSpMkLst>
        </pc:cxnChg>
      </pc:sldChg>
      <pc:sldChg chg="del">
        <pc:chgData name="Jim Zhang" userId="fa6909b4-cf68-47b2-80b2-932828f90439" providerId="ADAL" clId="{3F8B6321-2491-5B4A-8DF4-8348E1BD7867}" dt="2025-05-02T01:16:51.185" v="1669" actId="2696"/>
        <pc:sldMkLst>
          <pc:docMk/>
          <pc:sldMk cId="1550558726" sldId="866"/>
        </pc:sldMkLst>
      </pc:sldChg>
      <pc:sldChg chg="del">
        <pc:chgData name="Jim Zhang" userId="fa6909b4-cf68-47b2-80b2-932828f90439" providerId="ADAL" clId="{3F8B6321-2491-5B4A-8DF4-8348E1BD7867}" dt="2025-05-02T01:16:50.771" v="1668" actId="2696"/>
        <pc:sldMkLst>
          <pc:docMk/>
          <pc:sldMk cId="3184020119" sldId="867"/>
        </pc:sldMkLst>
      </pc:sldChg>
      <pc:sldChg chg="addSp delSp modSp del mod modNotesTx">
        <pc:chgData name="Jim Zhang" userId="fa6909b4-cf68-47b2-80b2-932828f90439" providerId="ADAL" clId="{3F8B6321-2491-5B4A-8DF4-8348E1BD7867}" dt="2025-05-02T01:03:28.124" v="1379" actId="2696"/>
        <pc:sldMkLst>
          <pc:docMk/>
          <pc:sldMk cId="2344412119" sldId="868"/>
        </pc:sldMkLst>
        <pc:picChg chg="mod">
          <ac:chgData name="Jim Zhang" userId="fa6909b4-cf68-47b2-80b2-932828f90439" providerId="ADAL" clId="{3F8B6321-2491-5B4A-8DF4-8348E1BD7867}" dt="2025-05-02T01:00:17.092" v="1322" actId="1076"/>
          <ac:picMkLst>
            <pc:docMk/>
            <pc:sldMk cId="2344412119" sldId="868"/>
            <ac:picMk id="5" creationId="{2286886F-08A8-462A-5A0E-723B75A10A2B}"/>
          </ac:picMkLst>
        </pc:picChg>
        <pc:picChg chg="add del mod">
          <ac:chgData name="Jim Zhang" userId="fa6909b4-cf68-47b2-80b2-932828f90439" providerId="ADAL" clId="{3F8B6321-2491-5B4A-8DF4-8348E1BD7867}" dt="2025-05-02T01:02:20.046" v="1377" actId="478"/>
          <ac:picMkLst>
            <pc:docMk/>
            <pc:sldMk cId="2344412119" sldId="868"/>
            <ac:picMk id="1026" creationId="{55E4BEE9-BAFF-73BC-60A4-8AB069D5713A}"/>
          </ac:picMkLst>
        </pc:picChg>
      </pc:sldChg>
      <pc:sldChg chg="modSp add mod modNotesTx">
        <pc:chgData name="Jim Zhang" userId="fa6909b4-cf68-47b2-80b2-932828f90439" providerId="ADAL" clId="{3F8B6321-2491-5B4A-8DF4-8348E1BD7867}" dt="2025-05-02T01:04:17.196" v="1435"/>
        <pc:sldMkLst>
          <pc:docMk/>
          <pc:sldMk cId="491322289" sldId="869"/>
        </pc:sldMkLst>
        <pc:spChg chg="mod">
          <ac:chgData name="Jim Zhang" userId="fa6909b4-cf68-47b2-80b2-932828f90439" providerId="ADAL" clId="{3F8B6321-2491-5B4A-8DF4-8348E1BD7867}" dt="2025-05-02T00:41:32.311" v="1292" actId="20577"/>
          <ac:spMkLst>
            <pc:docMk/>
            <pc:sldMk cId="491322289" sldId="869"/>
            <ac:spMk id="3" creationId="{CCDC687C-197E-5F68-3AB8-E629A4AE5F06}"/>
          </ac:spMkLst>
        </pc:spChg>
      </pc:sldChg>
      <pc:sldChg chg="modSp add mod modNotesTx">
        <pc:chgData name="Jim Zhang" userId="fa6909b4-cf68-47b2-80b2-932828f90439" providerId="ADAL" clId="{3F8B6321-2491-5B4A-8DF4-8348E1BD7867}" dt="2025-05-02T01:04:06.871" v="1430"/>
        <pc:sldMkLst>
          <pc:docMk/>
          <pc:sldMk cId="494982526" sldId="870"/>
        </pc:sldMkLst>
        <pc:spChg chg="mod">
          <ac:chgData name="Jim Zhang" userId="fa6909b4-cf68-47b2-80b2-932828f90439" providerId="ADAL" clId="{3F8B6321-2491-5B4A-8DF4-8348E1BD7867}" dt="2025-05-02T00:41:34.618" v="1293" actId="20577"/>
          <ac:spMkLst>
            <pc:docMk/>
            <pc:sldMk cId="494982526" sldId="870"/>
            <ac:spMk id="3" creationId="{FFADFD6D-BF2A-AF54-8432-3A1A2009FBF7}"/>
          </ac:spMkLst>
        </pc:spChg>
      </pc:sldChg>
      <pc:sldChg chg="modSp add mod modNotesTx">
        <pc:chgData name="Jim Zhang" userId="fa6909b4-cf68-47b2-80b2-932828f90439" providerId="ADAL" clId="{3F8B6321-2491-5B4A-8DF4-8348E1BD7867}" dt="2025-05-02T01:04:09.428" v="1432" actId="20577"/>
        <pc:sldMkLst>
          <pc:docMk/>
          <pc:sldMk cId="1747910689" sldId="871"/>
        </pc:sldMkLst>
        <pc:spChg chg="mod">
          <ac:chgData name="Jim Zhang" userId="fa6909b4-cf68-47b2-80b2-932828f90439" providerId="ADAL" clId="{3F8B6321-2491-5B4A-8DF4-8348E1BD7867}" dt="2025-05-02T00:41:37.112" v="1294" actId="20577"/>
          <ac:spMkLst>
            <pc:docMk/>
            <pc:sldMk cId="1747910689" sldId="871"/>
            <ac:spMk id="3" creationId="{16D03E32-250D-B632-4876-91FDA452D5B4}"/>
          </ac:spMkLst>
        </pc:spChg>
      </pc:sldChg>
      <pc:sldChg chg="add modNotesTx">
        <pc:chgData name="Jim Zhang" userId="fa6909b4-cf68-47b2-80b2-932828f90439" providerId="ADAL" clId="{3F8B6321-2491-5B4A-8DF4-8348E1BD7867}" dt="2025-05-02T01:04:12.866" v="1434" actId="20577"/>
        <pc:sldMkLst>
          <pc:docMk/>
          <pc:sldMk cId="3392679713" sldId="872"/>
        </pc:sldMkLst>
      </pc:sldChg>
      <pc:sldChg chg="addSp delSp modSp add mod modNotesTx">
        <pc:chgData name="Jim Zhang" userId="fa6909b4-cf68-47b2-80b2-932828f90439" providerId="ADAL" clId="{3F8B6321-2491-5B4A-8DF4-8348E1BD7867}" dt="2025-05-02T01:13:11.407" v="1652" actId="113"/>
        <pc:sldMkLst>
          <pc:docMk/>
          <pc:sldMk cId="1979775049" sldId="873"/>
        </pc:sldMkLst>
        <pc:spChg chg="add del mod">
          <ac:chgData name="Jim Zhang" userId="fa6909b4-cf68-47b2-80b2-932828f90439" providerId="ADAL" clId="{3F8B6321-2491-5B4A-8DF4-8348E1BD7867}" dt="2025-05-02T01:11:55.657" v="1645" actId="478"/>
          <ac:spMkLst>
            <pc:docMk/>
            <pc:sldMk cId="1979775049" sldId="873"/>
            <ac:spMk id="2" creationId="{0B777571-8728-8FDC-7338-1D5AB07F86CC}"/>
          </ac:spMkLst>
        </pc:spChg>
        <pc:spChg chg="mod">
          <ac:chgData name="Jim Zhang" userId="fa6909b4-cf68-47b2-80b2-932828f90439" providerId="ADAL" clId="{3F8B6321-2491-5B4A-8DF4-8348E1BD7867}" dt="2025-05-02T01:09:02.232" v="1568" actId="1076"/>
          <ac:spMkLst>
            <pc:docMk/>
            <pc:sldMk cId="1979775049" sldId="873"/>
            <ac:spMk id="14" creationId="{469DDC35-8DDF-9AC8-F90B-55F446A4E54D}"/>
          </ac:spMkLst>
        </pc:spChg>
        <pc:picChg chg="add del mod">
          <ac:chgData name="Jim Zhang" userId="fa6909b4-cf68-47b2-80b2-932828f90439" providerId="ADAL" clId="{3F8B6321-2491-5B4A-8DF4-8348E1BD7867}" dt="2025-05-02T01:11:52.651" v="1643" actId="478"/>
          <ac:picMkLst>
            <pc:docMk/>
            <pc:sldMk cId="1979775049" sldId="873"/>
            <ac:picMk id="3" creationId="{6ABFECF3-1B9A-7F71-AC40-28915286906A}"/>
          </ac:picMkLst>
        </pc:picChg>
        <pc:picChg chg="add del">
          <ac:chgData name="Jim Zhang" userId="fa6909b4-cf68-47b2-80b2-932828f90439" providerId="ADAL" clId="{3F8B6321-2491-5B4A-8DF4-8348E1BD7867}" dt="2025-05-02T01:13:07.996" v="1650" actId="478"/>
          <ac:picMkLst>
            <pc:docMk/>
            <pc:sldMk cId="1979775049" sldId="873"/>
            <ac:picMk id="6" creationId="{E5517ACE-8CEC-3426-A792-10FB51C92806}"/>
          </ac:picMkLst>
        </pc:picChg>
        <pc:picChg chg="del mod">
          <ac:chgData name="Jim Zhang" userId="fa6909b4-cf68-47b2-80b2-932828f90439" providerId="ADAL" clId="{3F8B6321-2491-5B4A-8DF4-8348E1BD7867}" dt="2025-05-02T01:10:23.620" v="1623" actId="478"/>
          <ac:picMkLst>
            <pc:docMk/>
            <pc:sldMk cId="1979775049" sldId="873"/>
            <ac:picMk id="9" creationId="{AC0B9DAE-6374-4CB5-B9BE-E509F577D3F6}"/>
          </ac:picMkLst>
        </pc:picChg>
        <pc:picChg chg="add del mod">
          <ac:chgData name="Jim Zhang" userId="fa6909b4-cf68-47b2-80b2-932828f90439" providerId="ADAL" clId="{3F8B6321-2491-5B4A-8DF4-8348E1BD7867}" dt="2025-05-02T01:07:41.554" v="1551" actId="478"/>
          <ac:picMkLst>
            <pc:docMk/>
            <pc:sldMk cId="1979775049" sldId="873"/>
            <ac:picMk id="2050" creationId="{64751F96-F17A-5A68-7589-E3BA622AF80C}"/>
          </ac:picMkLst>
        </pc:picChg>
        <pc:picChg chg="add del mod">
          <ac:chgData name="Jim Zhang" userId="fa6909b4-cf68-47b2-80b2-932828f90439" providerId="ADAL" clId="{3F8B6321-2491-5B4A-8DF4-8348E1BD7867}" dt="2025-05-02T01:08:19.103" v="1555" actId="478"/>
          <ac:picMkLst>
            <pc:docMk/>
            <pc:sldMk cId="1979775049" sldId="873"/>
            <ac:picMk id="2052" creationId="{C18E5FC7-E9EE-8D30-D381-F18D9C26D0D2}"/>
          </ac:picMkLst>
        </pc:picChg>
        <pc:picChg chg="add del mod">
          <ac:chgData name="Jim Zhang" userId="fa6909b4-cf68-47b2-80b2-932828f90439" providerId="ADAL" clId="{3F8B6321-2491-5B4A-8DF4-8348E1BD7867}" dt="2025-05-02T01:11:53.519" v="1644" actId="478"/>
          <ac:picMkLst>
            <pc:docMk/>
            <pc:sldMk cId="1979775049" sldId="873"/>
            <ac:picMk id="2054" creationId="{825D7941-876D-9D8B-7A3E-BBB96EFC05A9}"/>
          </ac:picMkLst>
        </pc:picChg>
      </pc:sldChg>
      <pc:sldChg chg="add modNotesTx">
        <pc:chgData name="Jim Zhang" userId="fa6909b4-cf68-47b2-80b2-932828f90439" providerId="ADAL" clId="{3F8B6321-2491-5B4A-8DF4-8348E1BD7867}" dt="2025-05-02T01:05:14.936" v="1446" actId="113"/>
        <pc:sldMkLst>
          <pc:docMk/>
          <pc:sldMk cId="4234334060" sldId="874"/>
        </pc:sldMkLst>
      </pc:sldChg>
      <pc:sldChg chg="add modNotesTx">
        <pc:chgData name="Jim Zhang" userId="fa6909b4-cf68-47b2-80b2-932828f90439" providerId="ADAL" clId="{3F8B6321-2491-5B4A-8DF4-8348E1BD7867}" dt="2025-05-02T01:13:33.445" v="1664" actId="113"/>
        <pc:sldMkLst>
          <pc:docMk/>
          <pc:sldMk cId="1766766709" sldId="875"/>
        </pc:sldMkLst>
      </pc:sldChg>
      <pc:sldChg chg="add modNotesTx">
        <pc:chgData name="Jim Zhang" userId="fa6909b4-cf68-47b2-80b2-932828f90439" providerId="ADAL" clId="{3F8B6321-2491-5B4A-8DF4-8348E1BD7867}" dt="2025-05-02T01:13:27.719" v="1659" actId="113"/>
        <pc:sldMkLst>
          <pc:docMk/>
          <pc:sldMk cId="616164147" sldId="8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AF4549-0013-E942-BA6E-3526ABB88775}" type="datetimeFigureOut">
              <a:rPr lang="en-US" smtClean="0"/>
              <a:t>5/1/25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723C0D-A671-FF46-996B-A5611795C643}" type="slidenum">
              <a:rPr lang="en-US" smtClean="0"/>
              <a:t>‹#›</a:t>
            </a:fld>
            <a:endParaRPr lang="en-US"/>
          </a:p>
        </p:txBody>
      </p:sp>
    </p:spTree>
    <p:extLst>
      <p:ext uri="{BB962C8B-B14F-4D97-AF65-F5344CB8AC3E}">
        <p14:creationId xmlns:p14="http://schemas.microsoft.com/office/powerpoint/2010/main" val="3307441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for coming </a:t>
            </a:r>
            <a:r>
              <a:rPr lang="en-US" dirty="0">
                <a:sym typeface="Wingdings" pitchFamily="2" charset="2"/>
              </a:rPr>
              <a:t>today </a:t>
            </a:r>
          </a:p>
          <a:p>
            <a:endParaRPr lang="en-US" dirty="0">
              <a:sym typeface="Wingdings" pitchFamily="2" charset="2"/>
            </a:endParaRPr>
          </a:p>
          <a:p>
            <a:r>
              <a:rPr lang="en-US" dirty="0">
                <a:sym typeface="Wingdings" pitchFamily="2" charset="2"/>
              </a:rPr>
              <a:t>Today, I’ll be talking about an fMRI study and an intracranial EEG study both looking at how the brain simultaneously regulates cognitive stability and flexibility.</a:t>
            </a:r>
          </a:p>
        </p:txBody>
      </p:sp>
      <p:sp>
        <p:nvSpPr>
          <p:cNvPr id="4" name="Slide Number Placeholder 3"/>
          <p:cNvSpPr>
            <a:spLocks noGrp="1"/>
          </p:cNvSpPr>
          <p:nvPr>
            <p:ph type="sldNum" sz="quarter" idx="5"/>
          </p:nvPr>
        </p:nvSpPr>
        <p:spPr/>
        <p:txBody>
          <a:bodyPr/>
          <a:lstStyle/>
          <a:p>
            <a:fld id="{35723C0D-A671-FF46-996B-A5611795C643}" type="slidenum">
              <a:rPr lang="en-US" smtClean="0"/>
              <a:t>1</a:t>
            </a:fld>
            <a:endParaRPr lang="en-US"/>
          </a:p>
        </p:txBody>
      </p:sp>
    </p:spTree>
    <p:extLst>
      <p:ext uri="{BB962C8B-B14F-4D97-AF65-F5344CB8AC3E}">
        <p14:creationId xmlns:p14="http://schemas.microsoft.com/office/powerpoint/2010/main" val="5120520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First, I’ll define what I mean by stability and flexibility</a:t>
            </a:r>
          </a:p>
          <a:p>
            <a:endParaRPr lang="en-US" dirty="0"/>
          </a:p>
          <a:p>
            <a:r>
              <a:rPr lang="en-US" dirty="0"/>
              <a:t>-&gt;</a:t>
            </a:r>
          </a:p>
          <a:p>
            <a:endParaRPr lang="en-US" dirty="0"/>
          </a:p>
          <a:p>
            <a:r>
              <a:rPr lang="en-US" dirty="0"/>
              <a:t>Next, I’ll go through a task that we’ve been using to manipulate how stable and flexible people are</a:t>
            </a:r>
          </a:p>
          <a:p>
            <a:endParaRPr lang="en-US" dirty="0"/>
          </a:p>
          <a:p>
            <a:r>
              <a:rPr lang="en-US" dirty="0"/>
              <a:t>-&gt;</a:t>
            </a:r>
          </a:p>
          <a:p>
            <a:endParaRPr lang="en-US" dirty="0"/>
          </a:p>
          <a:p>
            <a:r>
              <a:rPr lang="en-US" dirty="0"/>
              <a:t>And then I’ll go through what we’ve found so far and plan to do next in an fMRI study </a:t>
            </a:r>
          </a:p>
          <a:p>
            <a:endParaRPr lang="en-US" dirty="0"/>
          </a:p>
          <a:p>
            <a:r>
              <a:rPr lang="en-US" dirty="0"/>
              <a:t>-&gt;</a:t>
            </a:r>
          </a:p>
          <a:p>
            <a:endParaRPr lang="en-US" dirty="0"/>
          </a:p>
          <a:p>
            <a:r>
              <a:rPr lang="en-US" dirty="0"/>
              <a:t>Then I’ll go through what we’ve found and plan to do next in an intracranial EEG study</a:t>
            </a:r>
          </a:p>
          <a:p>
            <a:endParaRPr lang="en-US" dirty="0"/>
          </a:p>
          <a:p>
            <a:r>
              <a:rPr lang="en-US" dirty="0"/>
              <a:t>-&gt;</a:t>
            </a:r>
          </a:p>
          <a:p>
            <a:endParaRPr lang="en-US" dirty="0"/>
          </a:p>
          <a:p>
            <a:r>
              <a:rPr lang="en-US" dirty="0"/>
              <a:t>And finally, I’ll end with some conclusions that seem to be emerging from our results.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Go through this quickly, click through. </a:t>
            </a:r>
          </a:p>
          <a:p>
            <a:endParaRPr lang="en-US" dirty="0"/>
          </a:p>
          <a:p>
            <a:r>
              <a:rPr lang="en-US" dirty="0"/>
              <a:t>we study how stability and flexibility are simultaneously regulated in an fMRI study and also in an </a:t>
            </a:r>
            <a:r>
              <a:rPr lang="en-US" dirty="0" err="1"/>
              <a:t>iEEG</a:t>
            </a:r>
            <a:r>
              <a:rPr lang="en-US" dirty="0"/>
              <a:t> study</a:t>
            </a:r>
          </a:p>
        </p:txBody>
      </p:sp>
      <p:sp>
        <p:nvSpPr>
          <p:cNvPr id="4" name="Slide Number Placeholder 3"/>
          <p:cNvSpPr>
            <a:spLocks noGrp="1"/>
          </p:cNvSpPr>
          <p:nvPr>
            <p:ph type="sldNum" sz="quarter" idx="5"/>
          </p:nvPr>
        </p:nvSpPr>
        <p:spPr/>
        <p:txBody>
          <a:bodyPr/>
          <a:lstStyle/>
          <a:p>
            <a:fld id="{35723C0D-A671-FF46-996B-A5611795C643}" type="slidenum">
              <a:rPr lang="en-US" smtClean="0"/>
              <a:t>2</a:t>
            </a:fld>
            <a:endParaRPr lang="en-US"/>
          </a:p>
        </p:txBody>
      </p:sp>
    </p:spTree>
    <p:extLst>
      <p:ext uri="{BB962C8B-B14F-4D97-AF65-F5344CB8AC3E}">
        <p14:creationId xmlns:p14="http://schemas.microsoft.com/office/powerpoint/2010/main" val="37874192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16FDD-6126-8DE0-E2A4-6497461894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7B29F-1A80-9A0F-95D9-007A6D0B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42A820-C750-F488-3820-702ED781F87F}"/>
              </a:ext>
            </a:extLst>
          </p:cNvPr>
          <p:cNvSpPr>
            <a:spLocks noGrp="1"/>
          </p:cNvSpPr>
          <p:nvPr>
            <p:ph type="body" idx="1"/>
          </p:nvPr>
        </p:nvSpPr>
        <p:spPr/>
        <p:txBody>
          <a:bodyPr/>
          <a:lstStyle/>
          <a:p>
            <a:r>
              <a:rPr lang="en-US" dirty="0"/>
              <a:t>First, I’ll define what I mean by stability and flexibility</a:t>
            </a:r>
          </a:p>
          <a:p>
            <a:endParaRPr lang="en-US" dirty="0"/>
          </a:p>
          <a:p>
            <a:r>
              <a:rPr lang="en-US" dirty="0"/>
              <a:t>-&gt;</a:t>
            </a:r>
          </a:p>
          <a:p>
            <a:endParaRPr lang="en-US" dirty="0"/>
          </a:p>
          <a:p>
            <a:r>
              <a:rPr lang="en-US" b="1" dirty="0"/>
              <a:t>Next, I’ll go through a task that we’ve been using to manipulate how stable and flexible people are</a:t>
            </a:r>
          </a:p>
          <a:p>
            <a:endParaRPr lang="en-US" dirty="0"/>
          </a:p>
          <a:p>
            <a:r>
              <a:rPr lang="en-US" dirty="0"/>
              <a:t>-&gt;</a:t>
            </a:r>
          </a:p>
          <a:p>
            <a:endParaRPr lang="en-US" dirty="0"/>
          </a:p>
          <a:p>
            <a:r>
              <a:rPr lang="en-US" dirty="0"/>
              <a:t>And then I’ll go through what we’ve found so far and plan to do next in an fMRI study </a:t>
            </a:r>
          </a:p>
          <a:p>
            <a:endParaRPr lang="en-US" dirty="0"/>
          </a:p>
          <a:p>
            <a:r>
              <a:rPr lang="en-US" dirty="0"/>
              <a:t>-&gt;</a:t>
            </a:r>
          </a:p>
          <a:p>
            <a:endParaRPr lang="en-US" dirty="0"/>
          </a:p>
          <a:p>
            <a:r>
              <a:rPr lang="en-US" dirty="0"/>
              <a:t>Then I’ll go through what we’ve found and plan to do next in an intracranial EEG study</a:t>
            </a:r>
          </a:p>
          <a:p>
            <a:endParaRPr lang="en-US" dirty="0"/>
          </a:p>
          <a:p>
            <a:r>
              <a:rPr lang="en-US" dirty="0"/>
              <a:t>-&gt;</a:t>
            </a:r>
          </a:p>
          <a:p>
            <a:endParaRPr lang="en-US" dirty="0"/>
          </a:p>
          <a:p>
            <a:r>
              <a:rPr lang="en-US" dirty="0"/>
              <a:t>And finally, I’ll end with some conclusions that seem to be emerging from our results.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Go through this quickly, click through. </a:t>
            </a:r>
          </a:p>
          <a:p>
            <a:endParaRPr lang="en-US" dirty="0"/>
          </a:p>
          <a:p>
            <a:r>
              <a:rPr lang="en-US" dirty="0"/>
              <a:t>we study how stability and flexibility are simultaneously regulated in an fMRI study and also in an </a:t>
            </a:r>
            <a:r>
              <a:rPr lang="en-US" dirty="0" err="1"/>
              <a:t>iEEG</a:t>
            </a:r>
            <a:r>
              <a:rPr lang="en-US" dirty="0"/>
              <a:t> study</a:t>
            </a:r>
          </a:p>
        </p:txBody>
      </p:sp>
      <p:sp>
        <p:nvSpPr>
          <p:cNvPr id="4" name="Slide Number Placeholder 3">
            <a:extLst>
              <a:ext uri="{FF2B5EF4-FFF2-40B4-BE49-F238E27FC236}">
                <a16:creationId xmlns:a16="http://schemas.microsoft.com/office/drawing/2014/main" id="{EB19C8A9-3E9B-FDD9-DFB6-40AB398872A0}"/>
              </a:ext>
            </a:extLst>
          </p:cNvPr>
          <p:cNvSpPr>
            <a:spLocks noGrp="1"/>
          </p:cNvSpPr>
          <p:nvPr>
            <p:ph type="sldNum" sz="quarter" idx="5"/>
          </p:nvPr>
        </p:nvSpPr>
        <p:spPr/>
        <p:txBody>
          <a:bodyPr/>
          <a:lstStyle/>
          <a:p>
            <a:fld id="{35723C0D-A671-FF46-996B-A5611795C643}" type="slidenum">
              <a:rPr lang="en-US" smtClean="0"/>
              <a:t>3</a:t>
            </a:fld>
            <a:endParaRPr lang="en-US"/>
          </a:p>
        </p:txBody>
      </p:sp>
    </p:spTree>
    <p:extLst>
      <p:ext uri="{BB962C8B-B14F-4D97-AF65-F5344CB8AC3E}">
        <p14:creationId xmlns:p14="http://schemas.microsoft.com/office/powerpoint/2010/main" val="989612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72E5C-89B1-767A-AA28-AC189C44F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56498-F532-CCB9-8485-9D0591BEB5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3789D-E9AF-D888-388A-E9B144A14C50}"/>
              </a:ext>
            </a:extLst>
          </p:cNvPr>
          <p:cNvSpPr>
            <a:spLocks noGrp="1"/>
          </p:cNvSpPr>
          <p:nvPr>
            <p:ph type="body" idx="1"/>
          </p:nvPr>
        </p:nvSpPr>
        <p:spPr/>
        <p:txBody>
          <a:bodyPr/>
          <a:lstStyle/>
          <a:p>
            <a:r>
              <a:rPr lang="en-US" dirty="0"/>
              <a:t>First, I’ll define what I mean by stability and flexibility</a:t>
            </a:r>
          </a:p>
          <a:p>
            <a:endParaRPr lang="en-US" dirty="0"/>
          </a:p>
          <a:p>
            <a:r>
              <a:rPr lang="en-US" dirty="0"/>
              <a:t>-&gt;</a:t>
            </a:r>
          </a:p>
          <a:p>
            <a:endParaRPr lang="en-US" dirty="0"/>
          </a:p>
          <a:p>
            <a:r>
              <a:rPr lang="en-US" dirty="0"/>
              <a:t>Next, I’ll go through a task that we’ve been using to manipulate how stable and flexible people are</a:t>
            </a:r>
          </a:p>
          <a:p>
            <a:endParaRPr lang="en-US" dirty="0"/>
          </a:p>
          <a:p>
            <a:r>
              <a:rPr lang="en-US" dirty="0"/>
              <a:t>-&gt;</a:t>
            </a:r>
          </a:p>
          <a:p>
            <a:endParaRPr lang="en-US" dirty="0"/>
          </a:p>
          <a:p>
            <a:r>
              <a:rPr lang="en-US" b="1" dirty="0"/>
              <a:t>And then I’ll go through what we’ve found so far and plan to do next in an fMRI study </a:t>
            </a:r>
          </a:p>
          <a:p>
            <a:endParaRPr lang="en-US" dirty="0"/>
          </a:p>
          <a:p>
            <a:r>
              <a:rPr lang="en-US" dirty="0"/>
              <a:t>-&gt;</a:t>
            </a:r>
          </a:p>
          <a:p>
            <a:endParaRPr lang="en-US" dirty="0"/>
          </a:p>
          <a:p>
            <a:r>
              <a:rPr lang="en-US" dirty="0"/>
              <a:t>Then I’ll go through what we’ve found and plan to do next in an intracranial EEG study</a:t>
            </a:r>
          </a:p>
          <a:p>
            <a:endParaRPr lang="en-US" dirty="0"/>
          </a:p>
          <a:p>
            <a:r>
              <a:rPr lang="en-US" dirty="0"/>
              <a:t>-&gt;</a:t>
            </a:r>
          </a:p>
          <a:p>
            <a:endParaRPr lang="en-US" dirty="0"/>
          </a:p>
          <a:p>
            <a:r>
              <a:rPr lang="en-US" dirty="0"/>
              <a:t>And finally, I’ll end with some conclusions that seem to be emerging from our results.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Go through this quickly, click through. </a:t>
            </a:r>
          </a:p>
          <a:p>
            <a:endParaRPr lang="en-US" dirty="0"/>
          </a:p>
          <a:p>
            <a:r>
              <a:rPr lang="en-US" dirty="0"/>
              <a:t>we study how stability and flexibility are simultaneously regulated in an fMRI study and also in an </a:t>
            </a:r>
            <a:r>
              <a:rPr lang="en-US" dirty="0" err="1"/>
              <a:t>iEEG</a:t>
            </a:r>
            <a:r>
              <a:rPr lang="en-US" dirty="0"/>
              <a:t> study</a:t>
            </a:r>
          </a:p>
        </p:txBody>
      </p:sp>
      <p:sp>
        <p:nvSpPr>
          <p:cNvPr id="4" name="Slide Number Placeholder 3">
            <a:extLst>
              <a:ext uri="{FF2B5EF4-FFF2-40B4-BE49-F238E27FC236}">
                <a16:creationId xmlns:a16="http://schemas.microsoft.com/office/drawing/2014/main" id="{DDC8E4A4-89C7-6214-5A94-E99787ADF665}"/>
              </a:ext>
            </a:extLst>
          </p:cNvPr>
          <p:cNvSpPr>
            <a:spLocks noGrp="1"/>
          </p:cNvSpPr>
          <p:nvPr>
            <p:ph type="sldNum" sz="quarter" idx="5"/>
          </p:nvPr>
        </p:nvSpPr>
        <p:spPr/>
        <p:txBody>
          <a:bodyPr/>
          <a:lstStyle/>
          <a:p>
            <a:fld id="{35723C0D-A671-FF46-996B-A5611795C643}" type="slidenum">
              <a:rPr lang="en-US" smtClean="0"/>
              <a:t>4</a:t>
            </a:fld>
            <a:endParaRPr lang="en-US"/>
          </a:p>
        </p:txBody>
      </p:sp>
    </p:spTree>
    <p:extLst>
      <p:ext uri="{BB962C8B-B14F-4D97-AF65-F5344CB8AC3E}">
        <p14:creationId xmlns:p14="http://schemas.microsoft.com/office/powerpoint/2010/main" val="27955344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C338E-0533-299D-F5E2-30EA9E0C0B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6CE05-659C-DC88-A101-FA6EC6F8A7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214626-D4C4-48F5-B0DF-CB76F0175A9C}"/>
              </a:ext>
            </a:extLst>
          </p:cNvPr>
          <p:cNvSpPr>
            <a:spLocks noGrp="1"/>
          </p:cNvSpPr>
          <p:nvPr>
            <p:ph type="body" idx="1"/>
          </p:nvPr>
        </p:nvSpPr>
        <p:spPr/>
        <p:txBody>
          <a:bodyPr/>
          <a:lstStyle/>
          <a:p>
            <a:r>
              <a:rPr lang="en-US" dirty="0"/>
              <a:t>First, I’ll define what I mean by stability and flexibility</a:t>
            </a:r>
          </a:p>
          <a:p>
            <a:endParaRPr lang="en-US" dirty="0"/>
          </a:p>
          <a:p>
            <a:r>
              <a:rPr lang="en-US" dirty="0"/>
              <a:t>-&gt;</a:t>
            </a:r>
          </a:p>
          <a:p>
            <a:endParaRPr lang="en-US" dirty="0"/>
          </a:p>
          <a:p>
            <a:r>
              <a:rPr lang="en-US" dirty="0"/>
              <a:t>Next, I’ll go through a task that we’ve been using to manipulate how stable and flexible people are</a:t>
            </a:r>
          </a:p>
          <a:p>
            <a:endParaRPr lang="en-US" dirty="0"/>
          </a:p>
          <a:p>
            <a:r>
              <a:rPr lang="en-US" dirty="0"/>
              <a:t>-&gt;</a:t>
            </a:r>
          </a:p>
          <a:p>
            <a:endParaRPr lang="en-US" dirty="0"/>
          </a:p>
          <a:p>
            <a:r>
              <a:rPr lang="en-US" dirty="0"/>
              <a:t>And then I’ll go through what we’ve found so far and plan to do next in an fMRI study </a:t>
            </a:r>
          </a:p>
          <a:p>
            <a:endParaRPr lang="en-US" dirty="0"/>
          </a:p>
          <a:p>
            <a:r>
              <a:rPr lang="en-US" dirty="0"/>
              <a:t>-&gt;</a:t>
            </a:r>
          </a:p>
          <a:p>
            <a:endParaRPr lang="en-US" dirty="0"/>
          </a:p>
          <a:p>
            <a:r>
              <a:rPr lang="en-US" b="1" dirty="0"/>
              <a:t>Then I’ll go through what we’ve found and plan to do next in an intracranial EEG study</a:t>
            </a:r>
          </a:p>
          <a:p>
            <a:endParaRPr lang="en-US" dirty="0"/>
          </a:p>
          <a:p>
            <a:r>
              <a:rPr lang="en-US" dirty="0"/>
              <a:t>-&gt;</a:t>
            </a:r>
          </a:p>
          <a:p>
            <a:endParaRPr lang="en-US" dirty="0"/>
          </a:p>
          <a:p>
            <a:r>
              <a:rPr lang="en-US" dirty="0"/>
              <a:t>And finally, I’ll end with some conclusions that seem to be emerging from our results.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Go through this quickly, click through. </a:t>
            </a:r>
          </a:p>
          <a:p>
            <a:endParaRPr lang="en-US" dirty="0"/>
          </a:p>
          <a:p>
            <a:r>
              <a:rPr lang="en-US" dirty="0"/>
              <a:t>we study how stability and flexibility are simultaneously regulated in an fMRI study and also in an </a:t>
            </a:r>
            <a:r>
              <a:rPr lang="en-US" dirty="0" err="1"/>
              <a:t>iEEG</a:t>
            </a:r>
            <a:r>
              <a:rPr lang="en-US" dirty="0"/>
              <a:t> study</a:t>
            </a:r>
          </a:p>
        </p:txBody>
      </p:sp>
      <p:sp>
        <p:nvSpPr>
          <p:cNvPr id="4" name="Slide Number Placeholder 3">
            <a:extLst>
              <a:ext uri="{FF2B5EF4-FFF2-40B4-BE49-F238E27FC236}">
                <a16:creationId xmlns:a16="http://schemas.microsoft.com/office/drawing/2014/main" id="{4224275D-8576-CA5B-E9F8-A6567F83EA1F}"/>
              </a:ext>
            </a:extLst>
          </p:cNvPr>
          <p:cNvSpPr>
            <a:spLocks noGrp="1"/>
          </p:cNvSpPr>
          <p:nvPr>
            <p:ph type="sldNum" sz="quarter" idx="5"/>
          </p:nvPr>
        </p:nvSpPr>
        <p:spPr/>
        <p:txBody>
          <a:bodyPr/>
          <a:lstStyle/>
          <a:p>
            <a:fld id="{35723C0D-A671-FF46-996B-A5611795C643}" type="slidenum">
              <a:rPr lang="en-US" smtClean="0"/>
              <a:t>5</a:t>
            </a:fld>
            <a:endParaRPr lang="en-US"/>
          </a:p>
        </p:txBody>
      </p:sp>
    </p:spTree>
    <p:extLst>
      <p:ext uri="{BB962C8B-B14F-4D97-AF65-F5344CB8AC3E}">
        <p14:creationId xmlns:p14="http://schemas.microsoft.com/office/powerpoint/2010/main" val="948165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125EE-B27A-8660-90B4-DD2AB670E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A5F8D5-84E3-5689-D3A1-5CF765A380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EA1087-6CFC-53EF-59F2-0BA49FF44FB3}"/>
              </a:ext>
            </a:extLst>
          </p:cNvPr>
          <p:cNvSpPr>
            <a:spLocks noGrp="1"/>
          </p:cNvSpPr>
          <p:nvPr>
            <p:ph type="body" idx="1"/>
          </p:nvPr>
        </p:nvSpPr>
        <p:spPr/>
        <p:txBody>
          <a:bodyPr/>
          <a:lstStyle/>
          <a:p>
            <a:r>
              <a:rPr lang="en-US" dirty="0"/>
              <a:t>First, I’ll define what I mean by stability and flexibility</a:t>
            </a:r>
          </a:p>
          <a:p>
            <a:endParaRPr lang="en-US" dirty="0"/>
          </a:p>
          <a:p>
            <a:r>
              <a:rPr lang="en-US" dirty="0"/>
              <a:t>-&gt;</a:t>
            </a:r>
          </a:p>
          <a:p>
            <a:endParaRPr lang="en-US" dirty="0"/>
          </a:p>
          <a:p>
            <a:r>
              <a:rPr lang="en-US" dirty="0"/>
              <a:t>Next, I’ll go through a task that we’ve been using to manipulate how stable and flexible people are</a:t>
            </a:r>
          </a:p>
          <a:p>
            <a:endParaRPr lang="en-US" dirty="0"/>
          </a:p>
          <a:p>
            <a:r>
              <a:rPr lang="en-US" dirty="0"/>
              <a:t>-&gt;</a:t>
            </a:r>
          </a:p>
          <a:p>
            <a:endParaRPr lang="en-US" dirty="0"/>
          </a:p>
          <a:p>
            <a:r>
              <a:rPr lang="en-US" dirty="0"/>
              <a:t>And then I’ll go through what we’ve found so far and plan to do next in an fMRI study </a:t>
            </a:r>
          </a:p>
          <a:p>
            <a:endParaRPr lang="en-US" dirty="0"/>
          </a:p>
          <a:p>
            <a:r>
              <a:rPr lang="en-US" dirty="0"/>
              <a:t>-&gt;</a:t>
            </a:r>
          </a:p>
          <a:p>
            <a:endParaRPr lang="en-US" dirty="0"/>
          </a:p>
          <a:p>
            <a:r>
              <a:rPr lang="en-US" dirty="0"/>
              <a:t>Then I’ll go through what we’ve found and plan to do next in an intracranial EEG study</a:t>
            </a:r>
          </a:p>
          <a:p>
            <a:endParaRPr lang="en-US" dirty="0"/>
          </a:p>
          <a:p>
            <a:r>
              <a:rPr lang="en-US" dirty="0"/>
              <a:t>-&gt;</a:t>
            </a:r>
          </a:p>
          <a:p>
            <a:endParaRPr lang="en-US" dirty="0"/>
          </a:p>
          <a:p>
            <a:r>
              <a:rPr lang="en-US" b="1" dirty="0"/>
              <a:t>And finally, I’ll end with some conclusions that seem to be emerging from our results.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Go through this quickly, click through. </a:t>
            </a:r>
          </a:p>
          <a:p>
            <a:endParaRPr lang="en-US" dirty="0"/>
          </a:p>
          <a:p>
            <a:r>
              <a:rPr lang="en-US" dirty="0"/>
              <a:t>we study how stability and flexibility are simultaneously regulated in an fMRI study and also in an </a:t>
            </a:r>
            <a:r>
              <a:rPr lang="en-US" dirty="0" err="1"/>
              <a:t>iEEG</a:t>
            </a:r>
            <a:r>
              <a:rPr lang="en-US" dirty="0"/>
              <a:t> study</a:t>
            </a:r>
          </a:p>
        </p:txBody>
      </p:sp>
      <p:sp>
        <p:nvSpPr>
          <p:cNvPr id="4" name="Slide Number Placeholder 3">
            <a:extLst>
              <a:ext uri="{FF2B5EF4-FFF2-40B4-BE49-F238E27FC236}">
                <a16:creationId xmlns:a16="http://schemas.microsoft.com/office/drawing/2014/main" id="{E5A3C8A7-A9E8-A844-4A8F-BEE2E4DE545E}"/>
              </a:ext>
            </a:extLst>
          </p:cNvPr>
          <p:cNvSpPr>
            <a:spLocks noGrp="1"/>
          </p:cNvSpPr>
          <p:nvPr>
            <p:ph type="sldNum" sz="quarter" idx="5"/>
          </p:nvPr>
        </p:nvSpPr>
        <p:spPr/>
        <p:txBody>
          <a:bodyPr/>
          <a:lstStyle/>
          <a:p>
            <a:fld id="{35723C0D-A671-FF46-996B-A5611795C643}" type="slidenum">
              <a:rPr lang="en-US" smtClean="0"/>
              <a:t>6</a:t>
            </a:fld>
            <a:endParaRPr lang="en-US"/>
          </a:p>
        </p:txBody>
      </p:sp>
    </p:spTree>
    <p:extLst>
      <p:ext uri="{BB962C8B-B14F-4D97-AF65-F5344CB8AC3E}">
        <p14:creationId xmlns:p14="http://schemas.microsoft.com/office/powerpoint/2010/main" val="3143061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u="none" dirty="0"/>
              <a:t>Cognitive stability is our ability to stably maintain our current goals, protecting them from interference from conflicting goals.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As an example, imagine that you’re writing a review paper and your phone buzzes – you can use cognitive stability, our ability to maintain our goals and stay on task, to keep focusing on writing the paper and ignore the distracting notification.</a:t>
            </a:r>
          </a:p>
        </p:txBody>
      </p:sp>
      <p:sp>
        <p:nvSpPr>
          <p:cNvPr id="4" name="Slide Number Placeholder 3"/>
          <p:cNvSpPr>
            <a:spLocks noGrp="1"/>
          </p:cNvSpPr>
          <p:nvPr>
            <p:ph type="sldNum" sz="quarter" idx="5"/>
          </p:nvPr>
        </p:nvSpPr>
        <p:spPr/>
        <p:txBody>
          <a:bodyPr/>
          <a:lstStyle/>
          <a:p>
            <a:fld id="{DC68F153-E8D4-1149-BBFE-5FD20C676705}" type="slidenum">
              <a:rPr lang="en-US" smtClean="0"/>
              <a:t>7</a:t>
            </a:fld>
            <a:endParaRPr lang="en-US"/>
          </a:p>
        </p:txBody>
      </p:sp>
    </p:spTree>
    <p:extLst>
      <p:ext uri="{BB962C8B-B14F-4D97-AF65-F5344CB8AC3E}">
        <p14:creationId xmlns:p14="http://schemas.microsoft.com/office/powerpoint/2010/main" val="2452575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045B4-93D1-8436-E889-C0695F016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BE45CE-54C5-EB88-E8C8-70AC22E2E0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EA8C5A-EAC1-D9CE-8707-2A090B49FF5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none" dirty="0"/>
              <a:t>Cognitive stability is our ability to stably maintain our current goals, protecting them from interference from conflicting goals.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As an example, imagine that you’re writing a review paper and your phone buzzes – you can use cognitive stability, our ability to maintain our goals and stay on task, to keep focusing on writing the paper and ignore the distracting notification.</a:t>
            </a:r>
          </a:p>
        </p:txBody>
      </p:sp>
      <p:sp>
        <p:nvSpPr>
          <p:cNvPr id="4" name="Slide Number Placeholder 3">
            <a:extLst>
              <a:ext uri="{FF2B5EF4-FFF2-40B4-BE49-F238E27FC236}">
                <a16:creationId xmlns:a16="http://schemas.microsoft.com/office/drawing/2014/main" id="{506F6570-F9E9-0048-B116-930D84288231}"/>
              </a:ext>
            </a:extLst>
          </p:cNvPr>
          <p:cNvSpPr>
            <a:spLocks noGrp="1"/>
          </p:cNvSpPr>
          <p:nvPr>
            <p:ph type="sldNum" sz="quarter" idx="5"/>
          </p:nvPr>
        </p:nvSpPr>
        <p:spPr/>
        <p:txBody>
          <a:bodyPr/>
          <a:lstStyle/>
          <a:p>
            <a:fld id="{DC68F153-E8D4-1149-BBFE-5FD20C676705}" type="slidenum">
              <a:rPr lang="en-US" smtClean="0"/>
              <a:t>8</a:t>
            </a:fld>
            <a:endParaRPr lang="en-US"/>
          </a:p>
        </p:txBody>
      </p:sp>
    </p:spTree>
    <p:extLst>
      <p:ext uri="{BB962C8B-B14F-4D97-AF65-F5344CB8AC3E}">
        <p14:creationId xmlns:p14="http://schemas.microsoft.com/office/powerpoint/2010/main" val="17246575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u="none" dirty="0"/>
              <a:t>Cognitive flexibility is our</a:t>
            </a:r>
            <a:r>
              <a:rPr lang="en-US" b="1" dirty="0"/>
              <a:t> ability to switch between different goals (task switching)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Going back to our paper writing example – if you’re expecting an e-mail from your thesis advisor with edits, you might want to employ cognitive flexibility to switch from writing your review paper to checking your phone notification.</a:t>
            </a:r>
          </a:p>
        </p:txBody>
      </p:sp>
      <p:sp>
        <p:nvSpPr>
          <p:cNvPr id="4" name="Slide Number Placeholder 3"/>
          <p:cNvSpPr>
            <a:spLocks noGrp="1"/>
          </p:cNvSpPr>
          <p:nvPr>
            <p:ph type="sldNum" sz="quarter" idx="5"/>
          </p:nvPr>
        </p:nvSpPr>
        <p:spPr/>
        <p:txBody>
          <a:bodyPr/>
          <a:lstStyle/>
          <a:p>
            <a:fld id="{DC68F153-E8D4-1149-BBFE-5FD20C676705}" type="slidenum">
              <a:rPr lang="en-US" smtClean="0"/>
              <a:t>9</a:t>
            </a:fld>
            <a:endParaRPr lang="en-US"/>
          </a:p>
        </p:txBody>
      </p:sp>
    </p:spTree>
    <p:extLst>
      <p:ext uri="{BB962C8B-B14F-4D97-AF65-F5344CB8AC3E}">
        <p14:creationId xmlns:p14="http://schemas.microsoft.com/office/powerpoint/2010/main" val="5191931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6FDB8-A86C-DBEB-9E6D-B88907FCF1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7B4E0-AF1A-5F59-847B-78AF4F2B56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3363CE-BB95-F97F-8494-48311BF0BD0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u="none" dirty="0"/>
              <a:t>Cognitive flexibility is our</a:t>
            </a:r>
            <a:r>
              <a:rPr lang="en-US" b="0" dirty="0"/>
              <a:t> ability to switch between different goals (task switching)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Going back to our paper writing example – if you’re expecting an e-mail from your thesis advisor with edits, you might want to employ cognitive flexibility to switch from writing your review paper to checking your phone notification.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-&gt;</a:t>
            </a:r>
          </a:p>
        </p:txBody>
      </p:sp>
      <p:sp>
        <p:nvSpPr>
          <p:cNvPr id="4" name="Slide Number Placeholder 3">
            <a:extLst>
              <a:ext uri="{FF2B5EF4-FFF2-40B4-BE49-F238E27FC236}">
                <a16:creationId xmlns:a16="http://schemas.microsoft.com/office/drawing/2014/main" id="{3BFE44C1-FC50-2A07-30DE-D4A3065AAE9F}"/>
              </a:ext>
            </a:extLst>
          </p:cNvPr>
          <p:cNvSpPr>
            <a:spLocks noGrp="1"/>
          </p:cNvSpPr>
          <p:nvPr>
            <p:ph type="sldNum" sz="quarter" idx="5"/>
          </p:nvPr>
        </p:nvSpPr>
        <p:spPr/>
        <p:txBody>
          <a:bodyPr/>
          <a:lstStyle/>
          <a:p>
            <a:fld id="{DC68F153-E8D4-1149-BBFE-5FD20C676705}" type="slidenum">
              <a:rPr lang="en-US" smtClean="0"/>
              <a:t>10</a:t>
            </a:fld>
            <a:endParaRPr lang="en-US"/>
          </a:p>
        </p:txBody>
      </p:sp>
    </p:spTree>
    <p:extLst>
      <p:ext uri="{BB962C8B-B14F-4D97-AF65-F5344CB8AC3E}">
        <p14:creationId xmlns:p14="http://schemas.microsoft.com/office/powerpoint/2010/main" val="274585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7AE37-FEDB-D386-A341-587F828F6B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4F0F7A-9FE2-805F-CE71-C57EFEFD1F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2A3210-EBA9-0937-ACAC-E5E35A43F65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u="none" dirty="0"/>
              <a:t>Cognitive flexibility is our</a:t>
            </a:r>
            <a:r>
              <a:rPr lang="en-US" dirty="0"/>
              <a:t> ability to switch between different goals (task switching)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Going back to our paper writing example – if you’re expecting an e-mail from your thesis advisor with edits, you might want to employ cognitive flexibility to switch from writing your review paper to checking your phone notification.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-&gt;</a:t>
            </a:r>
          </a:p>
        </p:txBody>
      </p:sp>
      <p:sp>
        <p:nvSpPr>
          <p:cNvPr id="4" name="Slide Number Placeholder 3">
            <a:extLst>
              <a:ext uri="{FF2B5EF4-FFF2-40B4-BE49-F238E27FC236}">
                <a16:creationId xmlns:a16="http://schemas.microsoft.com/office/drawing/2014/main" id="{3A3A5EF4-5492-E2EE-8EAF-C7B9E57B3C77}"/>
              </a:ext>
            </a:extLst>
          </p:cNvPr>
          <p:cNvSpPr>
            <a:spLocks noGrp="1"/>
          </p:cNvSpPr>
          <p:nvPr>
            <p:ph type="sldNum" sz="quarter" idx="5"/>
          </p:nvPr>
        </p:nvSpPr>
        <p:spPr/>
        <p:txBody>
          <a:bodyPr/>
          <a:lstStyle/>
          <a:p>
            <a:fld id="{DC68F153-E8D4-1149-BBFE-5FD20C676705}" type="slidenum">
              <a:rPr lang="en-US" smtClean="0"/>
              <a:t>11</a:t>
            </a:fld>
            <a:endParaRPr lang="en-US"/>
          </a:p>
        </p:txBody>
      </p:sp>
    </p:spTree>
    <p:extLst>
      <p:ext uri="{BB962C8B-B14F-4D97-AF65-F5344CB8AC3E}">
        <p14:creationId xmlns:p14="http://schemas.microsoft.com/office/powerpoint/2010/main" val="169084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03EBE-16E2-14DA-8497-1173B96A29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6C2FC-DEF0-8AB7-7C36-FB323B40F0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1C15AE-0FC9-8DE0-9918-615A40F40B3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CONSTRUCTS EXPLANATION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Imagine you are reading a book in a busy café. As the café’s noise level varies, the level of focus you need to read would probably also vary accordingly. However, even when you’re super focused, a buzz from your cell phone would cause you to swiftly shift tasks from reading to answering the call.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-&gt;</a:t>
            </a:r>
          </a:p>
          <a:p>
            <a:endParaRPr lang="en-US" dirty="0"/>
          </a:p>
          <a:p>
            <a:r>
              <a:rPr lang="en-US" dirty="0"/>
              <a:t>This example illustrates two core capabilities of cognitive control today. First is cognitive stability, which is our ability to focus on a task (reading) while ignoring task-irrelevant stimuli (the noise in the café). </a:t>
            </a:r>
          </a:p>
          <a:p>
            <a:endParaRPr lang="en-US" dirty="0"/>
          </a:p>
          <a:p>
            <a:r>
              <a:rPr lang="en-US" dirty="0"/>
              <a:t>-&gt;</a:t>
            </a:r>
          </a:p>
          <a:p>
            <a:endParaRPr lang="en-US" dirty="0"/>
          </a:p>
          <a:p>
            <a:r>
              <a:rPr lang="en-US" dirty="0"/>
              <a:t>Second is cognitive flexibility, which is our ability to switch focus to another task when your goals change (switch from reading to answering your phone). </a:t>
            </a:r>
          </a:p>
          <a:p>
            <a:endParaRPr lang="en-US" dirty="0"/>
          </a:p>
          <a:p>
            <a:r>
              <a:rPr lang="en-US" dirty="0"/>
              <a:t>-&gt;</a:t>
            </a:r>
          </a:p>
          <a:p>
            <a:endParaRPr lang="en-US" dirty="0"/>
          </a:p>
          <a:p>
            <a:r>
              <a:rPr lang="en-US" dirty="0"/>
              <a:t>We constantly adjust our levels of cognitive stability and flexibility as the demands placed on us by our environment change. In our café example, stability can be increased when the environment gets noisier, increasing our ability to focus on reading our book. Flexibility can be increased if we expect to receive an important phone call, allowing us to be more ready to switch from reading to talking on the phone.</a:t>
            </a:r>
          </a:p>
          <a:p>
            <a:endParaRPr lang="en-US" dirty="0"/>
          </a:p>
          <a:p>
            <a:r>
              <a:rPr lang="en-US" dirty="0"/>
              <a:t>-&gt;</a:t>
            </a:r>
          </a:p>
          <a:p>
            <a:endParaRPr lang="en-US" b="1"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Stability and flexibility have been manipulated and studied separately, but haven’t really been studied together in the same experiment. This is partly because the general assumption in the field is that stability and flexibility are two poles of the same continuum, such that increased stability comes at the cost of decreased flexibility, and vice versa. This view assumes that as you get more stable at reading your book, you become less flexible at switching to a phone call.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However, recent behavioral studies from the Egner Lab show that this assumption is probably wrong, and that stability and flexibility are likely independent processes. So this new view from the Egner Lab theorizes that becoming more stable and locked in on reading your book does not necessarily affect how flexible you are at switching to answering a phone call. In two studies where we manipulate stability and flexibility demands simultaneously – one using fMRI and another using intracranial EEG -- we set out to test which of these two views is supported by how the brain regulates these processes. In line with previous behavioral studies from our lab, we hypothesize that the brain will adapt to stability and flexibility demands independently.</a:t>
            </a:r>
            <a:endParaRPr lang="en-US" dirty="0"/>
          </a:p>
          <a:p>
            <a:endParaRPr lang="en-US" dirty="0"/>
          </a:p>
          <a:p>
            <a:r>
              <a:rPr lang="en-US" dirty="0"/>
              <a:t>-&gt;</a:t>
            </a:r>
          </a:p>
          <a:p>
            <a:endParaRPr lang="en-US" dirty="0"/>
          </a:p>
          <a:p>
            <a:r>
              <a:rPr lang="en-US" dirty="0"/>
              <a:t>Understanding how stability and flexibility are regulated concurrently in the brain may lead to more targeted treatments towards many clinical disorders in which these abilities are impaired, such as ADHD and schizophrenia.</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Stability and flexibility have been studied separately, but haven’t really haven’t been studied together in the same experiment partly because the general assumption is that stability and flexibility are two poles of the same continuum, such that increased stability comes at the cost of decreased flexibility, and vice versa. But this assumption hasn’t been directly tested before, and, in particular, we don’t know exactly how these processes are regulated concurrently in the brain. Based on prior behavioral studies from the Egner Lab, we hypothesize that stability and flexibility are actually independent processes, and thus how stable and flexible people are will vary independently as the demands on these processes change. So we set out to test this hypothesis in an fMRI study and an intracranial EEG study.</a:t>
            </a:r>
          </a:p>
          <a:p>
            <a:endParaRPr lang="en-US" dirty="0"/>
          </a:p>
          <a:p>
            <a:endParaRPr lang="en-US" dirty="0"/>
          </a:p>
          <a:p>
            <a:r>
              <a:rPr lang="en-US" dirty="0"/>
              <a:t>That’s the goal of this project </a:t>
            </a:r>
            <a:r>
              <a:rPr lang="en-US" dirty="0">
                <a:sym typeface="Wingdings" pitchFamily="2" charset="2"/>
              </a:rPr>
              <a:t></a:t>
            </a: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endParaRPr lang="en-US" dirty="0">
              <a:sym typeface="Wingdings"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Imagine you are a campus squirrel, digging through trash to get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hawk</a:t>
            </a:r>
          </a:p>
          <a:p>
            <a:endParaRPr lang="en-US" dirty="0">
              <a:sym typeface="Wingdings" pitchFamily="2" charset="2"/>
            </a:endParaRPr>
          </a:p>
          <a:p>
            <a:r>
              <a:rPr lang="en-US" dirty="0">
                <a:sym typeface="Wingdings" pitchFamily="2" charset="2"/>
              </a:rPr>
              <a:t>I need to say something about how people typically think that these things are one-dimensional, where as you become more stable, you become less flexible. But that’s not necessarily the case.</a:t>
            </a:r>
            <a:endParaRPr lang="en-US" dirty="0"/>
          </a:p>
          <a:p>
            <a:endParaRPr lang="en-US" dirty="0"/>
          </a:p>
          <a:p>
            <a:endParaRPr lang="en-US" b="1" dirty="0"/>
          </a:p>
          <a:p>
            <a:r>
              <a:rPr lang="en-US" b="1" dirty="0"/>
              <a:t>better examples - one example for both (just put pic of the phone call or something, make it funny though. Specificity is funny.) Or have one example for each.</a:t>
            </a:r>
          </a:p>
          <a:p>
            <a:r>
              <a:rPr lang="en-US" b="1" dirty="0"/>
              <a:t>so what? nod to significance - clinical conditions</a:t>
            </a:r>
          </a:p>
          <a:p>
            <a:r>
              <a:rPr lang="en-US" b="1" dirty="0"/>
              <a:t>don't be too funny</a:t>
            </a:r>
          </a:p>
          <a:p>
            <a:endParaRPr lang="en-US" b="1" dirty="0"/>
          </a:p>
          <a:p>
            <a:r>
              <a:rPr lang="en-US" b="1" dirty="0"/>
              <a:t>pics for 1d vs 2d</a:t>
            </a:r>
          </a:p>
          <a:p>
            <a:endParaRPr lang="en-US" b="1" dirty="0"/>
          </a:p>
          <a:p>
            <a:r>
              <a:rPr lang="en-US" b="1" dirty="0"/>
              <a:t>operationalize of constructs good </a:t>
            </a:r>
          </a:p>
          <a:p>
            <a:endParaRPr lang="en-US" b="1" dirty="0"/>
          </a:p>
          <a:p>
            <a:endParaRPr lang="en-US" b="1" dirty="0"/>
          </a:p>
          <a:p>
            <a:r>
              <a:rPr lang="en-US" b="1" dirty="0"/>
              <a:t>Click through this with a bunch of slides and show one bullet point at a time</a:t>
            </a:r>
          </a:p>
          <a:p>
            <a:endParaRPr lang="en-US" b="1" dirty="0"/>
          </a:p>
          <a:p>
            <a:endParaRPr lang="en-US" b="1" dirty="0"/>
          </a:p>
        </p:txBody>
      </p:sp>
      <p:sp>
        <p:nvSpPr>
          <p:cNvPr id="4" name="Slide Number Placeholder 3">
            <a:extLst>
              <a:ext uri="{FF2B5EF4-FFF2-40B4-BE49-F238E27FC236}">
                <a16:creationId xmlns:a16="http://schemas.microsoft.com/office/drawing/2014/main" id="{864F6A2F-B1E6-9CED-0E6A-E482482FBB6A}"/>
              </a:ext>
            </a:extLst>
          </p:cNvPr>
          <p:cNvSpPr>
            <a:spLocks noGrp="1"/>
          </p:cNvSpPr>
          <p:nvPr>
            <p:ph type="sldNum" sz="quarter" idx="5"/>
          </p:nvPr>
        </p:nvSpPr>
        <p:spPr/>
        <p:txBody>
          <a:bodyPr/>
          <a:lstStyle/>
          <a:p>
            <a:fld id="{35723C0D-A671-FF46-996B-A5611795C643}" type="slidenum">
              <a:rPr lang="en-US" smtClean="0"/>
              <a:t>12</a:t>
            </a:fld>
            <a:endParaRPr lang="en-US"/>
          </a:p>
        </p:txBody>
      </p:sp>
    </p:spTree>
    <p:extLst>
      <p:ext uri="{BB962C8B-B14F-4D97-AF65-F5344CB8AC3E}">
        <p14:creationId xmlns:p14="http://schemas.microsoft.com/office/powerpoint/2010/main" val="39708869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E01C2-95CE-93B0-6639-D959E29BDD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674561-1031-10EB-F971-88788B8BC7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561D5A-6919-16AF-7F8A-81BE7C90D8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0" dirty="0">
                <a:effectLst/>
                <a:latin typeface="Times New Roman" panose="02020603050405020304" pitchFamily="18" charset="0"/>
                <a:ea typeface="Times New Roman" panose="02020603050405020304" pitchFamily="18" charset="0"/>
              </a:rPr>
              <a:t>So now for our task that lets us answer these questions. Our fMRI and </a:t>
            </a:r>
            <a:r>
              <a:rPr lang="en-US" sz="1800" b="1" kern="0" dirty="0" err="1">
                <a:effectLst/>
                <a:latin typeface="Times New Roman" panose="02020603050405020304" pitchFamily="18" charset="0"/>
                <a:ea typeface="Times New Roman" panose="02020603050405020304" pitchFamily="18" charset="0"/>
              </a:rPr>
              <a:t>iEEG</a:t>
            </a:r>
            <a:r>
              <a:rPr lang="en-US" sz="1800" b="1" kern="0" dirty="0">
                <a:effectLst/>
                <a:latin typeface="Times New Roman" panose="02020603050405020304" pitchFamily="18" charset="0"/>
                <a:ea typeface="Times New Roman" panose="02020603050405020304" pitchFamily="18" charset="0"/>
              </a:rPr>
              <a:t> studies have different task paradigms, but try to answer the same question of how the brain adjusts to simultaneous stability and flexibility demands. For the sake of time, I’ll just go through the task paradigm in our </a:t>
            </a:r>
            <a:r>
              <a:rPr lang="en-US" sz="1800" b="1" kern="0" dirty="0" err="1">
                <a:effectLst/>
                <a:latin typeface="Times New Roman" panose="02020603050405020304" pitchFamily="18" charset="0"/>
                <a:ea typeface="Times New Roman" panose="02020603050405020304" pitchFamily="18" charset="0"/>
              </a:rPr>
              <a:t>iEEG</a:t>
            </a:r>
            <a:r>
              <a:rPr lang="en-US" sz="1800" b="1" kern="0" dirty="0">
                <a:effectLst/>
                <a:latin typeface="Times New Roman" panose="02020603050405020304" pitchFamily="18" charset="0"/>
                <a:ea typeface="Times New Roman" panose="02020603050405020304" pitchFamily="18" charset="0"/>
              </a:rPr>
              <a:t> study. In our </a:t>
            </a:r>
            <a:r>
              <a:rPr lang="en-US" sz="1800" b="1" kern="0" dirty="0" err="1">
                <a:effectLst/>
                <a:latin typeface="Times New Roman" panose="02020603050405020304" pitchFamily="18" charset="0"/>
                <a:ea typeface="Times New Roman" panose="02020603050405020304" pitchFamily="18" charset="0"/>
              </a:rPr>
              <a:t>iEEG</a:t>
            </a:r>
            <a:r>
              <a:rPr lang="en-US" sz="1800" b="1" kern="0" dirty="0">
                <a:effectLst/>
                <a:latin typeface="Times New Roman" panose="02020603050405020304" pitchFamily="18" charset="0"/>
                <a:ea typeface="Times New Roman" panose="02020603050405020304" pitchFamily="18" charset="0"/>
              </a:rPr>
              <a:t> study, participants will either categorize the identity of a big letter, or the identity of the small letters that make up the big letter. The fMRI study has a slightly different, but similar paradigm. We can probe stability by comparing their performance on congruent trials where the big and small letters match, against incongruent trials where the big and small letters don’t match, thus introducing response conflict. The slower they are on incongruent trials relative to congruent trials, the less stable they are. We call the size of this difference the congruency effect.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kern="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0" dirty="0">
                <a:effectLst/>
                <a:latin typeface="Times New Roman" panose="02020603050405020304" pitchFamily="18" charset="0"/>
                <a:ea typeface="Times New Roman" panose="02020603050405020304" pitchFamily="18" charset="0"/>
              </a:rPr>
              <a:t>-&gt;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kern="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0" dirty="0">
                <a:effectLst/>
                <a:latin typeface="Times New Roman" panose="02020603050405020304" pitchFamily="18" charset="0"/>
                <a:ea typeface="Times New Roman" panose="02020603050405020304" pitchFamily="18" charset="0"/>
              </a:rPr>
              <a:t>Conversely, we can probe how flexible people are by comparing their performance on trials that repeat the same task as the last trial (last trial big, this trial big) compared to trials that switch the task from the last trial (last trial big, this trial small). The slower they are on task switch trials relative to task repeat trials, the less flexible they are. We call the size of this difference the switch cost.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kern="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0" dirty="0">
                <a:effectLst/>
                <a:latin typeface="Times New Roman" panose="02020603050405020304" pitchFamily="18" charset="0"/>
                <a:ea typeface="Times New Roman" panose="02020603050405020304" pitchFamily="18" charset="0"/>
              </a:rPr>
              <a:t>do this before meta-analyses - why? hypothesis for why these things are diff and how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kern="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0" dirty="0">
                <a:effectLst/>
                <a:latin typeface="Times New Roman" panose="02020603050405020304" pitchFamily="18" charset="0"/>
                <a:ea typeface="Times New Roman" panose="02020603050405020304" pitchFamily="18" charset="0"/>
              </a:rPr>
              <a:t>show behavior first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dirty="0">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A13D1763-9BAE-6C32-F6CB-8D17C9F4E090}"/>
              </a:ext>
            </a:extLst>
          </p:cNvPr>
          <p:cNvSpPr>
            <a:spLocks noGrp="1"/>
          </p:cNvSpPr>
          <p:nvPr>
            <p:ph type="sldNum" sz="quarter" idx="5"/>
          </p:nvPr>
        </p:nvSpPr>
        <p:spPr/>
        <p:txBody>
          <a:bodyPr/>
          <a:lstStyle/>
          <a:p>
            <a:fld id="{DC68F153-E8D4-1149-BBFE-5FD20C676705}" type="slidenum">
              <a:rPr lang="en-US" smtClean="0"/>
              <a:t>13</a:t>
            </a:fld>
            <a:endParaRPr lang="en-US"/>
          </a:p>
        </p:txBody>
      </p:sp>
    </p:spTree>
    <p:extLst>
      <p:ext uri="{BB962C8B-B14F-4D97-AF65-F5344CB8AC3E}">
        <p14:creationId xmlns:p14="http://schemas.microsoft.com/office/powerpoint/2010/main" val="2952119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A0F98-AE4E-426A-2BCA-A76C6E33C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34BD92-DB07-83ED-1DA6-FB0BE44481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1BB19-03AA-CEC5-84C1-E5EE42E88AB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0" dirty="0">
                <a:effectLst/>
                <a:latin typeface="Times New Roman" panose="02020603050405020304" pitchFamily="18" charset="0"/>
                <a:ea typeface="Times New Roman" panose="02020603050405020304" pitchFamily="18" charset="0"/>
              </a:rPr>
              <a:t>So now for our task that lets us answer these questions. Our fMRI and </a:t>
            </a:r>
            <a:r>
              <a:rPr lang="en-US" sz="1800" b="0" kern="0" dirty="0" err="1">
                <a:effectLst/>
                <a:latin typeface="Times New Roman" panose="02020603050405020304" pitchFamily="18" charset="0"/>
                <a:ea typeface="Times New Roman" panose="02020603050405020304" pitchFamily="18" charset="0"/>
              </a:rPr>
              <a:t>iEEG</a:t>
            </a:r>
            <a:r>
              <a:rPr lang="en-US" sz="1800" b="0" kern="0" dirty="0">
                <a:effectLst/>
                <a:latin typeface="Times New Roman" panose="02020603050405020304" pitchFamily="18" charset="0"/>
                <a:ea typeface="Times New Roman" panose="02020603050405020304" pitchFamily="18" charset="0"/>
              </a:rPr>
              <a:t> studies have slightly different task paradigms, but try to answer the same question of how the brain adjusts to simultaneous stability and flexibility demands. For the sake of time, I’ll just go through the paradigm in our </a:t>
            </a:r>
            <a:r>
              <a:rPr lang="en-US" sz="1800" b="0" kern="0" dirty="0" err="1">
                <a:effectLst/>
                <a:latin typeface="Times New Roman" panose="02020603050405020304" pitchFamily="18" charset="0"/>
                <a:ea typeface="Times New Roman" panose="02020603050405020304" pitchFamily="18" charset="0"/>
              </a:rPr>
              <a:t>iEEG</a:t>
            </a:r>
            <a:r>
              <a:rPr lang="en-US" sz="1800" b="0" kern="0" dirty="0">
                <a:effectLst/>
                <a:latin typeface="Times New Roman" panose="02020603050405020304" pitchFamily="18" charset="0"/>
                <a:ea typeface="Times New Roman" panose="02020603050405020304" pitchFamily="18" charset="0"/>
              </a:rPr>
              <a:t> study. In our </a:t>
            </a:r>
            <a:r>
              <a:rPr lang="en-US" sz="1800" b="0" kern="0" dirty="0" err="1">
                <a:effectLst/>
                <a:latin typeface="Times New Roman" panose="02020603050405020304" pitchFamily="18" charset="0"/>
                <a:ea typeface="Times New Roman" panose="02020603050405020304" pitchFamily="18" charset="0"/>
              </a:rPr>
              <a:t>iEEG</a:t>
            </a:r>
            <a:r>
              <a:rPr lang="en-US" sz="1800" b="0" kern="0" dirty="0">
                <a:effectLst/>
                <a:latin typeface="Times New Roman" panose="02020603050405020304" pitchFamily="18" charset="0"/>
                <a:ea typeface="Times New Roman" panose="02020603050405020304" pitchFamily="18" charset="0"/>
              </a:rPr>
              <a:t> study, participants will either categorize the identity of a big letter, or the identity of the small letters that make up the big letter. The fMRI study has a slightly different, but similar paradigm. We can probe stability by comparing their performance on congruent trials where the big and small letters match, against incongruent trials where the big and small letters don’t match, thus introducing response conflict. The slower they are on incongruent trials relative to congruent trials, the less stable they are. We call the size of this difference the congruency effect.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kern="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0" dirty="0">
                <a:effectLst/>
                <a:latin typeface="Times New Roman" panose="02020603050405020304" pitchFamily="18" charset="0"/>
                <a:ea typeface="Times New Roman" panose="02020603050405020304" pitchFamily="18" charset="0"/>
              </a:rPr>
              <a:t>-&gt;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kern="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0" dirty="0">
                <a:effectLst/>
                <a:latin typeface="Times New Roman" panose="02020603050405020304" pitchFamily="18" charset="0"/>
                <a:ea typeface="Times New Roman" panose="02020603050405020304" pitchFamily="18" charset="0"/>
              </a:rPr>
              <a:t>Conversely, we can probe how flexible people are by comparing their performance on trials that repeat the same task as the last trial (last trial big, this trial big) compared to trials that switch the task from the last trial (last trial big, this trial small). The slower they are on task switch trials relative to task repeat trials, the less flexible they are. We call the size of this difference the switch cost.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1" kern="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0" dirty="0">
                <a:effectLst/>
                <a:latin typeface="Times New Roman" panose="02020603050405020304" pitchFamily="18" charset="0"/>
                <a:ea typeface="Times New Roman" panose="02020603050405020304" pitchFamily="18" charset="0"/>
              </a:rPr>
              <a:t>note - stability for congruency effects, flexibility by switch costs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1" kern="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0" dirty="0">
                <a:effectLst/>
                <a:latin typeface="Times New Roman" panose="02020603050405020304" pitchFamily="18" charset="0"/>
                <a:ea typeface="Times New Roman" panose="02020603050405020304" pitchFamily="18" charset="0"/>
              </a:rPr>
              <a:t>note task cue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0" dirty="0" err="1">
                <a:effectLst/>
                <a:latin typeface="Times New Roman" panose="02020603050405020304" pitchFamily="18" charset="0"/>
                <a:ea typeface="Times New Roman" panose="02020603050405020304" pitchFamily="18" charset="0"/>
              </a:rPr>
              <a:t>navon</a:t>
            </a:r>
            <a:r>
              <a:rPr lang="en-US" sz="1800" b="1" kern="0" dirty="0">
                <a:effectLst/>
                <a:latin typeface="Times New Roman" panose="02020603050405020304" pitchFamily="18" charset="0"/>
                <a:ea typeface="Times New Roman" panose="02020603050405020304" pitchFamily="18" charset="0"/>
              </a:rPr>
              <a:t> letter task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0" dirty="0">
                <a:effectLst/>
                <a:latin typeface="Times New Roman" panose="02020603050405020304" pitchFamily="18" charset="0"/>
                <a:ea typeface="Times New Roman" panose="02020603050405020304" pitchFamily="18" charset="0"/>
              </a:rPr>
              <a:t>walk through - lots of stuff</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0" dirty="0" err="1">
                <a:effectLst/>
                <a:latin typeface="Times New Roman" panose="02020603050405020304" pitchFamily="18" charset="0"/>
                <a:ea typeface="Times New Roman" panose="02020603050405020304" pitchFamily="18" charset="0"/>
              </a:rPr>
              <a:t>inc</a:t>
            </a:r>
            <a:r>
              <a:rPr lang="en-US" sz="1800" b="1" kern="0" dirty="0">
                <a:effectLst/>
                <a:latin typeface="Times New Roman" panose="02020603050405020304" pitchFamily="18" charset="0"/>
                <a:ea typeface="Times New Roman" panose="02020603050405020304" pitchFamily="18" charset="0"/>
              </a:rPr>
              <a:t>, con - incongruent congruent,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0" dirty="0">
                <a:effectLst/>
                <a:latin typeface="Times New Roman" panose="02020603050405020304" pitchFamily="18" charset="0"/>
                <a:ea typeface="Times New Roman" panose="02020603050405020304" pitchFamily="18" charset="0"/>
              </a:rPr>
              <a:t>RT is reaction time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0" dirty="0">
                <a:effectLst/>
                <a:latin typeface="Times New Roman" panose="02020603050405020304" pitchFamily="18" charset="0"/>
                <a:ea typeface="Times New Roman" panose="02020603050405020304" pitchFamily="18" charset="0"/>
              </a:rPr>
              <a:t>repeat switch - task switch, task repeat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0" dirty="0">
                <a:effectLst/>
                <a:latin typeface="Times New Roman" panose="02020603050405020304" pitchFamily="18" charset="0"/>
                <a:ea typeface="Times New Roman" panose="02020603050405020304" pitchFamily="18" charset="0"/>
              </a:rPr>
              <a:t>put red frame and blue frame on left before the trial panels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0" dirty="0">
                <a:effectLst/>
                <a:latin typeface="Times New Roman" panose="02020603050405020304" pitchFamily="18" charset="0"/>
                <a:ea typeface="Times New Roman" panose="02020603050405020304" pitchFamily="18" charset="0"/>
              </a:rPr>
              <a:t>track what people are looking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1" kern="0" dirty="0">
              <a:effectLst/>
              <a:latin typeface="Times New Roman" panose="02020603050405020304" pitchFamily="18" charset="0"/>
              <a:ea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0" dirty="0">
                <a:effectLst/>
                <a:latin typeface="Times New Roman" panose="02020603050405020304" pitchFamily="18" charset="0"/>
                <a:ea typeface="Times New Roman" panose="02020603050405020304" pitchFamily="18" charset="0"/>
              </a:rPr>
              <a:t>Yeah let’s do more of a slow reveal here</a:t>
            </a:r>
            <a:endParaRPr lang="en-US" sz="1800" b="1" dirty="0">
              <a:effectLst/>
              <a:latin typeface="Times New Roman" panose="02020603050405020304" pitchFamily="18" charset="0"/>
              <a:ea typeface="Times New Roman" panose="02020603050405020304" pitchFamily="18" charset="0"/>
            </a:endParaRPr>
          </a:p>
        </p:txBody>
      </p:sp>
      <p:sp>
        <p:nvSpPr>
          <p:cNvPr id="4" name="Slide Number Placeholder 3">
            <a:extLst>
              <a:ext uri="{FF2B5EF4-FFF2-40B4-BE49-F238E27FC236}">
                <a16:creationId xmlns:a16="http://schemas.microsoft.com/office/drawing/2014/main" id="{65914696-0224-9D4C-8D84-F9FD7D1FFAB1}"/>
              </a:ext>
            </a:extLst>
          </p:cNvPr>
          <p:cNvSpPr>
            <a:spLocks noGrp="1"/>
          </p:cNvSpPr>
          <p:nvPr>
            <p:ph type="sldNum" sz="quarter" idx="5"/>
          </p:nvPr>
        </p:nvSpPr>
        <p:spPr/>
        <p:txBody>
          <a:bodyPr/>
          <a:lstStyle/>
          <a:p>
            <a:fld id="{DC68F153-E8D4-1149-BBFE-5FD20C676705}" type="slidenum">
              <a:rPr lang="en-US" smtClean="0"/>
              <a:t>14</a:t>
            </a:fld>
            <a:endParaRPr lang="en-US"/>
          </a:p>
        </p:txBody>
      </p:sp>
    </p:spTree>
    <p:extLst>
      <p:ext uri="{BB962C8B-B14F-4D97-AF65-F5344CB8AC3E}">
        <p14:creationId xmlns:p14="http://schemas.microsoft.com/office/powerpoint/2010/main" val="13615489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So now that we’re able to measure how stable and flexible people are on each trial, we then separately vary demands on stability and flexibility by orthogonally varying the incongruent and task switch proportions across four block types. This lets us answer our question of whether people and their brains adapt to stability and flexibility demands independently or not. We hypothesize that they do adapt to these demands independently. This would mean that the incongruent proportion will affect the size of the congruency effect but not the size of the switch cost, thus showing that demands on stability affect how stable people are, but not how flexible they are. Likewise, we expect that the switch proportion affects the size of the switch cost but not the congruency effect, thus showing that demands on flexibility affect how flexible people are, but not how stable they are. </a:t>
            </a:r>
          </a:p>
          <a:p>
            <a:endParaRPr lang="en-US" b="1" dirty="0"/>
          </a:p>
          <a:p>
            <a:endParaRPr lang="en-US" b="1" dirty="0"/>
          </a:p>
          <a:p>
            <a:endParaRPr lang="en-US" b="1" dirty="0"/>
          </a:p>
          <a:p>
            <a:endParaRPr lang="en-US" b="1" dirty="0"/>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Stick this in somewhere else when I talk about the brain - And this would all be mirrored in brain regions sensitive to stability and/or flexibility, such that regions mediating stability will adjust their activity based on changing stability demands due to the incongruent proportion and regions mediating flexibility will adjust their activity based on changing flexibility demands due to the switch proportion.</a:t>
            </a:r>
          </a:p>
          <a:p>
            <a:endParaRPr lang="en-US" dirty="0"/>
          </a:p>
          <a:p>
            <a:r>
              <a:rPr lang="en-US" dirty="0"/>
              <a:t>make this clear!</a:t>
            </a:r>
          </a:p>
          <a:p>
            <a:r>
              <a:rPr lang="en-US" dirty="0"/>
              <a:t>block </a:t>
            </a:r>
            <a:r>
              <a:rPr lang="en-US" dirty="0" err="1"/>
              <a:t>a,b,c,d</a:t>
            </a:r>
            <a:r>
              <a:rPr lang="en-US" dirty="0"/>
              <a:t> not super clear, suggests these are different things</a:t>
            </a:r>
          </a:p>
          <a:p>
            <a:r>
              <a:rPr lang="en-US" dirty="0"/>
              <a:t>show 75/25 - colors instead</a:t>
            </a:r>
          </a:p>
          <a:p>
            <a:endParaRPr lang="en-US" dirty="0"/>
          </a:p>
          <a:p>
            <a:endParaRPr lang="en-US" dirty="0"/>
          </a:p>
          <a:p>
            <a:r>
              <a:rPr lang="en-US" dirty="0"/>
              <a:t>put switch cost and congruency effect definitions back on here.</a:t>
            </a:r>
          </a:p>
          <a:p>
            <a:r>
              <a:rPr lang="en-US" dirty="0"/>
              <a:t>tie into switching and focus - fake data would be good with the bar graphs, say direction of prop effects (switch cost up in mostly repeat blocks)</a:t>
            </a:r>
          </a:p>
          <a:p>
            <a:endParaRPr lang="en-US" dirty="0"/>
          </a:p>
          <a:p>
            <a:r>
              <a:rPr lang="en-US" dirty="0"/>
              <a:t>switch cost up arrow, congruency effect up arrow</a:t>
            </a:r>
          </a:p>
          <a:p>
            <a:endParaRPr lang="en-US" dirty="0"/>
          </a:p>
          <a:p>
            <a:r>
              <a:rPr lang="en-US" dirty="0"/>
              <a:t>don't need to say brain hypotheses here yet - what about the brain?</a:t>
            </a:r>
          </a:p>
          <a:p>
            <a:endParaRPr lang="en-US" dirty="0"/>
          </a:p>
          <a:p>
            <a:endParaRPr lang="en-US" dirty="0"/>
          </a:p>
          <a:p>
            <a:r>
              <a:rPr lang="en-US" dirty="0"/>
              <a:t>I think just slowly reveal my fMRI results piece by piece alongside this hypothesis slide. Instead of showing Tobias’s fake data, why not show my real data? And this would save me time too.</a:t>
            </a:r>
          </a:p>
          <a:p>
            <a:endParaRPr lang="en-US" dirty="0"/>
          </a:p>
          <a:p>
            <a:endParaRPr lang="en-US" dirty="0"/>
          </a:p>
          <a:p>
            <a:endParaRPr lang="en-US" dirty="0"/>
          </a:p>
          <a:p>
            <a:r>
              <a:rPr lang="en-US" dirty="0"/>
              <a:t>Importantly, in our task design, we have four blocks in which we independently vary the demands on stability and flexibility by orthogonally varying the incongruent and task switch proportions in each block. This lets us check if people independently adapt how stable and flexible they are, or if they adapt these abilities together. Hypothesis here is that the switch prop only affects the difference between switch and repeat, and incongruent prop only affects the difference between incongruent and congruent. Thus, people adapt these abilities independently, not together.</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If they ask - We do four runs of </a:t>
            </a:r>
            <a:r>
              <a:rPr lang="en-US" dirty="0" err="1"/>
              <a:t>fmri</a:t>
            </a:r>
            <a:r>
              <a:rPr lang="en-US" dirty="0"/>
              <a:t> data, and have two blocks in each, so we have 8 blocks total, with two blocks of each block type. 128 trials per run, so 64 trials per block. Blocks are randomly ordered. A and C never in the same run, B and D never in the same run.</a:t>
            </a:r>
          </a:p>
          <a:p>
            <a:endParaRPr lang="en-US" dirty="0"/>
          </a:p>
          <a:p>
            <a:r>
              <a:rPr lang="en-US" dirty="0"/>
              <a:t>In the </a:t>
            </a:r>
            <a:r>
              <a:rPr lang="en-US" dirty="0" err="1"/>
              <a:t>ieeg</a:t>
            </a:r>
            <a:r>
              <a:rPr lang="en-US" dirty="0"/>
              <a:t> participants, it’s 112 trials per block type. And each block type shows up in one block. Four blocks total.</a:t>
            </a:r>
          </a:p>
          <a:p>
            <a:endParaRPr lang="en-US" dirty="0"/>
          </a:p>
          <a:p>
            <a:endParaRPr lang="en-US" dirty="0"/>
          </a:p>
        </p:txBody>
      </p:sp>
      <p:sp>
        <p:nvSpPr>
          <p:cNvPr id="4" name="Slide Number Placeholder 3"/>
          <p:cNvSpPr>
            <a:spLocks noGrp="1"/>
          </p:cNvSpPr>
          <p:nvPr>
            <p:ph type="sldNum" sz="quarter" idx="5"/>
          </p:nvPr>
        </p:nvSpPr>
        <p:spPr/>
        <p:txBody>
          <a:bodyPr/>
          <a:lstStyle/>
          <a:p>
            <a:fld id="{35723C0D-A671-FF46-996B-A5611795C643}" type="slidenum">
              <a:rPr lang="en-US" smtClean="0"/>
              <a:t>15</a:t>
            </a:fld>
            <a:endParaRPr lang="en-US"/>
          </a:p>
        </p:txBody>
      </p:sp>
    </p:spTree>
    <p:extLst>
      <p:ext uri="{BB962C8B-B14F-4D97-AF65-F5344CB8AC3E}">
        <p14:creationId xmlns:p14="http://schemas.microsoft.com/office/powerpoint/2010/main" val="17608301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E4A8C-5DB4-3B89-35C4-EEF76BEA91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E33C66-C904-8A97-BF21-3A3DF05071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F67C26-51D0-BE51-071E-9CD3DD853E2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Our behavioral results support our hypotheses. In our fMRI participants, demands on stability via varying the incongruent proportion only affect the size of the congruency effect and not the switch cost, and demands on flexibility via varying the switch proportion only affect the size of the switch cost and not the congruency effect. Specifically, as people encounter more incongruent trials in a block, they become more stable, thus decreasing the size of their congruency effect. And as people encounter more task switch trials in a block, they become more flexible, thus decreasing the size of their switch cost. Thus, people seem to independently adapt how stable and flexible they are.</a:t>
            </a:r>
          </a:p>
          <a:p>
            <a:endParaRPr lang="en-US" dirty="0"/>
          </a:p>
          <a:p>
            <a:endParaRPr lang="en-US" dirty="0"/>
          </a:p>
          <a:p>
            <a:r>
              <a:rPr lang="en-US" dirty="0"/>
              <a:t>highlight alternative hypotheses - if you get more flexible, you are less stable and vice versa. Increased switch cost would mean decreased congruency effect. Nice replication of previous papers.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UPDATE THIS FIGURE. NEED TO ADAPT THE IEEG BEHAVIORAL CODE TO GET THE NEW RESULTS LIKE FMRI.</a:t>
            </a:r>
          </a:p>
          <a:p>
            <a:endParaRPr lang="en-US" dirty="0"/>
          </a:p>
          <a:p>
            <a:r>
              <a:rPr lang="en-US" dirty="0"/>
              <a:t>And similarly, we are still collecting intracranial EEG data but these preliminary behavioral results also show the same trends as our </a:t>
            </a:r>
            <a:r>
              <a:rPr lang="en-US" dirty="0" err="1"/>
              <a:t>fmri</a:t>
            </a:r>
            <a:r>
              <a:rPr lang="en-US" dirty="0"/>
              <a:t> data. </a:t>
            </a:r>
          </a:p>
          <a:p>
            <a:endParaRPr lang="en-US" dirty="0"/>
          </a:p>
        </p:txBody>
      </p:sp>
      <p:sp>
        <p:nvSpPr>
          <p:cNvPr id="4" name="Slide Number Placeholder 3">
            <a:extLst>
              <a:ext uri="{FF2B5EF4-FFF2-40B4-BE49-F238E27FC236}">
                <a16:creationId xmlns:a16="http://schemas.microsoft.com/office/drawing/2014/main" id="{3310EA99-668F-3670-F7FC-C1C9AB975059}"/>
              </a:ext>
            </a:extLst>
          </p:cNvPr>
          <p:cNvSpPr>
            <a:spLocks noGrp="1"/>
          </p:cNvSpPr>
          <p:nvPr>
            <p:ph type="sldNum" sz="quarter" idx="5"/>
          </p:nvPr>
        </p:nvSpPr>
        <p:spPr/>
        <p:txBody>
          <a:bodyPr/>
          <a:lstStyle/>
          <a:p>
            <a:fld id="{35723C0D-A671-FF46-996B-A5611795C643}" type="slidenum">
              <a:rPr lang="en-US" smtClean="0"/>
              <a:t>16</a:t>
            </a:fld>
            <a:endParaRPr lang="en-US"/>
          </a:p>
        </p:txBody>
      </p:sp>
    </p:spTree>
    <p:extLst>
      <p:ext uri="{BB962C8B-B14F-4D97-AF65-F5344CB8AC3E}">
        <p14:creationId xmlns:p14="http://schemas.microsoft.com/office/powerpoint/2010/main" val="523513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strike="noStrike" dirty="0"/>
              <a:t>Another question that we want to answer is if stability and flexibility have shared or distinct neural substrates. This is because meta-analyses of studies in which people only manipulated flexibility show largely the same frontoparietal activation as meta-analyses of studies in which people only manipulated stability. So this would suggest they have shared neural substrates. However, our previous behavioral studies show that stability and flexibility are adapted independently, which may suggest that they would have distinct neural substrates.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strike="noStrike"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strike="noStrike" dirty="0"/>
              <a:t>Thus, we need to manipulate both stability and flexibility in the same task to truly determine if they have shared or distinct neural substrates.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strike="noStrik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strike="noStrik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strike="noStrik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strike="noStrik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strike="noStrik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strike="noStrik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strike="noStrike"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Stability and flexibility have been manipulated and studied separately, but haven’t really been studied together in the same experiment partly because the general assumption is that stability and flexibility are two poles of the same continuum, such that increased stability comes at the cost of decreased flexibility, and vice versa. This view would assume that as you get more stable at reading your book, you become less flexible at switching to a phone call. However, recent behavioral studies from the Egner Lab show that this assumption is probably wrong, and that stability and flexibility are likely independent processes. So this new view from the Egner Lab theorizes that becoming more stable and locked in on reading your book does not necessarily affect how flexible you are at switching to answering a phone call.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But this assumption of stability and flexibility being opposite modes of the same process or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hasn’t been directly tested before using neural data, and we don’t know exactly how these processes are regulated concurrently in the brain. Based on prior behavioral studies from the Egner Lab, we hypothesize that stability and flexibility are actually independent processes, and thus how stable and flexible people are will vary independently as the demands on these processes change. So we set out to test this hypothesis.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strike="noStrik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strike="noStrike"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strike="noStrike" dirty="0"/>
              <a:t>outline slide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strike="noStrike" dirty="0"/>
              <a:t>also maybe do task first before this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strike="noStrik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strike="noStrike"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strike="noStrike" dirty="0"/>
              <a:t>Ah yes put this down after the task</a:t>
            </a:r>
          </a:p>
        </p:txBody>
      </p:sp>
      <p:sp>
        <p:nvSpPr>
          <p:cNvPr id="4" name="Slide Number Placeholder 3"/>
          <p:cNvSpPr>
            <a:spLocks noGrp="1"/>
          </p:cNvSpPr>
          <p:nvPr>
            <p:ph type="sldNum" sz="quarter" idx="5"/>
          </p:nvPr>
        </p:nvSpPr>
        <p:spPr/>
        <p:txBody>
          <a:bodyPr/>
          <a:lstStyle/>
          <a:p>
            <a:fld id="{35723C0D-A671-FF46-996B-A5611795C643}" type="slidenum">
              <a:rPr lang="en-US" smtClean="0"/>
              <a:t>17</a:t>
            </a:fld>
            <a:endParaRPr lang="en-US"/>
          </a:p>
        </p:txBody>
      </p:sp>
    </p:spTree>
    <p:extLst>
      <p:ext uri="{BB962C8B-B14F-4D97-AF65-F5344CB8AC3E}">
        <p14:creationId xmlns:p14="http://schemas.microsoft.com/office/powerpoint/2010/main" val="17459021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06DDE-EA6A-2711-6585-ED12638778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E7EEA4-CE3B-8D24-E8C2-DB3A8D2A5A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7FD07F-4D69-0B56-958B-545F0AF7FD33}"/>
              </a:ext>
            </a:extLst>
          </p:cNvPr>
          <p:cNvSpPr>
            <a:spLocks noGrp="1"/>
          </p:cNvSpPr>
          <p:nvPr>
            <p:ph type="body" idx="1"/>
          </p:nvPr>
        </p:nvSpPr>
        <p:spPr/>
        <p:txBody>
          <a:bodyPr/>
          <a:lstStyle/>
          <a:p>
            <a:r>
              <a:rPr lang="en-US" dirty="0"/>
              <a:t>Now let’s look at some brain data. In our fMRI study, we found significant clusters that were sensitive to flexibility demands. This was done by first making a neural measure of the switch cost, as the difference in activity between switch trials and repeat trials. We then found clusters whose switch costs decreased in blocks with high switch proportions, reflecting an adaptation in activity due to flexibility demands.</a:t>
            </a:r>
          </a:p>
          <a:p>
            <a:endParaRPr lang="en-US" dirty="0"/>
          </a:p>
          <a:p>
            <a:endParaRPr lang="en-US" dirty="0"/>
          </a:p>
          <a:p>
            <a:endParaRPr lang="en-US" dirty="0"/>
          </a:p>
          <a:p>
            <a:endParaRPr lang="en-US" dirty="0"/>
          </a:p>
          <a:p>
            <a:endParaRPr lang="en-US" dirty="0"/>
          </a:p>
          <a:p>
            <a:endParaRPr lang="en-US" dirty="0"/>
          </a:p>
          <a:p>
            <a:r>
              <a:rPr lang="en-US" dirty="0"/>
              <a:t>explain colors</a:t>
            </a:r>
          </a:p>
          <a:p>
            <a:r>
              <a:rPr lang="en-US" dirty="0"/>
              <a:t>put in </a:t>
            </a:r>
            <a:r>
              <a:rPr lang="en-US" dirty="0" err="1"/>
              <a:t>fmri</a:t>
            </a:r>
            <a:r>
              <a:rPr lang="en-US" dirty="0"/>
              <a:t> meta analyses right before this</a:t>
            </a:r>
          </a:p>
          <a:p>
            <a:r>
              <a:rPr lang="en-US" dirty="0"/>
              <a:t>smarter to do the same axial, orientation as the meta analyses - more similar and comparable</a:t>
            </a:r>
          </a:p>
          <a:p>
            <a:r>
              <a:rPr lang="en-US" dirty="0"/>
              <a:t>no parietal but medial and lateral frontal cortex</a:t>
            </a:r>
          </a:p>
          <a:p>
            <a:r>
              <a:rPr lang="en-US" dirty="0"/>
              <a:t>show them all as same color but desaturated first, and then add in the graphs with colors on the next</a:t>
            </a:r>
          </a:p>
          <a:p>
            <a:endParaRPr lang="en-US" dirty="0"/>
          </a:p>
          <a:p>
            <a:endParaRPr lang="en-US" dirty="0"/>
          </a:p>
          <a:p>
            <a:endParaRPr lang="en-US" dirty="0"/>
          </a:p>
          <a:p>
            <a:r>
              <a:rPr lang="en-US" dirty="0"/>
              <a:t>Hmm maybe put some measure of the LWPS up there in the text. Figure this out. Switch Cost (High Switch) – Switch Cost (Low Switch) maybe.</a:t>
            </a:r>
          </a:p>
          <a:p>
            <a:endParaRPr lang="en-US" dirty="0"/>
          </a:p>
          <a:p>
            <a:endParaRPr lang="en-US" dirty="0"/>
          </a:p>
          <a:p>
            <a:r>
              <a:rPr lang="en-US" dirty="0"/>
              <a:t>Need to rerun this with labels of Zinc – </a:t>
            </a:r>
            <a:r>
              <a:rPr lang="en-US" dirty="0" err="1"/>
              <a:t>Zcon</a:t>
            </a:r>
            <a:r>
              <a:rPr lang="en-US" dirty="0"/>
              <a:t> and </a:t>
            </a:r>
            <a:r>
              <a:rPr lang="en-US" dirty="0" err="1"/>
              <a:t>Zswitch</a:t>
            </a:r>
            <a:r>
              <a:rPr lang="en-US" dirty="0"/>
              <a:t> – </a:t>
            </a:r>
            <a:r>
              <a:rPr lang="en-US" dirty="0" err="1"/>
              <a:t>Zrepeat</a:t>
            </a:r>
            <a:r>
              <a:rPr lang="en-US" dirty="0"/>
              <a:t> Z(</a:t>
            </a:r>
            <a:r>
              <a:rPr lang="en-US" dirty="0" err="1"/>
              <a:t>inc</a:t>
            </a:r>
            <a:r>
              <a:rPr lang="en-US" dirty="0"/>
              <a:t>-con) and Z(switch- repeat)</a:t>
            </a:r>
          </a:p>
          <a:p>
            <a:endParaRPr lang="en-US" dirty="0"/>
          </a:p>
          <a:p>
            <a:r>
              <a:rPr lang="en-US" dirty="0"/>
              <a:t>And behavior can be RT (</a:t>
            </a:r>
            <a:r>
              <a:rPr lang="en-US" dirty="0" err="1"/>
              <a:t>inc</a:t>
            </a:r>
            <a:r>
              <a:rPr lang="en-US" dirty="0"/>
              <a:t>-con) and RT (switch – repeat)</a:t>
            </a:r>
          </a:p>
          <a:p>
            <a:endParaRPr lang="en-US" dirty="0"/>
          </a:p>
          <a:p>
            <a:r>
              <a:rPr lang="en-US" dirty="0"/>
              <a:t>Okay this needs to be prettier. Can expand these figures to be bigger I think. Instead of stacking them, maybe have them all in a row.</a:t>
            </a:r>
          </a:p>
          <a:p>
            <a:endParaRPr lang="en-US" dirty="0"/>
          </a:p>
          <a:p>
            <a:endParaRPr lang="en-US" dirty="0"/>
          </a:p>
          <a:p>
            <a:pPr marL="457200" indent="-457200">
              <a:spcAft>
                <a:spcPts val="1200"/>
              </a:spcAft>
              <a:buFont typeface="Arial" panose="020B0604020202020204" pitchFamily="34" charset="0"/>
              <a:buChar char="•"/>
            </a:pPr>
            <a:r>
              <a:rPr lang="en-US" sz="1200" dirty="0">
                <a:solidFill>
                  <a:schemeClr val="accent1">
                    <a:lumMod val="75000"/>
                  </a:schemeClr>
                </a:solidFill>
              </a:rPr>
              <a:t>ACC uniquely sensitive to flexibility demands, while </a:t>
            </a:r>
            <a:r>
              <a:rPr lang="en-US" sz="1200" dirty="0" err="1">
                <a:solidFill>
                  <a:schemeClr val="accent1">
                    <a:lumMod val="75000"/>
                  </a:schemeClr>
                </a:solidFill>
              </a:rPr>
              <a:t>vlPFC</a:t>
            </a:r>
            <a:r>
              <a:rPr lang="en-US" sz="1200" dirty="0">
                <a:solidFill>
                  <a:schemeClr val="accent1">
                    <a:lumMod val="75000"/>
                  </a:schemeClr>
                </a:solidFill>
              </a:rPr>
              <a:t> and </a:t>
            </a:r>
            <a:r>
              <a:rPr lang="en-US" sz="1200" dirty="0" err="1">
                <a:solidFill>
                  <a:schemeClr val="accent1">
                    <a:lumMod val="75000"/>
                  </a:schemeClr>
                </a:solidFill>
              </a:rPr>
              <a:t>dlPFC</a:t>
            </a:r>
            <a:r>
              <a:rPr lang="en-US" sz="1200" dirty="0">
                <a:solidFill>
                  <a:schemeClr val="accent1">
                    <a:lumMod val="75000"/>
                  </a:schemeClr>
                </a:solidFill>
              </a:rPr>
              <a:t> show sensitivity to both stability and flexibility demands</a:t>
            </a:r>
          </a:p>
          <a:p>
            <a:pPr marL="457200" indent="-457200">
              <a:spcAft>
                <a:spcPts val="1200"/>
              </a:spcAft>
              <a:buFont typeface="Arial" panose="020B0604020202020204" pitchFamily="34" charset="0"/>
              <a:buChar char="•"/>
            </a:pPr>
            <a:r>
              <a:rPr lang="en-US" sz="1200" dirty="0" err="1">
                <a:solidFill>
                  <a:schemeClr val="accent1">
                    <a:lumMod val="75000"/>
                  </a:schemeClr>
                </a:solidFill>
              </a:rPr>
              <a:t>vlPFC</a:t>
            </a:r>
            <a:r>
              <a:rPr lang="en-US" sz="1200" dirty="0">
                <a:solidFill>
                  <a:schemeClr val="accent1">
                    <a:lumMod val="75000"/>
                  </a:schemeClr>
                </a:solidFill>
              </a:rPr>
              <a:t>/</a:t>
            </a:r>
            <a:r>
              <a:rPr lang="en-US" sz="1200" dirty="0" err="1">
                <a:solidFill>
                  <a:schemeClr val="accent1">
                    <a:lumMod val="75000"/>
                  </a:schemeClr>
                </a:solidFill>
              </a:rPr>
              <a:t>dlPFC</a:t>
            </a:r>
            <a:r>
              <a:rPr lang="en-US" sz="1200" dirty="0">
                <a:solidFill>
                  <a:schemeClr val="accent1">
                    <a:lumMod val="75000"/>
                  </a:schemeClr>
                </a:solidFill>
              </a:rPr>
              <a:t> results confirm overlapping neural substrates for stability and flexibility but show independent regulation of these processes</a:t>
            </a:r>
          </a:p>
          <a:p>
            <a:pPr marL="457200" indent="-457200">
              <a:spcAft>
                <a:spcPts val="1200"/>
              </a:spcAft>
              <a:buFont typeface="Arial" panose="020B0604020202020204" pitchFamily="34" charset="0"/>
              <a:buChar char="•"/>
            </a:pPr>
            <a:r>
              <a:rPr lang="en-US" sz="1200" dirty="0">
                <a:solidFill>
                  <a:schemeClr val="accent1">
                    <a:lumMod val="75000"/>
                  </a:schemeClr>
                </a:solidFill>
              </a:rPr>
              <a:t>Absence of cross-domain effects suggests independence in how stability and flexibility are regulated </a:t>
            </a:r>
            <a:r>
              <a:rPr lang="en-US" sz="1200" dirty="0" err="1">
                <a:solidFill>
                  <a:schemeClr val="accent1">
                    <a:lumMod val="75000"/>
                  </a:schemeClr>
                </a:solidFill>
              </a:rPr>
              <a:t>neurally</a:t>
            </a:r>
            <a:r>
              <a:rPr lang="en-US" sz="1200" dirty="0">
                <a:solidFill>
                  <a:schemeClr val="accent1">
                    <a:lumMod val="75000"/>
                  </a:schemeClr>
                </a:solidFill>
              </a:rPr>
              <a:t>, mirroring behavior</a:t>
            </a:r>
          </a:p>
          <a:p>
            <a:pPr marL="457200" indent="-457200">
              <a:spcAft>
                <a:spcPts val="1200"/>
              </a:spcAft>
              <a:buFont typeface="Arial" panose="020B0604020202020204" pitchFamily="34" charset="0"/>
              <a:buChar char="•"/>
            </a:pPr>
            <a:r>
              <a:rPr lang="en-US" sz="1200" dirty="0">
                <a:solidFill>
                  <a:schemeClr val="accent1">
                    <a:lumMod val="75000"/>
                  </a:schemeClr>
                </a:solidFill>
              </a:rPr>
              <a:t>Our findings suggest cognitive stability and flexibility rely on partially dissociable neural pathways, with ACC specifically supporting flexibility while </a:t>
            </a:r>
            <a:r>
              <a:rPr lang="en-US" sz="1200" dirty="0" err="1">
                <a:solidFill>
                  <a:schemeClr val="accent1">
                    <a:lumMod val="75000"/>
                  </a:schemeClr>
                </a:solidFill>
              </a:rPr>
              <a:t>vlPFC</a:t>
            </a:r>
            <a:r>
              <a:rPr lang="en-US" sz="1200" dirty="0">
                <a:solidFill>
                  <a:schemeClr val="accent1">
                    <a:lumMod val="75000"/>
                  </a:schemeClr>
                </a:solidFill>
              </a:rPr>
              <a:t> and </a:t>
            </a:r>
            <a:r>
              <a:rPr lang="en-US" sz="1200" dirty="0" err="1">
                <a:solidFill>
                  <a:schemeClr val="accent1">
                    <a:lumMod val="75000"/>
                  </a:schemeClr>
                </a:solidFill>
              </a:rPr>
              <a:t>dlPFC</a:t>
            </a:r>
            <a:r>
              <a:rPr lang="en-US" sz="1200" dirty="0">
                <a:solidFill>
                  <a:schemeClr val="accent1">
                    <a:lumMod val="75000"/>
                  </a:schemeClr>
                </a:solidFill>
              </a:rPr>
              <a:t> seem to support both control processes.</a:t>
            </a:r>
          </a:p>
          <a:p>
            <a:pPr marL="457200" indent="-457200">
              <a:spcAft>
                <a:spcPts val="1200"/>
              </a:spcAft>
              <a:buFont typeface="Arial" panose="020B0604020202020204" pitchFamily="34" charset="0"/>
              <a:buChar char="•"/>
            </a:pPr>
            <a:r>
              <a:rPr lang="en-US" sz="1200" dirty="0">
                <a:solidFill>
                  <a:schemeClr val="accent1">
                    <a:lumMod val="75000"/>
                  </a:schemeClr>
                </a:solidFill>
              </a:rPr>
              <a:t>This functional specialization could help explain how the brain manages concurrent demands on task focus and task switching.</a:t>
            </a:r>
          </a:p>
          <a:p>
            <a:pPr marL="457200" indent="-457200">
              <a:spcAft>
                <a:spcPts val="1200"/>
              </a:spcAft>
              <a:buFont typeface="Arial" panose="020B0604020202020204" pitchFamily="34" charset="0"/>
              <a:buChar char="•"/>
            </a:pPr>
            <a:endParaRPr lang="en-US" sz="1200" dirty="0">
              <a:solidFill>
                <a:schemeClr val="accent1">
                  <a:lumMod val="75000"/>
                </a:schemeClr>
              </a:solidFill>
            </a:endParaRPr>
          </a:p>
          <a:p>
            <a:endParaRPr lang="en-US" dirty="0"/>
          </a:p>
        </p:txBody>
      </p:sp>
      <p:sp>
        <p:nvSpPr>
          <p:cNvPr id="4" name="Slide Number Placeholder 3">
            <a:extLst>
              <a:ext uri="{FF2B5EF4-FFF2-40B4-BE49-F238E27FC236}">
                <a16:creationId xmlns:a16="http://schemas.microsoft.com/office/drawing/2014/main" id="{5E53D5A2-27F3-4ABE-375E-4059ED83FD8C}"/>
              </a:ext>
            </a:extLst>
          </p:cNvPr>
          <p:cNvSpPr>
            <a:spLocks noGrp="1"/>
          </p:cNvSpPr>
          <p:nvPr>
            <p:ph type="sldNum" sz="quarter" idx="5"/>
          </p:nvPr>
        </p:nvSpPr>
        <p:spPr/>
        <p:txBody>
          <a:bodyPr/>
          <a:lstStyle/>
          <a:p>
            <a:fld id="{35723C0D-A671-FF46-996B-A5611795C643}" type="slidenum">
              <a:rPr lang="en-US" smtClean="0"/>
              <a:t>18</a:t>
            </a:fld>
            <a:endParaRPr lang="en-US"/>
          </a:p>
        </p:txBody>
      </p:sp>
    </p:spTree>
    <p:extLst>
      <p:ext uri="{BB962C8B-B14F-4D97-AF65-F5344CB8AC3E}">
        <p14:creationId xmlns:p14="http://schemas.microsoft.com/office/powerpoint/2010/main" val="3021170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4A432-5EF8-66DB-20E6-D842F3E413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148586-D0C9-3C0D-2498-840261FD41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9E2FA4-2C30-2A6A-0F51-0423E7C9C7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let’s look at some brain data. In our fMRI study, we found significant clusters that were sensitive to flexibility demands. This was done by first making a neural measure of the switch cost, as the difference in activity between switch trials and repeat trials. We then found clusters whose switch costs decreased in blocks with high switch proportions, reflecting an adaptation in activity due to flexibility demands. These clusters were roughly located in ventrolateral, dorsolateral, and medial prefrontal cortex.</a:t>
            </a:r>
          </a:p>
          <a:p>
            <a:endParaRPr lang="en-US" dirty="0"/>
          </a:p>
          <a:p>
            <a:r>
              <a:rPr lang="en-US" dirty="0"/>
              <a:t>-&gt;</a:t>
            </a:r>
          </a:p>
          <a:p>
            <a:endParaRPr lang="en-US" dirty="0"/>
          </a:p>
          <a:p>
            <a:r>
              <a:rPr lang="en-US" dirty="0"/>
              <a:t>We then probed these flexibility-mediating clusters for how their activity changed due to concurrent demands on stability. We defined a neural measure of the congruency effect, as the difference in activity between incongruent trials and congruent trials. We looked to see if these clusters were also sensitive to stability demands, and if they independently regulated their activity for stability and flexibility demands. The two clusters in lateral prefrontal cortex were also sensitive to congruency demands, but they independently adjusted their activity due to stability and flexibility demands, such that the incongruent proportion affected the size of the congruency effect, but not the switch cost, and the switch proportion affected the size of the switch cost, but not the congruency effect. This mirrors our behavioral results. The cluster in medial frontal cortex was selectively sensitive to flexibility demands, such that the switch proportion affected the switch cost but not congruency effect, and the incongruent proportion did not significantly affect the switch cost or congruency effect.</a:t>
            </a:r>
          </a:p>
          <a:p>
            <a:endParaRPr lang="en-US" dirty="0"/>
          </a:p>
          <a:p>
            <a:endParaRPr lang="en-US" dirty="0"/>
          </a:p>
          <a:p>
            <a:endParaRPr lang="en-US" dirty="0"/>
          </a:p>
          <a:p>
            <a:endParaRPr lang="en-US" dirty="0"/>
          </a:p>
          <a:p>
            <a:endParaRPr lang="en-US" dirty="0"/>
          </a:p>
          <a:p>
            <a:endParaRPr lang="en-US" dirty="0"/>
          </a:p>
          <a:p>
            <a:r>
              <a:rPr lang="en-US" dirty="0"/>
              <a:t>switch proportion</a:t>
            </a:r>
          </a:p>
          <a:p>
            <a:r>
              <a:rPr lang="en-US" dirty="0"/>
              <a:t>put things in as </a:t>
            </a:r>
            <a:r>
              <a:rPr lang="en-US" dirty="0" err="1"/>
              <a:t>i</a:t>
            </a:r>
            <a:r>
              <a:rPr lang="en-US" dirty="0"/>
              <a:t> explain them</a:t>
            </a:r>
          </a:p>
          <a:p>
            <a:r>
              <a:rPr lang="en-US" dirty="0"/>
              <a:t>color code legend for ROIs</a:t>
            </a:r>
          </a:p>
          <a:p>
            <a:r>
              <a:rPr lang="en-US" dirty="0"/>
              <a:t>use words to show how we got here</a:t>
            </a:r>
          </a:p>
          <a:p>
            <a:r>
              <a:rPr lang="en-US" dirty="0" err="1"/>
              <a:t>mfc</a:t>
            </a:r>
            <a:r>
              <a:rPr lang="en-US" dirty="0"/>
              <a:t> vs </a:t>
            </a:r>
            <a:r>
              <a:rPr lang="en-US" dirty="0" err="1"/>
              <a:t>lpfc</a:t>
            </a:r>
            <a:endParaRPr lang="en-US" dirty="0"/>
          </a:p>
          <a:p>
            <a:r>
              <a:rPr lang="en-US" dirty="0"/>
              <a:t>milk the point of these regions showing these things uniquely but no interaction</a:t>
            </a:r>
          </a:p>
          <a:p>
            <a:endParaRPr lang="en-US" dirty="0"/>
          </a:p>
          <a:p>
            <a:endParaRPr lang="en-US" dirty="0"/>
          </a:p>
          <a:p>
            <a:endParaRPr lang="en-US" dirty="0"/>
          </a:p>
          <a:p>
            <a:endParaRPr lang="en-US" dirty="0"/>
          </a:p>
          <a:p>
            <a:endParaRPr lang="en-US" dirty="0"/>
          </a:p>
          <a:p>
            <a:r>
              <a:rPr lang="en-US" dirty="0"/>
              <a:t>Need to rerun this with labels of Zinc – </a:t>
            </a:r>
            <a:r>
              <a:rPr lang="en-US" dirty="0" err="1"/>
              <a:t>Zcon</a:t>
            </a:r>
            <a:r>
              <a:rPr lang="en-US" dirty="0"/>
              <a:t> and </a:t>
            </a:r>
            <a:r>
              <a:rPr lang="en-US" dirty="0" err="1"/>
              <a:t>Zswitch</a:t>
            </a:r>
            <a:r>
              <a:rPr lang="en-US" dirty="0"/>
              <a:t> – </a:t>
            </a:r>
            <a:r>
              <a:rPr lang="en-US" dirty="0" err="1"/>
              <a:t>Zrepeat</a:t>
            </a:r>
            <a:r>
              <a:rPr lang="en-US" dirty="0"/>
              <a:t> Z(</a:t>
            </a:r>
            <a:r>
              <a:rPr lang="en-US" dirty="0" err="1"/>
              <a:t>inc</a:t>
            </a:r>
            <a:r>
              <a:rPr lang="en-US" dirty="0"/>
              <a:t>-con) and Z(switch- repeat)</a:t>
            </a:r>
          </a:p>
          <a:p>
            <a:endParaRPr lang="en-US" dirty="0"/>
          </a:p>
          <a:p>
            <a:r>
              <a:rPr lang="en-US" dirty="0"/>
              <a:t>And behavior can be RT (</a:t>
            </a:r>
            <a:r>
              <a:rPr lang="en-US" dirty="0" err="1"/>
              <a:t>inc</a:t>
            </a:r>
            <a:r>
              <a:rPr lang="en-US" dirty="0"/>
              <a:t>-con) and RT (switch – repeat)</a:t>
            </a:r>
          </a:p>
          <a:p>
            <a:endParaRPr lang="en-US" dirty="0"/>
          </a:p>
          <a:p>
            <a:r>
              <a:rPr lang="en-US" dirty="0"/>
              <a:t>Okay this needs to be prettier. Can expand these figures to be bigger I think. Instead of stacking them, maybe have them all in a row.</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75000"/>
                  </a:schemeClr>
                </a:solidFill>
                <a:latin typeface="Calibri" panose="020F0502020204030204" pitchFamily="34" charset="0"/>
                <a:ea typeface="Calibri" panose="020F0502020204030204" pitchFamily="34" charset="0"/>
                <a:cs typeface="Times New Roman" panose="02020603050405020304" pitchFamily="18" charset="0"/>
              </a:rPr>
              <a:t>We identified brain regions mediating cognitive flexibility (via the </a:t>
            </a:r>
            <a:r>
              <a:rPr lang="en-US" sz="1200" dirty="0" err="1">
                <a:solidFill>
                  <a:schemeClr val="accent1">
                    <a:lumMod val="75000"/>
                  </a:schemeClr>
                </a:solidFill>
                <a:latin typeface="Calibri" panose="020F0502020204030204" pitchFamily="34" charset="0"/>
                <a:ea typeface="Calibri" panose="020F0502020204030204" pitchFamily="34" charset="0"/>
                <a:cs typeface="Times New Roman" panose="02020603050405020304" pitchFamily="18" charset="0"/>
              </a:rPr>
              <a:t>Listwide</a:t>
            </a:r>
            <a:r>
              <a:rPr lang="en-US" sz="1200" dirty="0">
                <a:solidFill>
                  <a:schemeClr val="accent1">
                    <a:lumMod val="75000"/>
                  </a:schemeClr>
                </a:solidFill>
                <a:latin typeface="Calibri" panose="020F0502020204030204" pitchFamily="34" charset="0"/>
                <a:ea typeface="Calibri" panose="020F0502020204030204" pitchFamily="34" charset="0"/>
                <a:cs typeface="Times New Roman" panose="02020603050405020304" pitchFamily="18" charset="0"/>
              </a:rPr>
              <a:t> Proportion Switch Effect) and probed their response to concurrent stability demands</a:t>
            </a:r>
          </a:p>
          <a:p>
            <a:endParaRPr lang="en-US" dirty="0"/>
          </a:p>
          <a:p>
            <a:endParaRPr lang="en-US" dirty="0"/>
          </a:p>
          <a:p>
            <a:pPr marL="457200" indent="-457200">
              <a:spcAft>
                <a:spcPts val="1200"/>
              </a:spcAft>
              <a:buFont typeface="Arial" panose="020B0604020202020204" pitchFamily="34" charset="0"/>
              <a:buChar char="•"/>
            </a:pPr>
            <a:r>
              <a:rPr lang="en-US" sz="1200" dirty="0">
                <a:solidFill>
                  <a:schemeClr val="accent1">
                    <a:lumMod val="75000"/>
                  </a:schemeClr>
                </a:solidFill>
              </a:rPr>
              <a:t>ACC uniquely sensitive to flexibility demands, while </a:t>
            </a:r>
            <a:r>
              <a:rPr lang="en-US" sz="1200" dirty="0" err="1">
                <a:solidFill>
                  <a:schemeClr val="accent1">
                    <a:lumMod val="75000"/>
                  </a:schemeClr>
                </a:solidFill>
              </a:rPr>
              <a:t>vlPFC</a:t>
            </a:r>
            <a:r>
              <a:rPr lang="en-US" sz="1200" dirty="0">
                <a:solidFill>
                  <a:schemeClr val="accent1">
                    <a:lumMod val="75000"/>
                  </a:schemeClr>
                </a:solidFill>
              </a:rPr>
              <a:t> and </a:t>
            </a:r>
            <a:r>
              <a:rPr lang="en-US" sz="1200" dirty="0" err="1">
                <a:solidFill>
                  <a:schemeClr val="accent1">
                    <a:lumMod val="75000"/>
                  </a:schemeClr>
                </a:solidFill>
              </a:rPr>
              <a:t>dlPFC</a:t>
            </a:r>
            <a:r>
              <a:rPr lang="en-US" sz="1200" dirty="0">
                <a:solidFill>
                  <a:schemeClr val="accent1">
                    <a:lumMod val="75000"/>
                  </a:schemeClr>
                </a:solidFill>
              </a:rPr>
              <a:t> show sensitivity to both stability and flexibility demands</a:t>
            </a:r>
          </a:p>
          <a:p>
            <a:pPr marL="457200" indent="-457200">
              <a:spcAft>
                <a:spcPts val="1200"/>
              </a:spcAft>
              <a:buFont typeface="Arial" panose="020B0604020202020204" pitchFamily="34" charset="0"/>
              <a:buChar char="•"/>
            </a:pPr>
            <a:r>
              <a:rPr lang="en-US" sz="1200" dirty="0" err="1">
                <a:solidFill>
                  <a:schemeClr val="accent1">
                    <a:lumMod val="75000"/>
                  </a:schemeClr>
                </a:solidFill>
              </a:rPr>
              <a:t>vlPFC</a:t>
            </a:r>
            <a:r>
              <a:rPr lang="en-US" sz="1200" dirty="0">
                <a:solidFill>
                  <a:schemeClr val="accent1">
                    <a:lumMod val="75000"/>
                  </a:schemeClr>
                </a:solidFill>
              </a:rPr>
              <a:t>/</a:t>
            </a:r>
            <a:r>
              <a:rPr lang="en-US" sz="1200" dirty="0" err="1">
                <a:solidFill>
                  <a:schemeClr val="accent1">
                    <a:lumMod val="75000"/>
                  </a:schemeClr>
                </a:solidFill>
              </a:rPr>
              <a:t>dlPFC</a:t>
            </a:r>
            <a:r>
              <a:rPr lang="en-US" sz="1200" dirty="0">
                <a:solidFill>
                  <a:schemeClr val="accent1">
                    <a:lumMod val="75000"/>
                  </a:schemeClr>
                </a:solidFill>
              </a:rPr>
              <a:t> results confirm overlapping neural substrates for stability and flexibility but show independent regulation of these processes</a:t>
            </a:r>
          </a:p>
          <a:p>
            <a:pPr marL="457200" indent="-457200">
              <a:spcAft>
                <a:spcPts val="1200"/>
              </a:spcAft>
              <a:buFont typeface="Arial" panose="020B0604020202020204" pitchFamily="34" charset="0"/>
              <a:buChar char="•"/>
            </a:pPr>
            <a:r>
              <a:rPr lang="en-US" sz="1200" dirty="0">
                <a:solidFill>
                  <a:schemeClr val="accent1">
                    <a:lumMod val="75000"/>
                  </a:schemeClr>
                </a:solidFill>
              </a:rPr>
              <a:t>Absence of cross-domain effects suggests independence in how stability and flexibility are regulated </a:t>
            </a:r>
            <a:r>
              <a:rPr lang="en-US" sz="1200" dirty="0" err="1">
                <a:solidFill>
                  <a:schemeClr val="accent1">
                    <a:lumMod val="75000"/>
                  </a:schemeClr>
                </a:solidFill>
              </a:rPr>
              <a:t>neurally</a:t>
            </a:r>
            <a:r>
              <a:rPr lang="en-US" sz="1200" dirty="0">
                <a:solidFill>
                  <a:schemeClr val="accent1">
                    <a:lumMod val="75000"/>
                  </a:schemeClr>
                </a:solidFill>
              </a:rPr>
              <a:t>, mirroring behavior</a:t>
            </a:r>
          </a:p>
          <a:p>
            <a:pPr marL="457200" indent="-457200">
              <a:spcAft>
                <a:spcPts val="1200"/>
              </a:spcAft>
              <a:buFont typeface="Arial" panose="020B0604020202020204" pitchFamily="34" charset="0"/>
              <a:buChar char="•"/>
            </a:pPr>
            <a:r>
              <a:rPr lang="en-US" sz="1200" dirty="0">
                <a:solidFill>
                  <a:schemeClr val="accent1">
                    <a:lumMod val="75000"/>
                  </a:schemeClr>
                </a:solidFill>
              </a:rPr>
              <a:t>Our findings suggest cognitive stability and flexibility rely on partially dissociable neural pathways, with ACC specifically supporting flexibility while </a:t>
            </a:r>
            <a:r>
              <a:rPr lang="en-US" sz="1200" dirty="0" err="1">
                <a:solidFill>
                  <a:schemeClr val="accent1">
                    <a:lumMod val="75000"/>
                  </a:schemeClr>
                </a:solidFill>
              </a:rPr>
              <a:t>vlPFC</a:t>
            </a:r>
            <a:r>
              <a:rPr lang="en-US" sz="1200" dirty="0">
                <a:solidFill>
                  <a:schemeClr val="accent1">
                    <a:lumMod val="75000"/>
                  </a:schemeClr>
                </a:solidFill>
              </a:rPr>
              <a:t> and </a:t>
            </a:r>
            <a:r>
              <a:rPr lang="en-US" sz="1200" dirty="0" err="1">
                <a:solidFill>
                  <a:schemeClr val="accent1">
                    <a:lumMod val="75000"/>
                  </a:schemeClr>
                </a:solidFill>
              </a:rPr>
              <a:t>dlPFC</a:t>
            </a:r>
            <a:r>
              <a:rPr lang="en-US" sz="1200" dirty="0">
                <a:solidFill>
                  <a:schemeClr val="accent1">
                    <a:lumMod val="75000"/>
                  </a:schemeClr>
                </a:solidFill>
              </a:rPr>
              <a:t> seem to support both control processes.</a:t>
            </a:r>
          </a:p>
          <a:p>
            <a:pPr marL="457200" indent="-457200">
              <a:spcAft>
                <a:spcPts val="1200"/>
              </a:spcAft>
              <a:buFont typeface="Arial" panose="020B0604020202020204" pitchFamily="34" charset="0"/>
              <a:buChar char="•"/>
            </a:pPr>
            <a:r>
              <a:rPr lang="en-US" sz="1200" dirty="0">
                <a:solidFill>
                  <a:schemeClr val="accent1">
                    <a:lumMod val="75000"/>
                  </a:schemeClr>
                </a:solidFill>
              </a:rPr>
              <a:t>This functional specialization could help explain how the brain manages concurrent demands on task focus and task switching.</a:t>
            </a:r>
          </a:p>
          <a:p>
            <a:pPr marL="457200" indent="-457200">
              <a:spcAft>
                <a:spcPts val="1200"/>
              </a:spcAft>
              <a:buFont typeface="Arial" panose="020B0604020202020204" pitchFamily="34" charset="0"/>
              <a:buChar char="•"/>
            </a:pPr>
            <a:endParaRPr lang="en-US" sz="1200" dirty="0">
              <a:solidFill>
                <a:schemeClr val="accent1">
                  <a:lumMod val="75000"/>
                </a:schemeClr>
              </a:solidFill>
            </a:endParaRPr>
          </a:p>
          <a:p>
            <a:endParaRPr lang="en-US" dirty="0"/>
          </a:p>
        </p:txBody>
      </p:sp>
      <p:sp>
        <p:nvSpPr>
          <p:cNvPr id="4" name="Slide Number Placeholder 3">
            <a:extLst>
              <a:ext uri="{FF2B5EF4-FFF2-40B4-BE49-F238E27FC236}">
                <a16:creationId xmlns:a16="http://schemas.microsoft.com/office/drawing/2014/main" id="{46334151-7A13-D5D9-BD34-7468FFD5C291}"/>
              </a:ext>
            </a:extLst>
          </p:cNvPr>
          <p:cNvSpPr>
            <a:spLocks noGrp="1"/>
          </p:cNvSpPr>
          <p:nvPr>
            <p:ph type="sldNum" sz="quarter" idx="5"/>
          </p:nvPr>
        </p:nvSpPr>
        <p:spPr/>
        <p:txBody>
          <a:bodyPr/>
          <a:lstStyle/>
          <a:p>
            <a:fld id="{35723C0D-A671-FF46-996B-A5611795C643}" type="slidenum">
              <a:rPr lang="en-US" smtClean="0"/>
              <a:t>19</a:t>
            </a:fld>
            <a:endParaRPr lang="en-US"/>
          </a:p>
        </p:txBody>
      </p:sp>
    </p:spTree>
    <p:extLst>
      <p:ext uri="{BB962C8B-B14F-4D97-AF65-F5344CB8AC3E}">
        <p14:creationId xmlns:p14="http://schemas.microsoft.com/office/powerpoint/2010/main" val="38603069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93EAB-9A7E-21D3-8BDE-A76ADBC70A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298F07-1930-F48D-38A6-22FBE9CD2E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74D771-A933-5E5A-CB1E-98B63106D508}"/>
              </a:ext>
            </a:extLst>
          </p:cNvPr>
          <p:cNvSpPr>
            <a:spLocks noGrp="1"/>
          </p:cNvSpPr>
          <p:nvPr>
            <p:ph type="body" idx="1"/>
          </p:nvPr>
        </p:nvSpPr>
        <p:spPr/>
        <p:txBody>
          <a:bodyPr/>
          <a:lstStyle/>
          <a:p>
            <a:r>
              <a:rPr lang="en-US" dirty="0"/>
              <a:t>The next things I will do are look at if the information underlying my decoding results is shared between stability and flexibility, to further test if they are supported by shared or distinct neural substrates. I will also directly </a:t>
            </a:r>
          </a:p>
          <a:p>
            <a:endParaRPr lang="en-US" dirty="0"/>
          </a:p>
          <a:p>
            <a:endParaRPr lang="en-US" dirty="0"/>
          </a:p>
          <a:p>
            <a:endParaRPr lang="en-US" dirty="0"/>
          </a:p>
          <a:p>
            <a:r>
              <a:rPr lang="en-US" dirty="0"/>
              <a:t>Pretty pictures.</a:t>
            </a:r>
          </a:p>
          <a:p>
            <a:endParaRPr lang="en-US" dirty="0"/>
          </a:p>
          <a:p>
            <a:endParaRPr lang="en-US" dirty="0"/>
          </a:p>
          <a:p>
            <a:r>
              <a:rPr lang="en-US" dirty="0"/>
              <a:t>fMRI next steps with fMRI, </a:t>
            </a:r>
            <a:r>
              <a:rPr lang="en-US" dirty="0" err="1"/>
              <a:t>iEEG</a:t>
            </a:r>
            <a:r>
              <a:rPr lang="en-US" dirty="0"/>
              <a:t> next steps with </a:t>
            </a:r>
            <a:r>
              <a:rPr lang="en-US" dirty="0" err="1"/>
              <a:t>iEEG</a:t>
            </a:r>
            <a:r>
              <a:rPr lang="en-US" dirty="0"/>
              <a:t>. Explain more clearly is better. Clean this up, sell the future.</a:t>
            </a:r>
          </a:p>
          <a:p>
            <a:endParaRPr lang="en-US" dirty="0"/>
          </a:p>
          <a:p>
            <a:endParaRPr lang="en-US" dirty="0"/>
          </a:p>
          <a:p>
            <a:endParaRPr lang="en-US" dirty="0"/>
          </a:p>
          <a:p>
            <a:endParaRPr lang="en-US" dirty="0"/>
          </a:p>
          <a:p>
            <a:endParaRPr lang="en-US" dirty="0"/>
          </a:p>
          <a:p>
            <a:endParaRPr lang="en-US" dirty="0"/>
          </a:p>
          <a:p>
            <a:endParaRPr lang="en-US" dirty="0"/>
          </a:p>
          <a:p>
            <a:r>
              <a:rPr lang="en-US" dirty="0"/>
              <a:t>From </a:t>
            </a:r>
            <a:r>
              <a:rPr lang="en-US" dirty="0" err="1"/>
              <a:t>cns</a:t>
            </a:r>
            <a:r>
              <a:rPr lang="en-US" dirty="0"/>
              <a:t> 2025</a:t>
            </a:r>
          </a:p>
          <a:p>
            <a:pPr marL="457200" indent="-457200">
              <a:spcAft>
                <a:spcPts val="1200"/>
              </a:spcAft>
              <a:buFont typeface="Arial" panose="020B0604020202020204" pitchFamily="34" charset="0"/>
              <a:buChar char="•"/>
            </a:pPr>
            <a:r>
              <a:rPr lang="en-US" sz="1200" dirty="0">
                <a:solidFill>
                  <a:schemeClr val="accent1">
                    <a:lumMod val="75000"/>
                  </a:schemeClr>
                </a:solidFill>
              </a:rPr>
              <a:t>Future work should investigate connectivity patterns between regions and brain-behavior correlations</a:t>
            </a:r>
          </a:p>
          <a:p>
            <a:pPr marL="457200" indent="-457200">
              <a:spcAft>
                <a:spcPts val="1200"/>
              </a:spcAft>
              <a:buFont typeface="Arial" panose="020B0604020202020204" pitchFamily="34" charset="0"/>
              <a:buChar char="•"/>
            </a:pPr>
            <a:r>
              <a:rPr lang="en-US" sz="1200" dirty="0">
                <a:solidFill>
                  <a:schemeClr val="accent1">
                    <a:lumMod val="75000"/>
                  </a:schemeClr>
                </a:solidFill>
              </a:rPr>
              <a:t>Representational similarity analysis did not show significant multivariate patterns, potentially need alternative multivariate approaches (e.g., MVPA)</a:t>
            </a:r>
          </a:p>
          <a:p>
            <a:pPr marL="457200" indent="-457200">
              <a:spcAft>
                <a:spcPts val="1200"/>
              </a:spcAft>
              <a:buFont typeface="Arial" panose="020B0604020202020204" pitchFamily="34" charset="0"/>
              <a:buChar char="•"/>
            </a:pPr>
            <a:r>
              <a:rPr lang="en-US" sz="1200" dirty="0">
                <a:solidFill>
                  <a:schemeClr val="accent1">
                    <a:lumMod val="75000"/>
                  </a:schemeClr>
                </a:solidFill>
              </a:rPr>
              <a:t>Future work should disentangle the concurrent regulation of stability and flexibility in </a:t>
            </a:r>
            <a:r>
              <a:rPr lang="en-US" sz="1200" dirty="0" err="1">
                <a:solidFill>
                  <a:schemeClr val="accent1">
                    <a:lumMod val="75000"/>
                  </a:schemeClr>
                </a:solidFill>
              </a:rPr>
              <a:t>vlPFC</a:t>
            </a:r>
            <a:r>
              <a:rPr lang="en-US" sz="1200" dirty="0">
                <a:solidFill>
                  <a:schemeClr val="accent1">
                    <a:lumMod val="75000"/>
                  </a:schemeClr>
                </a:solidFill>
              </a:rPr>
              <a:t>/</a:t>
            </a:r>
            <a:r>
              <a:rPr lang="en-US" sz="1200" dirty="0" err="1">
                <a:solidFill>
                  <a:schemeClr val="accent1">
                    <a:lumMod val="75000"/>
                  </a:schemeClr>
                </a:solidFill>
              </a:rPr>
              <a:t>dlPFC</a:t>
            </a:r>
            <a:endParaRPr lang="en-US" sz="1200" dirty="0">
              <a:solidFill>
                <a:schemeClr val="accent1">
                  <a:lumMod val="75000"/>
                </a:schemeClr>
              </a:solidFill>
            </a:endParaRPr>
          </a:p>
          <a:p>
            <a:pPr marL="457200" indent="-457200">
              <a:spcAft>
                <a:spcPts val="1200"/>
              </a:spcAft>
              <a:buFont typeface="Arial" panose="020B0604020202020204" pitchFamily="34" charset="0"/>
              <a:buChar char="•"/>
            </a:pPr>
            <a:endParaRPr lang="en-US" sz="1200" dirty="0">
              <a:solidFill>
                <a:schemeClr val="accent1">
                  <a:lumMod val="75000"/>
                </a:schemeClr>
              </a:solidFill>
            </a:endParaRPr>
          </a:p>
          <a:p>
            <a:pPr marL="0" indent="0">
              <a:spcAft>
                <a:spcPts val="1200"/>
              </a:spcAft>
              <a:buFont typeface="Arial" panose="020B0604020202020204" pitchFamily="34" charset="0"/>
              <a:buNone/>
            </a:pPr>
            <a:r>
              <a:rPr lang="en-US" sz="1200" dirty="0">
                <a:solidFill>
                  <a:schemeClr val="accent1">
                    <a:lumMod val="75000"/>
                  </a:schemeClr>
                </a:solidFill>
              </a:rPr>
              <a:t>From </a:t>
            </a:r>
            <a:r>
              <a:rPr lang="en-US" sz="1200" dirty="0" err="1">
                <a:solidFill>
                  <a:schemeClr val="accent1">
                    <a:lumMod val="75000"/>
                  </a:schemeClr>
                </a:solidFill>
              </a:rPr>
              <a:t>sfn</a:t>
            </a:r>
            <a:r>
              <a:rPr lang="en-US" sz="1200" dirty="0">
                <a:solidFill>
                  <a:schemeClr val="accent1">
                    <a:lumMod val="75000"/>
                  </a:schemeClr>
                </a:solidFill>
              </a:rPr>
              <a:t> 2024</a:t>
            </a:r>
          </a:p>
          <a:p>
            <a:pPr marL="457200" indent="-457200">
              <a:spcAft>
                <a:spcPts val="1200"/>
              </a:spcAft>
              <a:buFont typeface="Arial" panose="020B0604020202020204" pitchFamily="34" charset="0"/>
              <a:buChar char="•"/>
            </a:pPr>
            <a:r>
              <a:rPr lang="en-US" sz="1200" dirty="0">
                <a:solidFill>
                  <a:schemeClr val="accent1">
                    <a:lumMod val="75000"/>
                  </a:schemeClr>
                </a:solidFill>
              </a:rPr>
              <a:t>We detected both congruency sensitive sites and switch type sensitive sites, and these sites were spatially interspersed.</a:t>
            </a:r>
          </a:p>
          <a:p>
            <a:pPr marL="457200" indent="-457200">
              <a:spcAft>
                <a:spcPts val="1200"/>
              </a:spcAft>
              <a:buFont typeface="Arial" panose="020B0604020202020204" pitchFamily="34" charset="0"/>
              <a:buChar char="•"/>
            </a:pPr>
            <a:r>
              <a:rPr lang="en-US" sz="1200" dirty="0">
                <a:solidFill>
                  <a:schemeClr val="accent1">
                    <a:lumMod val="75000"/>
                  </a:schemeClr>
                </a:solidFill>
              </a:rPr>
              <a:t>There are both distinct and overlapping/interactive effects of stability and flexibility detectable at the level of mesoscale neural recordings in LPFC.</a:t>
            </a:r>
          </a:p>
          <a:p>
            <a:pPr marL="457200" indent="-457200">
              <a:spcAft>
                <a:spcPts val="1200"/>
              </a:spcAft>
              <a:buFont typeface="Arial" panose="020B0604020202020204" pitchFamily="34" charset="0"/>
              <a:buChar char="•"/>
            </a:pPr>
            <a:r>
              <a:rPr lang="en-US" sz="1200" dirty="0">
                <a:solidFill>
                  <a:schemeClr val="accent1">
                    <a:lumMod val="75000"/>
                  </a:schemeClr>
                </a:solidFill>
              </a:rPr>
              <a:t>More demanding trial conditions (incongruent, switch) induced greater activity in LPFC electrodes sensitive to those conditions</a:t>
            </a:r>
          </a:p>
          <a:p>
            <a:pPr marL="457200" indent="-457200">
              <a:spcAft>
                <a:spcPts val="1200"/>
              </a:spcAft>
              <a:buFont typeface="Arial" panose="020B0604020202020204" pitchFamily="34" charset="0"/>
              <a:buChar char="•"/>
            </a:pPr>
            <a:r>
              <a:rPr lang="en-US" sz="1200" dirty="0">
                <a:solidFill>
                  <a:schemeClr val="accent1">
                    <a:lumMod val="75000"/>
                  </a:schemeClr>
                </a:solidFill>
              </a:rPr>
              <a:t>Future analyses will investigate how stability and flexibility are regulated through block proportion manipulations</a:t>
            </a:r>
          </a:p>
          <a:p>
            <a:pPr marL="457200" indent="-457200">
              <a:spcAft>
                <a:spcPts val="1200"/>
              </a:spcAft>
              <a:buFont typeface="Arial" panose="020B0604020202020204" pitchFamily="34" charset="0"/>
              <a:buChar char="•"/>
            </a:pPr>
            <a:r>
              <a:rPr lang="en-US" sz="1200" dirty="0">
                <a:solidFill>
                  <a:schemeClr val="accent1">
                    <a:lumMod val="75000"/>
                  </a:schemeClr>
                </a:solidFill>
              </a:rPr>
              <a:t>Future work will also investigate the temporal differences between conditions</a:t>
            </a:r>
          </a:p>
          <a:p>
            <a:pPr>
              <a:spcAft>
                <a:spcPts val="1200"/>
              </a:spcAft>
            </a:pPr>
            <a:endParaRPr lang="en-US" sz="1200" dirty="0">
              <a:solidFill>
                <a:schemeClr val="accent1">
                  <a:lumMod val="75000"/>
                </a:schemeClr>
              </a:solidFill>
            </a:endParaRPr>
          </a:p>
          <a:p>
            <a:pPr marL="0" indent="0">
              <a:spcAft>
                <a:spcPts val="1200"/>
              </a:spcAft>
              <a:buFont typeface="Arial" panose="020B0604020202020204" pitchFamily="34" charset="0"/>
              <a:buNone/>
            </a:pPr>
            <a:endParaRPr lang="en-US" sz="1200" dirty="0">
              <a:solidFill>
                <a:schemeClr val="accent1">
                  <a:lumMod val="75000"/>
                </a:schemeClr>
              </a:solidFill>
            </a:endParaRPr>
          </a:p>
          <a:p>
            <a:pPr marL="457200" indent="-457200">
              <a:spcAft>
                <a:spcPts val="1200"/>
              </a:spcAft>
              <a:buFont typeface="Arial" panose="020B0604020202020204" pitchFamily="34" charset="0"/>
              <a:buChar char="•"/>
            </a:pPr>
            <a:endParaRPr lang="en-US" sz="1200" dirty="0">
              <a:solidFill>
                <a:schemeClr val="accent1">
                  <a:lumMod val="75000"/>
                </a:schemeClr>
              </a:solidFill>
            </a:endParaRPr>
          </a:p>
          <a:p>
            <a:endParaRPr lang="en-US" dirty="0"/>
          </a:p>
          <a:p>
            <a:endParaRPr lang="en-US" dirty="0"/>
          </a:p>
          <a:p>
            <a:r>
              <a:rPr lang="en-US" dirty="0"/>
              <a:t>No this sucks fix this.</a:t>
            </a:r>
          </a:p>
          <a:p>
            <a:endParaRPr lang="en-US" dirty="0"/>
          </a:p>
          <a:p>
            <a:r>
              <a:rPr lang="en-US" dirty="0"/>
              <a:t>So, there is a vast ocean of of neural analyses we could do next, but we’ve started by first creating general linear models with our fMRI data to find activation differences between our main effects, so incongruent vs. congruent trials, as well as switch vs. repeat trials. Then, we’ll also look at interaction effects, such as the differences between the switch costs in high and low switch proportion blocks, and the congruency effects in high and low congruency proportion blocks.</a:t>
            </a:r>
          </a:p>
          <a:p>
            <a:endParaRPr lang="en-US" dirty="0"/>
          </a:p>
          <a:p>
            <a:r>
              <a:rPr lang="en-US" dirty="0"/>
              <a:t>On the </a:t>
            </a:r>
            <a:r>
              <a:rPr lang="en-US" dirty="0" err="1"/>
              <a:t>iEEG</a:t>
            </a:r>
            <a:r>
              <a:rPr lang="en-US" dirty="0"/>
              <a:t> side, we’re currently looking at our </a:t>
            </a:r>
            <a:r>
              <a:rPr lang="en-US" dirty="0" err="1"/>
              <a:t>iEEG</a:t>
            </a:r>
            <a:r>
              <a:rPr lang="en-US" dirty="0"/>
              <a:t> data to determine the within-trial timing differences between our different conditions, such as when incongruent and congruent stimuli can be differentiated.</a:t>
            </a:r>
          </a:p>
          <a:p>
            <a:endParaRPr lang="en-US" dirty="0"/>
          </a:p>
          <a:p>
            <a:r>
              <a:rPr lang="en-US" dirty="0"/>
              <a:t>To compare across both methods, we’ll conduct representational similarity analyses in which we’ll make matrices of how dissimilar the activity caused by each of our trial types are.</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Generalizability of decoders - (train on switch/repeat, test on incongruent/congruent)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b="1" strike="noStrike" dirty="0">
              <a:effectLst/>
            </a:endParaRPr>
          </a:p>
          <a:p>
            <a:endParaRPr lang="en-US" b="1" strike="noStrike" dirty="0">
              <a:effectLst/>
            </a:endParaRPr>
          </a:p>
          <a:p>
            <a:endParaRPr lang="en-US" b="1" strike="noStrike" dirty="0">
              <a:effectLst/>
            </a:endParaRPr>
          </a:p>
          <a:p>
            <a:endParaRPr lang="en-US" b="1" strike="noStrike" dirty="0">
              <a:effectLst/>
            </a:endParaRPr>
          </a:p>
          <a:p>
            <a:endParaRPr lang="en-US" b="1" strike="noStrike" dirty="0">
              <a:effectLst/>
            </a:endParaRPr>
          </a:p>
          <a:p>
            <a:endParaRPr lang="en-US" b="1" strike="noStrike" dirty="0"/>
          </a:p>
        </p:txBody>
      </p:sp>
      <p:sp>
        <p:nvSpPr>
          <p:cNvPr id="4" name="Slide Number Placeholder 3">
            <a:extLst>
              <a:ext uri="{FF2B5EF4-FFF2-40B4-BE49-F238E27FC236}">
                <a16:creationId xmlns:a16="http://schemas.microsoft.com/office/drawing/2014/main" id="{F0FA2A9B-3A00-0174-F6C8-711B62CB41C1}"/>
              </a:ext>
            </a:extLst>
          </p:cNvPr>
          <p:cNvSpPr>
            <a:spLocks noGrp="1"/>
          </p:cNvSpPr>
          <p:nvPr>
            <p:ph type="sldNum" sz="quarter" idx="5"/>
          </p:nvPr>
        </p:nvSpPr>
        <p:spPr/>
        <p:txBody>
          <a:bodyPr/>
          <a:lstStyle/>
          <a:p>
            <a:fld id="{35723C0D-A671-FF46-996B-A5611795C643}" type="slidenum">
              <a:rPr lang="en-US" smtClean="0"/>
              <a:t>20</a:t>
            </a:fld>
            <a:endParaRPr lang="en-US"/>
          </a:p>
        </p:txBody>
      </p:sp>
    </p:spTree>
    <p:extLst>
      <p:ext uri="{BB962C8B-B14F-4D97-AF65-F5344CB8AC3E}">
        <p14:creationId xmlns:p14="http://schemas.microsoft.com/office/powerpoint/2010/main" val="31498372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behavioral effects are replicated in our </a:t>
            </a:r>
            <a:r>
              <a:rPr lang="en-US" dirty="0" err="1"/>
              <a:t>iEEG</a:t>
            </a:r>
            <a:r>
              <a:rPr lang="en-US" dirty="0"/>
              <a:t> patients.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Our behavioral results support our hypotheses. In our </a:t>
            </a:r>
            <a:r>
              <a:rPr lang="en-US" dirty="0" err="1"/>
              <a:t>iEEG</a:t>
            </a:r>
            <a:r>
              <a:rPr lang="en-US" dirty="0"/>
              <a:t> patients, demands on stability via varying the incongruent proportion only affect the size of the congruency effect and not the switch cost, and demands on flexibility via varying the switch proportion only affect the size of the switch cost and not the congruency effect. Thus, people seem to independently adapt how stable and flexible they are.</a:t>
            </a:r>
          </a:p>
          <a:p>
            <a:endParaRPr lang="en-US" dirty="0"/>
          </a:p>
          <a:p>
            <a:endParaRPr lang="en-US" dirty="0"/>
          </a:p>
          <a:p>
            <a:r>
              <a:rPr lang="en-US" dirty="0"/>
              <a:t>UPDATE THIS FIGURE. NEED TO ADAPT THE IEEG BEHAVIORAL CODE TO GET THE NEW RESULTS LIKE FMRI.</a:t>
            </a:r>
          </a:p>
          <a:p>
            <a:endParaRPr lang="en-US" dirty="0"/>
          </a:p>
          <a:p>
            <a:r>
              <a:rPr lang="en-US" dirty="0"/>
              <a:t>And similarly, we are still collecting intracranial EEG data but these preliminary behavioral results also show the same trends as our </a:t>
            </a:r>
            <a:r>
              <a:rPr lang="en-US" dirty="0" err="1"/>
              <a:t>fmri</a:t>
            </a:r>
            <a:r>
              <a:rPr lang="en-US" dirty="0"/>
              <a:t> data. </a:t>
            </a:r>
          </a:p>
          <a:p>
            <a:endParaRPr lang="en-US" dirty="0"/>
          </a:p>
        </p:txBody>
      </p:sp>
      <p:sp>
        <p:nvSpPr>
          <p:cNvPr id="4" name="Slide Number Placeholder 3"/>
          <p:cNvSpPr>
            <a:spLocks noGrp="1"/>
          </p:cNvSpPr>
          <p:nvPr>
            <p:ph type="sldNum" sz="quarter" idx="5"/>
          </p:nvPr>
        </p:nvSpPr>
        <p:spPr/>
        <p:txBody>
          <a:bodyPr/>
          <a:lstStyle/>
          <a:p>
            <a:fld id="{35723C0D-A671-FF46-996B-A5611795C643}" type="slidenum">
              <a:rPr lang="en-US" smtClean="0"/>
              <a:t>21</a:t>
            </a:fld>
            <a:endParaRPr lang="en-US"/>
          </a:p>
        </p:txBody>
      </p:sp>
    </p:spTree>
    <p:extLst>
      <p:ext uri="{BB962C8B-B14F-4D97-AF65-F5344CB8AC3E}">
        <p14:creationId xmlns:p14="http://schemas.microsoft.com/office/powerpoint/2010/main" val="15173546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to zoom more closely into the lateral prefrontal cortex, we utilize intracranial EEG, which has increased signal quality, as well as spatial and temporal resolution, compared to fMRI. Here are some stereo EEG electrodes shown implanted inside the brain.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our intracranial analyses, we focus on the high gamma frequency band (70-150 Hz), which has been shown to reflect population level spiking activity. Here is an example electrode with a burst in high gamma power after stimulus onset.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While we’ve learned a lot about cognitive stability and flexibility from these macroscale methods, both neuroimaging and scalp EEG have signal to noise ratio limitations, have low spatial and/or temporal resolution, and are limited in the conclusions they can draw about neuronal sources and oscillatory mechanisms. Thus, these methods leave lots of unanswered questions regarding how the brain implements and adjusts these processes. Human intracranial EEG thus offers an approach to resolve these issues, as it has high signal quality, high spatial and temporal resolution, and is done directly in human patients. This lets us study neural mechanisms that human macroscale methods and animal studies can’t directly address, such as oscillatory dynamics within and between brain regions. Therefore, for this presentation, I’ll focus on questions regarding how oscillatory mechanisms support these processes.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75000"/>
                </a:schemeClr>
              </a:solidFill>
              <a:latin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75000"/>
                </a:schemeClr>
              </a:solidFill>
              <a:latin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75000"/>
                  </a:schemeClr>
                </a:solidFill>
                <a:latin typeface="Calibri" panose="020F0502020204030204" pitchFamily="34" charset="0"/>
                <a:cs typeface="Times New Roman" panose="02020603050405020304" pitchFamily="18" charset="0"/>
              </a:rPr>
              <a:t>Here’s an example electrode showing HG power, which reflects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75000"/>
                </a:schemeClr>
              </a:solidFill>
              <a:latin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75000"/>
                </a:schemeClr>
              </a:solidFill>
              <a:latin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75000"/>
                  </a:schemeClr>
                </a:solidFill>
                <a:latin typeface="Calibri" panose="020F0502020204030204" pitchFamily="34" charset="0"/>
                <a:cs typeface="Times New Roman" panose="02020603050405020304" pitchFamily="18" charset="0"/>
              </a:rPr>
              <a:t>population level spiking activity.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75000"/>
                  </a:schemeClr>
                </a:solidFill>
                <a:latin typeface="Calibri" panose="020F0502020204030204" pitchFamily="34" charset="0"/>
                <a:cs typeface="Times New Roman" panose="02020603050405020304" pitchFamily="18" charset="0"/>
              </a:rPr>
              <a:t>High gamma (70-150 Hz) power extracted 0.5s before stimulus onset to 1s after</a:t>
            </a:r>
            <a:r>
              <a:rPr lang="en-US" sz="1200" baseline="30000" dirty="0">
                <a:solidFill>
                  <a:schemeClr val="accent1">
                    <a:lumMod val="75000"/>
                  </a:schemeClr>
                </a:solidFill>
                <a:latin typeface="Calibri" panose="020F0502020204030204" pitchFamily="34" charset="0"/>
                <a:cs typeface="Times New Roman" panose="02020603050405020304" pitchFamily="18" charset="0"/>
              </a:rPr>
              <a:t>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aseline="30000" dirty="0">
              <a:solidFill>
                <a:schemeClr val="accent1">
                  <a:lumMod val="75000"/>
                </a:schemeClr>
              </a:solidFill>
              <a:latin typeface="Calibri" panose="020F0502020204030204" pitchFamily="34" charset="0"/>
              <a:cs typeface="Times New Roman" panose="02020603050405020304" pitchFamily="18" charset="0"/>
            </a:endParaRPr>
          </a:p>
          <a:p>
            <a:pPr marL="342900" indent="-342900">
              <a:spcAft>
                <a:spcPts val="1200"/>
              </a:spcAft>
              <a:buFont typeface="Arial" panose="020B0604020202020204" pitchFamily="34" charset="0"/>
              <a:buChar char="•"/>
            </a:pPr>
            <a:r>
              <a:rPr lang="en-US" sz="1200" dirty="0">
                <a:solidFill>
                  <a:schemeClr val="accent1">
                    <a:lumMod val="75000"/>
                  </a:schemeClr>
                </a:solidFill>
                <a:latin typeface="Calibri" panose="020F0502020204030204" pitchFamily="34" charset="0"/>
                <a:cs typeface="Times New Roman" panose="02020603050405020304" pitchFamily="18" charset="0"/>
              </a:rPr>
              <a:t>To determine task-sensitive electrodes, cluster-</a:t>
            </a:r>
            <a:r>
              <a:rPr lang="en-US" sz="1200" dirty="0" err="1">
                <a:solidFill>
                  <a:schemeClr val="accent1">
                    <a:lumMod val="75000"/>
                  </a:schemeClr>
                </a:solidFill>
                <a:latin typeface="Calibri" panose="020F0502020204030204" pitchFamily="34" charset="0"/>
                <a:cs typeface="Times New Roman" panose="02020603050405020304" pitchFamily="18" charset="0"/>
              </a:rPr>
              <a:t>thresholded</a:t>
            </a:r>
            <a:r>
              <a:rPr lang="en-US" sz="1200" dirty="0">
                <a:solidFill>
                  <a:schemeClr val="accent1">
                    <a:lumMod val="75000"/>
                  </a:schemeClr>
                </a:solidFill>
                <a:latin typeface="Calibri" panose="020F0502020204030204" pitchFamily="34" charset="0"/>
                <a:cs typeface="Times New Roman" panose="02020603050405020304" pitchFamily="18" charset="0"/>
              </a:rPr>
              <a:t> permutation tests done at each time-point, comparing signal and pre-stimulus baseline</a:t>
            </a:r>
          </a:p>
          <a:p>
            <a:pPr marL="342900" indent="-342900">
              <a:spcAft>
                <a:spcPts val="1200"/>
              </a:spcAft>
              <a:buFont typeface="Arial" panose="020B0604020202020204" pitchFamily="34" charset="0"/>
              <a:buChar char="•"/>
            </a:pPr>
            <a:r>
              <a:rPr lang="en-US" sz="1200" dirty="0">
                <a:solidFill>
                  <a:schemeClr val="accent1">
                    <a:lumMod val="75000"/>
                  </a:schemeClr>
                </a:solidFill>
                <a:latin typeface="Calibri" panose="020F0502020204030204" pitchFamily="34" charset="0"/>
                <a:cs typeface="Times New Roman" panose="02020603050405020304" pitchFamily="18" charset="0"/>
              </a:rPr>
              <a:t>Baseline-normalized (z-scored) signals windowed from 0 to 0.5s, 0.5 to 1s. Significant differences between conditions determined using ANOVA.</a:t>
            </a:r>
          </a:p>
          <a:p>
            <a:pPr marL="342900" indent="-342900">
              <a:spcAft>
                <a:spcPts val="1200"/>
              </a:spcAft>
              <a:buFont typeface="Arial" panose="020B0604020202020204" pitchFamily="34" charset="0"/>
              <a:buChar char="•"/>
            </a:pPr>
            <a:r>
              <a:rPr lang="en-US" sz="1200" dirty="0">
                <a:solidFill>
                  <a:schemeClr val="accent1">
                    <a:lumMod val="75000"/>
                  </a:schemeClr>
                </a:solidFill>
                <a:latin typeface="Calibri" panose="020F0502020204030204" pitchFamily="34" charset="0"/>
                <a:cs typeface="Times New Roman" panose="02020603050405020304" pitchFamily="18" charset="0"/>
              </a:rPr>
              <a:t>LPFC defined based on </a:t>
            </a:r>
            <a:r>
              <a:rPr lang="en-US" sz="1200" dirty="0" err="1">
                <a:solidFill>
                  <a:schemeClr val="accent1">
                    <a:lumMod val="75000"/>
                  </a:schemeClr>
                </a:solidFill>
                <a:latin typeface="Calibri" panose="020F0502020204030204" pitchFamily="34" charset="0"/>
                <a:cs typeface="Times New Roman" panose="02020603050405020304" pitchFamily="18" charset="0"/>
              </a:rPr>
              <a:t>Destrieux</a:t>
            </a:r>
            <a:r>
              <a:rPr lang="en-US" sz="1200" dirty="0">
                <a:solidFill>
                  <a:schemeClr val="accent1">
                    <a:lumMod val="75000"/>
                  </a:schemeClr>
                </a:solidFill>
                <a:latin typeface="Calibri" panose="020F0502020204030204" pitchFamily="34" charset="0"/>
                <a:cs typeface="Times New Roman" panose="02020603050405020304" pitchFamily="18" charset="0"/>
              </a:rPr>
              <a:t> atlas</a:t>
            </a:r>
            <a:r>
              <a:rPr lang="en-US" sz="1200" baseline="30000" dirty="0">
                <a:solidFill>
                  <a:schemeClr val="accent1">
                    <a:lumMod val="75000"/>
                  </a:schemeClr>
                </a:solidFill>
                <a:latin typeface="Calibri" panose="020F0502020204030204" pitchFamily="34" charset="0"/>
                <a:cs typeface="Times New Roman" panose="02020603050405020304" pitchFamily="18" charset="0"/>
              </a:rPr>
              <a:t>6</a:t>
            </a:r>
          </a:p>
          <a:p>
            <a:pPr marL="342900" indent="-342900">
              <a:spcAft>
                <a:spcPts val="1200"/>
              </a:spcAft>
              <a:buFont typeface="Arial" panose="020B0604020202020204" pitchFamily="34" charset="0"/>
              <a:buChar char="•"/>
            </a:pPr>
            <a:endParaRPr lang="en-US" sz="1200" baseline="30000" dirty="0">
              <a:solidFill>
                <a:schemeClr val="accent1">
                  <a:lumMod val="75000"/>
                </a:schemeClr>
              </a:solidFill>
              <a:latin typeface="Calibri" panose="020F0502020204030204" pitchFamily="34" charset="0"/>
              <a:cs typeface="Times New Roman" panose="02020603050405020304" pitchFamily="18" charset="0"/>
            </a:endParaRPr>
          </a:p>
          <a:p>
            <a:pPr marL="342900" indent="-342900">
              <a:spcAft>
                <a:spcPts val="1200"/>
              </a:spcAft>
              <a:buFont typeface="Arial" panose="020B0604020202020204" pitchFamily="34" charset="0"/>
              <a:buChar char="•"/>
            </a:pPr>
            <a:endParaRPr lang="en-US" sz="1200" baseline="30000" dirty="0">
              <a:solidFill>
                <a:schemeClr val="accent1">
                  <a:lumMod val="75000"/>
                </a:schemeClr>
              </a:solidFill>
              <a:latin typeface="Calibri" panose="020F0502020204030204" pitchFamily="34" charset="0"/>
              <a:cs typeface="Times New Roman" panose="02020603050405020304" pitchFamily="18" charset="0"/>
            </a:endParaRPr>
          </a:p>
          <a:p>
            <a:pPr marL="342900" indent="-342900">
              <a:spcAft>
                <a:spcPts val="1200"/>
              </a:spcAft>
              <a:buFont typeface="Arial" panose="020B0604020202020204" pitchFamily="34" charset="0"/>
              <a:buChar char="•"/>
            </a:pPr>
            <a:endParaRPr lang="en-US" sz="1200" baseline="30000" dirty="0">
              <a:solidFill>
                <a:schemeClr val="accent1">
                  <a:lumMod val="75000"/>
                </a:schemeClr>
              </a:solidFill>
              <a:latin typeface="Calibri" panose="020F0502020204030204" pitchFamily="34" charset="0"/>
              <a:cs typeface="Times New Roman" panose="02020603050405020304" pitchFamily="18" charset="0"/>
            </a:endParaRPr>
          </a:p>
          <a:p>
            <a:pPr marL="342900" indent="-342900">
              <a:spcAft>
                <a:spcPts val="1200"/>
              </a:spcAft>
              <a:buFont typeface="Arial" panose="020B0604020202020204" pitchFamily="34" charset="0"/>
              <a:buChar char="•"/>
            </a:pPr>
            <a:r>
              <a:rPr lang="en-US" sz="1200" baseline="30000" dirty="0">
                <a:solidFill>
                  <a:schemeClr val="accent1">
                    <a:lumMod val="75000"/>
                  </a:schemeClr>
                </a:solidFill>
                <a:latin typeface="Calibri" panose="020F0502020204030204" pitchFamily="34" charset="0"/>
                <a:cs typeface="Times New Roman" panose="02020603050405020304" pitchFamily="18" charset="0"/>
              </a:rPr>
              <a:t>use a figure with the scalp</a:t>
            </a:r>
          </a:p>
          <a:p>
            <a:endParaRPr lang="en-US" dirty="0"/>
          </a:p>
        </p:txBody>
      </p:sp>
      <p:sp>
        <p:nvSpPr>
          <p:cNvPr id="4" name="Slide Number Placeholder 3"/>
          <p:cNvSpPr>
            <a:spLocks noGrp="1"/>
          </p:cNvSpPr>
          <p:nvPr>
            <p:ph type="sldNum" sz="quarter" idx="5"/>
          </p:nvPr>
        </p:nvSpPr>
        <p:spPr/>
        <p:txBody>
          <a:bodyPr/>
          <a:lstStyle/>
          <a:p>
            <a:fld id="{35723C0D-A671-FF46-996B-A5611795C643}" type="slidenum">
              <a:rPr lang="en-US" smtClean="0"/>
              <a:t>22</a:t>
            </a:fld>
            <a:endParaRPr lang="en-US"/>
          </a:p>
        </p:txBody>
      </p:sp>
    </p:spTree>
    <p:extLst>
      <p:ext uri="{BB962C8B-B14F-4D97-AF65-F5344CB8AC3E}">
        <p14:creationId xmlns:p14="http://schemas.microsoft.com/office/powerpoint/2010/main" val="14177746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A3BE6-E699-F7A1-7670-1CE5015BB1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CEC97B-2B39-B4D6-5931-59DF50364D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43D24A-3ECF-0C3F-3936-CA01FC7FF3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to zoom more closely into the lateral prefrontal cortex, we utilize intracranial EEG, which has increased signal quality, as well as spatial and temporal resolution, compared to fMRI. Here are some stereo EEG electrodes shown implanted inside the brain.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our intracranial analyses, we focus on the high gamma frequency band (70-150 Hz), which has been shown to reflect population level spiking activity. Here is an example electrode with a burst in high gamma power after stimulus onset.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motivate this more - no temporal component. Nice to isolate spatial and temporal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fmri</a:t>
            </a:r>
            <a:r>
              <a:rPr lang="en-US" dirty="0"/>
              <a:t> behavior, </a:t>
            </a:r>
            <a:r>
              <a:rPr lang="en-US" dirty="0" err="1"/>
              <a:t>fmri</a:t>
            </a:r>
            <a:r>
              <a:rPr lang="en-US" dirty="0"/>
              <a:t> results, then </a:t>
            </a:r>
            <a:r>
              <a:rPr lang="en-US" dirty="0" err="1"/>
              <a:t>ieeg</a:t>
            </a:r>
            <a:r>
              <a:rPr lang="en-US" dirty="0"/>
              <a:t> behavior, then </a:t>
            </a:r>
            <a:r>
              <a:rPr lang="en-US" dirty="0" err="1"/>
              <a:t>ieeg</a:t>
            </a:r>
            <a:r>
              <a:rPr lang="en-US" dirty="0"/>
              <a:t> results (mention these are patients where the medication for epilepsy doesn't work, why we have access to brain through epilepsy monitoring)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big up - replicate behavior so we can treat them the same way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separate behavior from </a:t>
            </a:r>
            <a:r>
              <a:rPr lang="en-US" dirty="0" err="1"/>
              <a:t>fmri</a:t>
            </a:r>
            <a:r>
              <a:rPr lang="en-US" dirty="0"/>
              <a:t> and </a:t>
            </a:r>
            <a:r>
              <a:rPr lang="en-US" dirty="0" err="1"/>
              <a:t>ieeg</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sell this more - sell what </a:t>
            </a:r>
            <a:r>
              <a:rPr lang="en-US" dirty="0" err="1"/>
              <a:t>i</a:t>
            </a:r>
            <a:r>
              <a:rPr lang="en-US" dirty="0"/>
              <a:t> have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While we’ve learned a lot about cognitive stability and flexibility from these macroscale methods, both neuroimaging and scalp EEG have signal to noise ratio limitations, have low spatial and/or temporal resolution, and are limited in the conclusions they can draw about neuronal sources and oscillatory mechanisms. Thus, these methods leave lots of unanswered questions regarding how the brain implements and adjusts these processes. Human intracranial EEG thus offers an approach to resolve these issues, as it has high signal quality, high spatial and temporal resolution, and is done directly in human patients. This lets us study neural mechanisms that human macroscale methods and animal studies can’t directly address, such as oscillatory dynamics within and between brain regions. Therefore, for this presentation, I’ll focus on questions regarding how oscillatory mechanisms support these processes.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75000"/>
                </a:schemeClr>
              </a:solidFill>
              <a:latin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75000"/>
                </a:schemeClr>
              </a:solidFill>
              <a:latin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75000"/>
                  </a:schemeClr>
                </a:solidFill>
                <a:latin typeface="Calibri" panose="020F0502020204030204" pitchFamily="34" charset="0"/>
                <a:cs typeface="Times New Roman" panose="02020603050405020304" pitchFamily="18" charset="0"/>
              </a:rPr>
              <a:t>Here’s an example electrode showing HG power, which reflects population level spiking activity.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75000"/>
                  </a:schemeClr>
                </a:solidFill>
                <a:latin typeface="Calibri" panose="020F0502020204030204" pitchFamily="34" charset="0"/>
                <a:cs typeface="Times New Roman" panose="02020603050405020304" pitchFamily="18" charset="0"/>
              </a:rPr>
              <a:t>High gamma (70-150 Hz) power extracted 0.5s before stimulus onset to 1s after</a:t>
            </a:r>
            <a:r>
              <a:rPr lang="en-US" sz="1200" baseline="30000" dirty="0">
                <a:solidFill>
                  <a:schemeClr val="accent1">
                    <a:lumMod val="75000"/>
                  </a:schemeClr>
                </a:solidFill>
                <a:latin typeface="Calibri" panose="020F0502020204030204" pitchFamily="34" charset="0"/>
                <a:cs typeface="Times New Roman" panose="02020603050405020304" pitchFamily="18" charset="0"/>
              </a:rPr>
              <a:t>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aseline="30000" dirty="0">
              <a:solidFill>
                <a:schemeClr val="accent1">
                  <a:lumMod val="75000"/>
                </a:schemeClr>
              </a:solidFill>
              <a:latin typeface="Calibri" panose="020F0502020204030204" pitchFamily="34" charset="0"/>
              <a:cs typeface="Times New Roman" panose="02020603050405020304" pitchFamily="18" charset="0"/>
            </a:endParaRPr>
          </a:p>
          <a:p>
            <a:pPr marL="342900" indent="-342900">
              <a:spcAft>
                <a:spcPts val="1200"/>
              </a:spcAft>
              <a:buFont typeface="Arial" panose="020B0604020202020204" pitchFamily="34" charset="0"/>
              <a:buChar char="•"/>
            </a:pPr>
            <a:r>
              <a:rPr lang="en-US" sz="1200" dirty="0">
                <a:solidFill>
                  <a:schemeClr val="accent1">
                    <a:lumMod val="75000"/>
                  </a:schemeClr>
                </a:solidFill>
                <a:latin typeface="Calibri" panose="020F0502020204030204" pitchFamily="34" charset="0"/>
                <a:cs typeface="Times New Roman" panose="02020603050405020304" pitchFamily="18" charset="0"/>
              </a:rPr>
              <a:t>To determine task-sensitive electrodes, cluster-</a:t>
            </a:r>
            <a:r>
              <a:rPr lang="en-US" sz="1200" dirty="0" err="1">
                <a:solidFill>
                  <a:schemeClr val="accent1">
                    <a:lumMod val="75000"/>
                  </a:schemeClr>
                </a:solidFill>
                <a:latin typeface="Calibri" panose="020F0502020204030204" pitchFamily="34" charset="0"/>
                <a:cs typeface="Times New Roman" panose="02020603050405020304" pitchFamily="18" charset="0"/>
              </a:rPr>
              <a:t>thresholded</a:t>
            </a:r>
            <a:r>
              <a:rPr lang="en-US" sz="1200" dirty="0">
                <a:solidFill>
                  <a:schemeClr val="accent1">
                    <a:lumMod val="75000"/>
                  </a:schemeClr>
                </a:solidFill>
                <a:latin typeface="Calibri" panose="020F0502020204030204" pitchFamily="34" charset="0"/>
                <a:cs typeface="Times New Roman" panose="02020603050405020304" pitchFamily="18" charset="0"/>
              </a:rPr>
              <a:t> permutation tests done at each time-point, comparing signal and pre-stimulus baseline</a:t>
            </a:r>
          </a:p>
          <a:p>
            <a:pPr marL="342900" indent="-342900">
              <a:spcAft>
                <a:spcPts val="1200"/>
              </a:spcAft>
              <a:buFont typeface="Arial" panose="020B0604020202020204" pitchFamily="34" charset="0"/>
              <a:buChar char="•"/>
            </a:pPr>
            <a:r>
              <a:rPr lang="en-US" sz="1200" dirty="0">
                <a:solidFill>
                  <a:schemeClr val="accent1">
                    <a:lumMod val="75000"/>
                  </a:schemeClr>
                </a:solidFill>
                <a:latin typeface="Calibri" panose="020F0502020204030204" pitchFamily="34" charset="0"/>
                <a:cs typeface="Times New Roman" panose="02020603050405020304" pitchFamily="18" charset="0"/>
              </a:rPr>
              <a:t>Baseline-normalized (z-scored) signals windowed from 0 to 0.5s, 0.5 to 1s. Significant differences between conditions determined using ANOVA.</a:t>
            </a:r>
          </a:p>
          <a:p>
            <a:pPr marL="342900" indent="-342900">
              <a:spcAft>
                <a:spcPts val="1200"/>
              </a:spcAft>
              <a:buFont typeface="Arial" panose="020B0604020202020204" pitchFamily="34" charset="0"/>
              <a:buChar char="•"/>
            </a:pPr>
            <a:r>
              <a:rPr lang="en-US" sz="1200" dirty="0">
                <a:solidFill>
                  <a:schemeClr val="accent1">
                    <a:lumMod val="75000"/>
                  </a:schemeClr>
                </a:solidFill>
                <a:latin typeface="Calibri" panose="020F0502020204030204" pitchFamily="34" charset="0"/>
                <a:cs typeface="Times New Roman" panose="02020603050405020304" pitchFamily="18" charset="0"/>
              </a:rPr>
              <a:t>LPFC defined based on </a:t>
            </a:r>
            <a:r>
              <a:rPr lang="en-US" sz="1200" dirty="0" err="1">
                <a:solidFill>
                  <a:schemeClr val="accent1">
                    <a:lumMod val="75000"/>
                  </a:schemeClr>
                </a:solidFill>
                <a:latin typeface="Calibri" panose="020F0502020204030204" pitchFamily="34" charset="0"/>
                <a:cs typeface="Times New Roman" panose="02020603050405020304" pitchFamily="18" charset="0"/>
              </a:rPr>
              <a:t>Destrieux</a:t>
            </a:r>
            <a:r>
              <a:rPr lang="en-US" sz="1200" dirty="0">
                <a:solidFill>
                  <a:schemeClr val="accent1">
                    <a:lumMod val="75000"/>
                  </a:schemeClr>
                </a:solidFill>
                <a:latin typeface="Calibri" panose="020F0502020204030204" pitchFamily="34" charset="0"/>
                <a:cs typeface="Times New Roman" panose="02020603050405020304" pitchFamily="18" charset="0"/>
              </a:rPr>
              <a:t> atlas</a:t>
            </a:r>
            <a:r>
              <a:rPr lang="en-US" sz="1200" baseline="30000" dirty="0">
                <a:solidFill>
                  <a:schemeClr val="accent1">
                    <a:lumMod val="75000"/>
                  </a:schemeClr>
                </a:solidFill>
                <a:latin typeface="Calibri" panose="020F0502020204030204" pitchFamily="34" charset="0"/>
                <a:cs typeface="Times New Roman" panose="02020603050405020304" pitchFamily="18" charset="0"/>
              </a:rPr>
              <a:t>6</a:t>
            </a:r>
          </a:p>
          <a:p>
            <a:endParaRPr lang="en-US" dirty="0"/>
          </a:p>
        </p:txBody>
      </p:sp>
      <p:sp>
        <p:nvSpPr>
          <p:cNvPr id="4" name="Slide Number Placeholder 3">
            <a:extLst>
              <a:ext uri="{FF2B5EF4-FFF2-40B4-BE49-F238E27FC236}">
                <a16:creationId xmlns:a16="http://schemas.microsoft.com/office/drawing/2014/main" id="{386FEE7E-6F8A-08AF-CFCB-70168DB84861}"/>
              </a:ext>
            </a:extLst>
          </p:cNvPr>
          <p:cNvSpPr>
            <a:spLocks noGrp="1"/>
          </p:cNvSpPr>
          <p:nvPr>
            <p:ph type="sldNum" sz="quarter" idx="5"/>
          </p:nvPr>
        </p:nvSpPr>
        <p:spPr/>
        <p:txBody>
          <a:bodyPr/>
          <a:lstStyle/>
          <a:p>
            <a:fld id="{35723C0D-A671-FF46-996B-A5611795C643}" type="slidenum">
              <a:rPr lang="en-US" smtClean="0"/>
              <a:t>23</a:t>
            </a:fld>
            <a:endParaRPr lang="en-US"/>
          </a:p>
        </p:txBody>
      </p:sp>
    </p:spTree>
    <p:extLst>
      <p:ext uri="{BB962C8B-B14F-4D97-AF65-F5344CB8AC3E}">
        <p14:creationId xmlns:p14="http://schemas.microsoft.com/office/powerpoint/2010/main" val="34308406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75000"/>
                </a:schemeClr>
              </a:solidFill>
              <a:latin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75000"/>
                  </a:schemeClr>
                </a:solidFill>
                <a:latin typeface="Calibri" panose="020F0502020204030204" pitchFamily="34" charset="0"/>
                <a:cs typeface="Times New Roman" panose="02020603050405020304" pitchFamily="18" charset="0"/>
              </a:rPr>
              <a:t>As we found the lateral prefrontal cortex to independently adjust its activity based on stability and flexibility demands in our fMRI study, we begin our intracranial EEG analyses by focusing on this region. First, we selected all of our LPFC electrodes.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75000"/>
                </a:schemeClr>
              </a:solidFill>
              <a:latin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75000"/>
                  </a:schemeClr>
                </a:solidFill>
                <a:latin typeface="Calibri" panose="020F0502020204030204" pitchFamily="34" charset="0"/>
                <a:cs typeface="Times New Roman" panose="02020603050405020304" pitchFamily="18" charset="0"/>
              </a:rPr>
              <a:t>-&gt;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75000"/>
                </a:schemeClr>
              </a:solidFill>
              <a:latin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75000"/>
                  </a:schemeClr>
                </a:solidFill>
                <a:latin typeface="Calibri" panose="020F0502020204030204" pitchFamily="34" charset="0"/>
                <a:cs typeface="Times New Roman" panose="02020603050405020304" pitchFamily="18" charset="0"/>
              </a:rPr>
              <a:t>Next, we further selected task-sensitive electrodes, who showed an increase in activity relative to a pre-stimulus baseline period during our task.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75000"/>
                </a:schemeClr>
              </a:solidFill>
              <a:latin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75000"/>
                  </a:schemeClr>
                </a:solidFill>
                <a:latin typeface="Calibri" panose="020F0502020204030204" pitchFamily="34" charset="0"/>
                <a:cs typeface="Times New Roman" panose="02020603050405020304" pitchFamily="18" charset="0"/>
              </a:rPr>
              <a:t>-&gt;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75000"/>
                </a:schemeClr>
              </a:solidFill>
              <a:latin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75000"/>
                  </a:schemeClr>
                </a:solidFill>
                <a:latin typeface="Calibri" panose="020F0502020204030204" pitchFamily="34" charset="0"/>
                <a:cs typeface="Times New Roman" panose="02020603050405020304" pitchFamily="18" charset="0"/>
              </a:rPr>
              <a:t>Next, we found sites that were sensitive to stability and flexibility, such that stability-sensitive electrodes showed a main effect of incongruent vs congruent, in red, while flexibility-sensitive electrodes showed a main effect of task switch vs task repeat, in blue. We also found electrodes who were sensitive to both stability and flexibility, with additive or interactive effects, in black. Interestingly, there were both sites uniquely sensitive to stability or flexibility, and sites sensitive to both.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75000"/>
                </a:schemeClr>
              </a:solidFill>
              <a:latin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75000"/>
                </a:schemeClr>
              </a:solidFill>
              <a:latin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75000"/>
                  </a:schemeClr>
                </a:solidFill>
                <a:latin typeface="Calibri" panose="020F0502020204030204" pitchFamily="34" charset="0"/>
                <a:cs typeface="Times New Roman" panose="02020603050405020304" pitchFamily="18" charset="0"/>
              </a:rPr>
              <a:t>what do we do with this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75000"/>
                  </a:schemeClr>
                </a:solidFill>
                <a:latin typeface="Calibri" panose="020F0502020204030204" pitchFamily="34" charset="0"/>
                <a:cs typeface="Times New Roman" panose="02020603050405020304" pitchFamily="18" charset="0"/>
              </a:rPr>
              <a:t>green with green legend first, then yellow with yellow legend, then everyone else next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75000"/>
                </a:schemeClr>
              </a:solidFill>
              <a:latin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75000"/>
                  </a:schemeClr>
                </a:solidFill>
                <a:latin typeface="Calibri" panose="020F0502020204030204" pitchFamily="34" charset="0"/>
                <a:cs typeface="Times New Roman" panose="02020603050405020304" pitchFamily="18" charset="0"/>
              </a:rPr>
              <a:t>from this we find blank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75000"/>
                </a:schemeClr>
              </a:solidFill>
              <a:latin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75000"/>
                </a:schemeClr>
              </a:solidFill>
              <a:latin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75000"/>
                  </a:schemeClr>
                </a:solidFill>
                <a:latin typeface="Calibri" panose="020F0502020204030204" pitchFamily="34" charset="0"/>
                <a:cs typeface="Times New Roman" panose="02020603050405020304" pitchFamily="18" charset="0"/>
              </a:rPr>
              <a:t>High gamma (70-150 Hz) power extracted 0.5s before stimulus onset to 1s after</a:t>
            </a:r>
            <a:r>
              <a:rPr lang="en-US" sz="1200" baseline="30000" dirty="0">
                <a:solidFill>
                  <a:schemeClr val="accent1">
                    <a:lumMod val="75000"/>
                  </a:schemeClr>
                </a:solidFill>
                <a:latin typeface="Calibri" panose="020F0502020204030204" pitchFamily="34" charset="0"/>
                <a:cs typeface="Times New Roman" panose="02020603050405020304" pitchFamily="18" charset="0"/>
              </a:rPr>
              <a:t>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aseline="30000" dirty="0">
              <a:solidFill>
                <a:schemeClr val="accent1">
                  <a:lumMod val="75000"/>
                </a:schemeClr>
              </a:solidFill>
              <a:latin typeface="Calibri" panose="020F0502020204030204" pitchFamily="34" charset="0"/>
              <a:cs typeface="Times New Roman" panose="02020603050405020304" pitchFamily="18" charset="0"/>
            </a:endParaRPr>
          </a:p>
          <a:p>
            <a:pPr marL="342900" indent="-342900">
              <a:spcAft>
                <a:spcPts val="1200"/>
              </a:spcAft>
              <a:buFont typeface="Arial" panose="020B0604020202020204" pitchFamily="34" charset="0"/>
              <a:buChar char="•"/>
            </a:pPr>
            <a:r>
              <a:rPr lang="en-US" sz="1200" dirty="0">
                <a:solidFill>
                  <a:schemeClr val="accent1">
                    <a:lumMod val="75000"/>
                  </a:schemeClr>
                </a:solidFill>
                <a:latin typeface="Calibri" panose="020F0502020204030204" pitchFamily="34" charset="0"/>
                <a:cs typeface="Times New Roman" panose="02020603050405020304" pitchFamily="18" charset="0"/>
              </a:rPr>
              <a:t>To determine task-sensitive electrodes, cluster-</a:t>
            </a:r>
            <a:r>
              <a:rPr lang="en-US" sz="1200" dirty="0" err="1">
                <a:solidFill>
                  <a:schemeClr val="accent1">
                    <a:lumMod val="75000"/>
                  </a:schemeClr>
                </a:solidFill>
                <a:latin typeface="Calibri" panose="020F0502020204030204" pitchFamily="34" charset="0"/>
                <a:cs typeface="Times New Roman" panose="02020603050405020304" pitchFamily="18" charset="0"/>
              </a:rPr>
              <a:t>thresholded</a:t>
            </a:r>
            <a:r>
              <a:rPr lang="en-US" sz="1200" dirty="0">
                <a:solidFill>
                  <a:schemeClr val="accent1">
                    <a:lumMod val="75000"/>
                  </a:schemeClr>
                </a:solidFill>
                <a:latin typeface="Calibri" panose="020F0502020204030204" pitchFamily="34" charset="0"/>
                <a:cs typeface="Times New Roman" panose="02020603050405020304" pitchFamily="18" charset="0"/>
              </a:rPr>
              <a:t> permutation tests done at each time-point, comparing signal and pre-stimulus baseline</a:t>
            </a:r>
          </a:p>
          <a:p>
            <a:pPr marL="342900" indent="-342900">
              <a:spcAft>
                <a:spcPts val="1200"/>
              </a:spcAft>
              <a:buFont typeface="Arial" panose="020B0604020202020204" pitchFamily="34" charset="0"/>
              <a:buChar char="•"/>
            </a:pPr>
            <a:r>
              <a:rPr lang="en-US" sz="1200" dirty="0">
                <a:solidFill>
                  <a:schemeClr val="accent1">
                    <a:lumMod val="75000"/>
                  </a:schemeClr>
                </a:solidFill>
                <a:latin typeface="Calibri" panose="020F0502020204030204" pitchFamily="34" charset="0"/>
                <a:cs typeface="Times New Roman" panose="02020603050405020304" pitchFamily="18" charset="0"/>
              </a:rPr>
              <a:t>Baseline-normalized (z-scored) signals windowed from 0 to 0.5s, 0.5 to 1s. Significant differences between conditions determined using ANOVA.</a:t>
            </a:r>
          </a:p>
          <a:p>
            <a:pPr marL="342900" indent="-342900">
              <a:spcAft>
                <a:spcPts val="1200"/>
              </a:spcAft>
              <a:buFont typeface="Arial" panose="020B0604020202020204" pitchFamily="34" charset="0"/>
              <a:buChar char="•"/>
            </a:pPr>
            <a:r>
              <a:rPr lang="en-US" sz="1200" dirty="0">
                <a:solidFill>
                  <a:schemeClr val="accent1">
                    <a:lumMod val="75000"/>
                  </a:schemeClr>
                </a:solidFill>
                <a:latin typeface="Calibri" panose="020F0502020204030204" pitchFamily="34" charset="0"/>
                <a:cs typeface="Times New Roman" panose="02020603050405020304" pitchFamily="18" charset="0"/>
              </a:rPr>
              <a:t>LPFC defined based on </a:t>
            </a:r>
            <a:r>
              <a:rPr lang="en-US" sz="1200" dirty="0" err="1">
                <a:solidFill>
                  <a:schemeClr val="accent1">
                    <a:lumMod val="75000"/>
                  </a:schemeClr>
                </a:solidFill>
                <a:latin typeface="Calibri" panose="020F0502020204030204" pitchFamily="34" charset="0"/>
                <a:cs typeface="Times New Roman" panose="02020603050405020304" pitchFamily="18" charset="0"/>
              </a:rPr>
              <a:t>Destrieux</a:t>
            </a:r>
            <a:r>
              <a:rPr lang="en-US" sz="1200" dirty="0">
                <a:solidFill>
                  <a:schemeClr val="accent1">
                    <a:lumMod val="75000"/>
                  </a:schemeClr>
                </a:solidFill>
                <a:latin typeface="Calibri" panose="020F0502020204030204" pitchFamily="34" charset="0"/>
                <a:cs typeface="Times New Roman" panose="02020603050405020304" pitchFamily="18" charset="0"/>
              </a:rPr>
              <a:t> atlas</a:t>
            </a:r>
            <a:r>
              <a:rPr lang="en-US" sz="1200" baseline="30000" dirty="0">
                <a:solidFill>
                  <a:schemeClr val="accent1">
                    <a:lumMod val="75000"/>
                  </a:schemeClr>
                </a:solidFill>
                <a:latin typeface="Calibri" panose="020F0502020204030204" pitchFamily="34" charset="0"/>
                <a:cs typeface="Times New Roman" panose="02020603050405020304" pitchFamily="18" charset="0"/>
              </a:rPr>
              <a:t>6</a:t>
            </a:r>
          </a:p>
          <a:p>
            <a:pPr marL="342900" indent="-342900">
              <a:spcAft>
                <a:spcPts val="1200"/>
              </a:spcAft>
              <a:buFont typeface="Arial" panose="020B0604020202020204" pitchFamily="34" charset="0"/>
              <a:buChar char="•"/>
            </a:pPr>
            <a:endParaRPr lang="en-US" sz="1200" baseline="30000" dirty="0">
              <a:solidFill>
                <a:schemeClr val="accent1">
                  <a:lumMod val="75000"/>
                </a:schemeClr>
              </a:solidFill>
              <a:latin typeface="Calibri" panose="020F0502020204030204" pitchFamily="34" charset="0"/>
              <a:cs typeface="Times New Roman" panose="02020603050405020304" pitchFamily="18" charset="0"/>
            </a:endParaRPr>
          </a:p>
          <a:p>
            <a:pPr marL="457200" indent="-457200">
              <a:buFont typeface="Arial" panose="020B0604020202020204" pitchFamily="34" charset="0"/>
              <a:buChar char="•"/>
            </a:pPr>
            <a:r>
              <a:rPr lang="en-US" sz="1200" dirty="0">
                <a:solidFill>
                  <a:schemeClr val="accent1">
                    <a:lumMod val="75000"/>
                  </a:schemeClr>
                </a:solidFill>
                <a:latin typeface="Calibri" panose="020F0502020204030204" pitchFamily="34" charset="0"/>
                <a:cs typeface="Times New Roman" panose="02020603050405020304" pitchFamily="18" charset="0"/>
              </a:rPr>
              <a:t>73/164 LPFC electrodes were task-sensitive</a:t>
            </a:r>
          </a:p>
          <a:p>
            <a:pPr marL="457200" indent="-457200">
              <a:buFont typeface="Arial" panose="020B0604020202020204" pitchFamily="34" charset="0"/>
              <a:buChar char="•"/>
            </a:pPr>
            <a:r>
              <a:rPr lang="en-US" sz="1200" dirty="0">
                <a:solidFill>
                  <a:schemeClr val="accent1">
                    <a:lumMod val="75000"/>
                  </a:schemeClr>
                </a:solidFill>
                <a:latin typeface="Calibri" panose="020F0502020204030204" pitchFamily="34" charset="0"/>
                <a:cs typeface="Times New Roman" panose="02020603050405020304" pitchFamily="18" charset="0"/>
              </a:rPr>
              <a:t>48/73 task-sensitive LPFC electrodes showed effects of interest (</a:t>
            </a:r>
            <a:r>
              <a:rPr lang="en-US" sz="1200" dirty="0">
                <a:solidFill>
                  <a:srgbClr val="FF0000"/>
                </a:solidFill>
                <a:latin typeface="Calibri" panose="020F0502020204030204" pitchFamily="34" charset="0"/>
                <a:cs typeface="Times New Roman" panose="02020603050405020304" pitchFamily="18" charset="0"/>
              </a:rPr>
              <a:t>congruency</a:t>
            </a:r>
            <a:r>
              <a:rPr lang="en-US" sz="1200" dirty="0">
                <a:solidFill>
                  <a:schemeClr val="accent1">
                    <a:lumMod val="75000"/>
                  </a:schemeClr>
                </a:solidFill>
                <a:latin typeface="Calibri" panose="020F0502020204030204" pitchFamily="34" charset="0"/>
                <a:cs typeface="Times New Roman" panose="02020603050405020304" pitchFamily="18" charset="0"/>
              </a:rPr>
              <a:t>: N=15, </a:t>
            </a:r>
            <a:r>
              <a:rPr lang="en-US" sz="1200" dirty="0" err="1">
                <a:solidFill>
                  <a:srgbClr val="6165FF"/>
                </a:solidFill>
                <a:latin typeface="Calibri" panose="020F0502020204030204" pitchFamily="34" charset="0"/>
                <a:cs typeface="Times New Roman" panose="02020603050405020304" pitchFamily="18" charset="0"/>
              </a:rPr>
              <a:t>switchType</a:t>
            </a:r>
            <a:r>
              <a:rPr lang="en-US" sz="1200" dirty="0">
                <a:solidFill>
                  <a:schemeClr val="accent1">
                    <a:lumMod val="75000"/>
                  </a:schemeClr>
                </a:solidFill>
                <a:latin typeface="Calibri" panose="020F0502020204030204" pitchFamily="34" charset="0"/>
                <a:cs typeface="Times New Roman" panose="02020603050405020304" pitchFamily="18" charset="0"/>
              </a:rPr>
              <a:t>: N=18, </a:t>
            </a:r>
            <a:r>
              <a:rPr lang="en-US" sz="1200" dirty="0">
                <a:latin typeface="Calibri" panose="020F0502020204030204" pitchFamily="34" charset="0"/>
                <a:cs typeface="Times New Roman" panose="02020603050405020304" pitchFamily="18" charset="0"/>
              </a:rPr>
              <a:t>additive or interactive</a:t>
            </a:r>
            <a:r>
              <a:rPr lang="en-US" sz="1200" dirty="0">
                <a:solidFill>
                  <a:schemeClr val="accent1">
                    <a:lumMod val="75000"/>
                  </a:schemeClr>
                </a:solidFill>
                <a:latin typeface="Calibri" panose="020F0502020204030204" pitchFamily="34" charset="0"/>
                <a:cs typeface="Times New Roman" panose="02020603050405020304" pitchFamily="18" charset="0"/>
              </a:rPr>
              <a:t>: N=15)</a:t>
            </a:r>
          </a:p>
          <a:p>
            <a:pPr marL="457200" indent="-457200">
              <a:buFont typeface="Arial" panose="020B0604020202020204" pitchFamily="34" charset="0"/>
              <a:buChar char="•"/>
            </a:pPr>
            <a:r>
              <a:rPr lang="en-US" sz="1200" dirty="0">
                <a:solidFill>
                  <a:schemeClr val="accent1">
                    <a:lumMod val="75000"/>
                  </a:schemeClr>
                </a:solidFill>
                <a:latin typeface="Calibri" panose="020F0502020204030204" pitchFamily="34" charset="0"/>
                <a:cs typeface="Times New Roman" panose="02020603050405020304" pitchFamily="18" charset="0"/>
              </a:rPr>
              <a:t>Electrodes sensitive to different effects were spatially interspersed</a:t>
            </a:r>
          </a:p>
          <a:p>
            <a:pPr marL="457200" indent="-457200">
              <a:buFont typeface="Arial" panose="020B0604020202020204" pitchFamily="34" charset="0"/>
              <a:buChar char="•"/>
            </a:pPr>
            <a:endParaRPr lang="en-US" sz="1200" baseline="30000" dirty="0">
              <a:solidFill>
                <a:schemeClr val="accent1">
                  <a:lumMod val="75000"/>
                </a:schemeClr>
              </a:solidFill>
              <a:latin typeface="Calibri" panose="020F0502020204030204" pitchFamily="34" charset="0"/>
              <a:cs typeface="Times New Roman" panose="02020603050405020304" pitchFamily="18" charset="0"/>
            </a:endParaRPr>
          </a:p>
          <a:p>
            <a:pPr marL="457200" indent="-457200">
              <a:buFont typeface="Arial" panose="020B0604020202020204" pitchFamily="34" charset="0"/>
              <a:buChar char="•"/>
            </a:pPr>
            <a:endParaRPr lang="en-US" sz="1200" baseline="30000" dirty="0">
              <a:solidFill>
                <a:schemeClr val="accent1">
                  <a:lumMod val="75000"/>
                </a:schemeClr>
              </a:solidFill>
              <a:latin typeface="Calibri" panose="020F0502020204030204" pitchFamily="34" charset="0"/>
              <a:cs typeface="Times New Roman" panose="02020603050405020304" pitchFamily="18" charset="0"/>
            </a:endParaRPr>
          </a:p>
          <a:p>
            <a:pPr marL="457200" indent="-457200">
              <a:buFont typeface="Arial" panose="020B0604020202020204" pitchFamily="34" charset="0"/>
              <a:buChar char="•"/>
            </a:pPr>
            <a:endParaRPr lang="en-US" sz="1200" baseline="30000" dirty="0">
              <a:solidFill>
                <a:schemeClr val="accent1">
                  <a:lumMod val="75000"/>
                </a:schemeClr>
              </a:solidFill>
              <a:latin typeface="Calibri" panose="020F0502020204030204" pitchFamily="34" charset="0"/>
              <a:cs typeface="Times New Roman" panose="02020603050405020304" pitchFamily="18" charset="0"/>
            </a:endParaRPr>
          </a:p>
          <a:p>
            <a:pPr marL="457200" indent="-457200">
              <a:spcAft>
                <a:spcPts val="1200"/>
              </a:spcAft>
              <a:buFont typeface="Arial" panose="020B0604020202020204" pitchFamily="34" charset="0"/>
              <a:buChar char="•"/>
            </a:pPr>
            <a:r>
              <a:rPr lang="en-US" sz="1200" dirty="0">
                <a:solidFill>
                  <a:schemeClr val="accent1">
                    <a:lumMod val="75000"/>
                  </a:schemeClr>
                </a:solidFill>
              </a:rPr>
              <a:t>We detected both congruency sensitive sites and switch type sensitive sites, and these sites were spatially interspersed.</a:t>
            </a:r>
          </a:p>
          <a:p>
            <a:pPr marL="457200" indent="-457200">
              <a:spcAft>
                <a:spcPts val="1200"/>
              </a:spcAft>
              <a:buFont typeface="Arial" panose="020B0604020202020204" pitchFamily="34" charset="0"/>
              <a:buChar char="•"/>
            </a:pPr>
            <a:r>
              <a:rPr lang="en-US" sz="1200" dirty="0">
                <a:solidFill>
                  <a:schemeClr val="accent1">
                    <a:lumMod val="75000"/>
                  </a:schemeClr>
                </a:solidFill>
              </a:rPr>
              <a:t>There are both distinct and overlapping/interactive effects of stability and flexibility detectable at the level of mesoscale neural recordings in LPFC.</a:t>
            </a:r>
          </a:p>
          <a:p>
            <a:pPr marL="457200" indent="-457200">
              <a:spcAft>
                <a:spcPts val="1200"/>
              </a:spcAft>
              <a:buFont typeface="Arial" panose="020B0604020202020204" pitchFamily="34" charset="0"/>
              <a:buChar char="•"/>
            </a:pPr>
            <a:r>
              <a:rPr lang="en-US" sz="1200" dirty="0">
                <a:solidFill>
                  <a:schemeClr val="accent1">
                    <a:lumMod val="75000"/>
                  </a:schemeClr>
                </a:solidFill>
              </a:rPr>
              <a:t>More demanding trial conditions (incongruent, switch) induced greater activity in LPFC electrodes sensitive to those conditions</a:t>
            </a:r>
          </a:p>
          <a:p>
            <a:pPr marL="457200" indent="-457200">
              <a:spcAft>
                <a:spcPts val="1200"/>
              </a:spcAft>
              <a:buFont typeface="Arial" panose="020B0604020202020204" pitchFamily="34" charset="0"/>
              <a:buChar char="•"/>
            </a:pPr>
            <a:r>
              <a:rPr lang="en-US" sz="1200" dirty="0">
                <a:solidFill>
                  <a:schemeClr val="accent1">
                    <a:lumMod val="75000"/>
                  </a:schemeClr>
                </a:solidFill>
              </a:rPr>
              <a:t>Future analyses will investigate how stability and flexibility are regulated through block proportion manipulations</a:t>
            </a:r>
          </a:p>
          <a:p>
            <a:pPr marL="457200" indent="-457200">
              <a:spcAft>
                <a:spcPts val="1200"/>
              </a:spcAft>
              <a:buFont typeface="Arial" panose="020B0604020202020204" pitchFamily="34" charset="0"/>
              <a:buChar char="•"/>
            </a:pPr>
            <a:r>
              <a:rPr lang="en-US" sz="1200" dirty="0">
                <a:solidFill>
                  <a:schemeClr val="accent1">
                    <a:lumMod val="75000"/>
                  </a:schemeClr>
                </a:solidFill>
              </a:rPr>
              <a:t>Future work will also investigate the temporal differences between conditions</a:t>
            </a:r>
          </a:p>
          <a:p>
            <a:pPr marL="457200" indent="-457200">
              <a:buFont typeface="Arial" panose="020B0604020202020204" pitchFamily="34" charset="0"/>
              <a:buChar char="•"/>
            </a:pPr>
            <a:endParaRPr lang="en-US" sz="1200" baseline="30000" dirty="0">
              <a:solidFill>
                <a:schemeClr val="accent1">
                  <a:lumMod val="75000"/>
                </a:schemeClr>
              </a:solidFill>
              <a:latin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75000"/>
                </a:schemeClr>
              </a:solidFill>
              <a:latin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35723C0D-A671-FF46-996B-A5611795C643}" type="slidenum">
              <a:rPr lang="en-US" smtClean="0"/>
              <a:t>24</a:t>
            </a:fld>
            <a:endParaRPr lang="en-US"/>
          </a:p>
        </p:txBody>
      </p:sp>
    </p:spTree>
    <p:extLst>
      <p:ext uri="{BB962C8B-B14F-4D97-AF65-F5344CB8AC3E}">
        <p14:creationId xmlns:p14="http://schemas.microsoft.com/office/powerpoint/2010/main" val="33647513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then looked at how the high gamma power of our stability and flexibility sensitive LPFC electrodes varied over time. </a:t>
            </a:r>
            <a:r>
              <a:rPr lang="en-US" sz="1200" dirty="0">
                <a:solidFill>
                  <a:schemeClr val="accent1">
                    <a:lumMod val="75000"/>
                  </a:schemeClr>
                </a:solidFill>
              </a:rPr>
              <a:t>More demanding trial conditions (incongruent, switch) induced greater activity in LPFC electrodes sensitive to those conditions.</a:t>
            </a:r>
          </a:p>
          <a:p>
            <a:endParaRPr lang="en-US" dirty="0"/>
          </a:p>
          <a:p>
            <a:endParaRPr lang="en-US" dirty="0"/>
          </a:p>
          <a:p>
            <a:endParaRPr lang="en-US" dirty="0"/>
          </a:p>
          <a:p>
            <a:endParaRPr lang="en-US" dirty="0"/>
          </a:p>
          <a:p>
            <a:endParaRPr lang="en-US" dirty="0"/>
          </a:p>
          <a:p>
            <a:r>
              <a:rPr lang="en-US" dirty="0"/>
              <a:t>just say what </a:t>
            </a:r>
            <a:r>
              <a:rPr lang="en-US" dirty="0" err="1"/>
              <a:t>i</a:t>
            </a:r>
            <a:r>
              <a:rPr lang="en-US" dirty="0"/>
              <a:t> did here - avg hg neural response, see congruency effect at ~500 </a:t>
            </a:r>
            <a:r>
              <a:rPr lang="en-US" dirty="0" err="1"/>
              <a:t>ms</a:t>
            </a:r>
            <a:r>
              <a:rPr lang="en-US" dirty="0"/>
              <a:t>, and switch cost at roughly the same time. Ongoing work will do blah blah. Motivate with time, say time answer. Early analysis phase for both studies. Next, show what we want to do, here's a glimpse of data. Hopefully will work out </a:t>
            </a:r>
            <a:r>
              <a:rPr lang="en-US" dirty="0" err="1"/>
              <a:t>cuz</a:t>
            </a:r>
            <a:r>
              <a:rPr lang="en-US" dirty="0"/>
              <a:t> we can do visual decoding.</a:t>
            </a:r>
          </a:p>
          <a:p>
            <a:endParaRPr lang="en-US" dirty="0"/>
          </a:p>
          <a:p>
            <a:r>
              <a:rPr lang="en-US" dirty="0"/>
              <a:t>do </a:t>
            </a:r>
            <a:r>
              <a:rPr lang="en-US" dirty="0" err="1"/>
              <a:t>fmri</a:t>
            </a:r>
            <a:r>
              <a:rPr lang="en-US" dirty="0"/>
              <a:t> future directions too - right after or later? </a:t>
            </a:r>
            <a:r>
              <a:rPr lang="en-US" dirty="0" err="1"/>
              <a:t>greg</a:t>
            </a:r>
            <a:r>
              <a:rPr lang="en-US" dirty="0"/>
              <a:t> likes </a:t>
            </a:r>
            <a:r>
              <a:rPr lang="en-US" dirty="0" err="1"/>
              <a:t>fmri</a:t>
            </a:r>
            <a:r>
              <a:rPr lang="en-US" dirty="0"/>
              <a:t> with </a:t>
            </a:r>
            <a:r>
              <a:rPr lang="en-US" dirty="0" err="1"/>
              <a:t>fmri</a:t>
            </a:r>
            <a:r>
              <a:rPr lang="en-US" dirty="0"/>
              <a:t>, intracranial with intracranial</a:t>
            </a:r>
          </a:p>
          <a:p>
            <a:endParaRPr lang="en-US" dirty="0"/>
          </a:p>
          <a:p>
            <a:r>
              <a:rPr lang="en-US" dirty="0"/>
              <a:t>wrap up slide for task switching and congruency rehash it short and sweet at end</a:t>
            </a:r>
          </a:p>
          <a:p>
            <a:endParaRPr lang="en-US" dirty="0"/>
          </a:p>
          <a:p>
            <a:r>
              <a:rPr lang="en-US" dirty="0"/>
              <a:t>easier on the mind to keep separate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Rerun this legend code if I can find it…make it stack the three effects on top of each other.</a:t>
            </a:r>
          </a:p>
          <a:p>
            <a:endParaRPr lang="en-US" dirty="0"/>
          </a:p>
          <a:p>
            <a:r>
              <a:rPr lang="en-US" dirty="0"/>
              <a:t>Also yes I know this is just 14/18 subjects, my new subjects are in various stages of preprocessing and not sure if they’ll be ready by Friday..</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75000"/>
                  </a:schemeClr>
                </a:solidFill>
                <a:latin typeface="Calibri" panose="020F0502020204030204" pitchFamily="34" charset="0"/>
                <a:cs typeface="Times New Roman" panose="02020603050405020304" pitchFamily="18" charset="0"/>
              </a:rPr>
              <a:t>Average trace plot for electrodes displaying a main effect of </a:t>
            </a:r>
            <a:r>
              <a:rPr lang="en-US" sz="1200" dirty="0">
                <a:solidFill>
                  <a:srgbClr val="FF0000"/>
                </a:solidFill>
                <a:latin typeface="Calibri" panose="020F0502020204030204" pitchFamily="34" charset="0"/>
                <a:cs typeface="Times New Roman" panose="02020603050405020304" pitchFamily="18" charset="0"/>
              </a:rPr>
              <a:t>congruency </a:t>
            </a:r>
            <a:r>
              <a:rPr lang="en-US" sz="1200" dirty="0">
                <a:solidFill>
                  <a:schemeClr val="accent1">
                    <a:lumMod val="75000"/>
                  </a:schemeClr>
                </a:solidFill>
                <a:latin typeface="Calibri" panose="020F0502020204030204" pitchFamily="34" charset="0"/>
                <a:cs typeface="Times New Roman" panose="02020603050405020304" pitchFamily="18" charset="0"/>
              </a:rPr>
              <a:t>(N=15)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accent1">
                    <a:lumMod val="75000"/>
                  </a:schemeClr>
                </a:solidFill>
                <a:latin typeface="Calibri" panose="020F0502020204030204" pitchFamily="34" charset="0"/>
                <a:cs typeface="Times New Roman" panose="02020603050405020304" pitchFamily="18" charset="0"/>
              </a:rPr>
              <a:t>Average trace plot for electrodes displaying a main effect of </a:t>
            </a:r>
            <a:r>
              <a:rPr lang="en-US" sz="1200" dirty="0">
                <a:solidFill>
                  <a:srgbClr val="6165FF"/>
                </a:solidFill>
                <a:latin typeface="Calibri" panose="020F0502020204030204" pitchFamily="34" charset="0"/>
                <a:cs typeface="Times New Roman" panose="02020603050405020304" pitchFamily="18" charset="0"/>
              </a:rPr>
              <a:t>switch type </a:t>
            </a:r>
            <a:r>
              <a:rPr lang="en-US" sz="1200" dirty="0">
                <a:solidFill>
                  <a:schemeClr val="accent1">
                    <a:lumMod val="75000"/>
                  </a:schemeClr>
                </a:solidFill>
                <a:latin typeface="Calibri" panose="020F0502020204030204" pitchFamily="34" charset="0"/>
                <a:cs typeface="Times New Roman" panose="02020603050405020304" pitchFamily="18" charset="0"/>
              </a:rPr>
              <a:t>(N=18)</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accent1">
                  <a:lumMod val="75000"/>
                </a:schemeClr>
              </a:solidFill>
              <a:latin typeface="Calibri" panose="020F0502020204030204" pitchFamily="34" charset="0"/>
              <a:cs typeface="Times New Roman" panose="02020603050405020304" pitchFamily="18" charset="0"/>
            </a:endParaRPr>
          </a:p>
          <a:p>
            <a:endParaRPr lang="en-US" dirty="0"/>
          </a:p>
          <a:p>
            <a:endParaRPr lang="en-US" dirty="0"/>
          </a:p>
          <a:p>
            <a:pPr marL="457200" indent="-457200">
              <a:spcAft>
                <a:spcPts val="1200"/>
              </a:spcAft>
              <a:buFont typeface="Arial" panose="020B0604020202020204" pitchFamily="34" charset="0"/>
              <a:buChar char="•"/>
            </a:pPr>
            <a:r>
              <a:rPr lang="en-US" sz="1200" dirty="0">
                <a:solidFill>
                  <a:schemeClr val="accent1">
                    <a:lumMod val="75000"/>
                  </a:schemeClr>
                </a:solidFill>
              </a:rPr>
              <a:t>We detected both congruency sensitive sites and switch type sensitive sites, and these sites were spatially interspersed.</a:t>
            </a:r>
          </a:p>
          <a:p>
            <a:pPr marL="457200" indent="-457200">
              <a:spcAft>
                <a:spcPts val="1200"/>
              </a:spcAft>
              <a:buFont typeface="Arial" panose="020B0604020202020204" pitchFamily="34" charset="0"/>
              <a:buChar char="•"/>
            </a:pPr>
            <a:r>
              <a:rPr lang="en-US" sz="1200" dirty="0">
                <a:solidFill>
                  <a:schemeClr val="accent1">
                    <a:lumMod val="75000"/>
                  </a:schemeClr>
                </a:solidFill>
              </a:rPr>
              <a:t>There are both distinct and overlapping/interactive effects of stability and flexibility detectable at the level of mesoscale neural recordings in LPFC.</a:t>
            </a:r>
          </a:p>
          <a:p>
            <a:pPr marL="457200" indent="-457200">
              <a:spcAft>
                <a:spcPts val="1200"/>
              </a:spcAft>
              <a:buFont typeface="Arial" panose="020B0604020202020204" pitchFamily="34" charset="0"/>
              <a:buChar char="•"/>
            </a:pPr>
            <a:r>
              <a:rPr lang="en-US" sz="1200" dirty="0">
                <a:solidFill>
                  <a:schemeClr val="accent1">
                    <a:lumMod val="75000"/>
                  </a:schemeClr>
                </a:solidFill>
              </a:rPr>
              <a:t>More demanding trial conditions (incongruent, switch) induced greater activity in LPFC electrodes sensitive to those conditions</a:t>
            </a:r>
          </a:p>
          <a:p>
            <a:pPr marL="457200" indent="-457200">
              <a:spcAft>
                <a:spcPts val="1200"/>
              </a:spcAft>
              <a:buFont typeface="Arial" panose="020B0604020202020204" pitchFamily="34" charset="0"/>
              <a:buChar char="•"/>
            </a:pPr>
            <a:r>
              <a:rPr lang="en-US" sz="1200" dirty="0">
                <a:solidFill>
                  <a:schemeClr val="accent1">
                    <a:lumMod val="75000"/>
                  </a:schemeClr>
                </a:solidFill>
              </a:rPr>
              <a:t>Future analyses will investigate how stability and flexibility are regulated through block proportion manipulations</a:t>
            </a:r>
          </a:p>
          <a:p>
            <a:pPr marL="457200" indent="-457200">
              <a:spcAft>
                <a:spcPts val="1200"/>
              </a:spcAft>
              <a:buFont typeface="Arial" panose="020B0604020202020204" pitchFamily="34" charset="0"/>
              <a:buChar char="•"/>
            </a:pPr>
            <a:r>
              <a:rPr lang="en-US" sz="1200" dirty="0">
                <a:solidFill>
                  <a:schemeClr val="accent1">
                    <a:lumMod val="75000"/>
                  </a:schemeClr>
                </a:solidFill>
              </a:rPr>
              <a:t>Future work will also investigate the temporal differences between conditions</a:t>
            </a:r>
          </a:p>
          <a:p>
            <a:endParaRPr lang="en-US" dirty="0"/>
          </a:p>
        </p:txBody>
      </p:sp>
      <p:sp>
        <p:nvSpPr>
          <p:cNvPr id="4" name="Slide Number Placeholder 3"/>
          <p:cNvSpPr>
            <a:spLocks noGrp="1"/>
          </p:cNvSpPr>
          <p:nvPr>
            <p:ph type="sldNum" sz="quarter" idx="5"/>
          </p:nvPr>
        </p:nvSpPr>
        <p:spPr/>
        <p:txBody>
          <a:bodyPr/>
          <a:lstStyle/>
          <a:p>
            <a:fld id="{35723C0D-A671-FF46-996B-A5611795C643}" type="slidenum">
              <a:rPr lang="en-US" smtClean="0"/>
              <a:t>25</a:t>
            </a:fld>
            <a:endParaRPr lang="en-US"/>
          </a:p>
        </p:txBody>
      </p:sp>
    </p:spTree>
    <p:extLst>
      <p:ext uri="{BB962C8B-B14F-4D97-AF65-F5344CB8AC3E}">
        <p14:creationId xmlns:p14="http://schemas.microsoft.com/office/powerpoint/2010/main" val="23345046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We have also begun doing multivariate decoding analyses, to see if there could be activity-silent differences between stability and flexibility, and if there is generalizable information across the two processes. We are able to decode both the switch type and the congruency above chance, and will next look how the decoding accuracy changes throughout the trial.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what are we doing, what does it mean, explain this process more.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show an example of how this is working - just show one thing from decoding and show it well. Show this, not the visual decoding. Easier to focus on one of these. Too much to explain visual decoding. Slide to explain method. If visual decoding was in 90s then maybe but not good enough.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Explain confusion matrix, what does this mean. Remind people what chance decoding 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Remind people I'm testing on single trials. Can tell whether it's repeat or switch based on a single trial. Hit this home.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Don't have time here. Big window. Model from all patients. More emphasis on analysis </a:t>
            </a:r>
            <a:r>
              <a:rPr lang="en-US" sz="1200" b="0" dirty="0" err="1"/>
              <a:t>cuz</a:t>
            </a:r>
            <a:r>
              <a:rPr lang="en-US" sz="1200" b="0" dirty="0"/>
              <a:t> not too many results. People don't really understand </a:t>
            </a:r>
            <a:r>
              <a:rPr lang="en-US" sz="1200" b="0" dirty="0" err="1"/>
              <a:t>iEEG</a:t>
            </a:r>
            <a:r>
              <a:rPr lang="en-US" sz="1200" b="0" dirty="0"/>
              <a:t> in the room - grab HG, feed into classifier, graphic of pipeline that goes into this.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does HG activity let us distinguish between these.</a:t>
            </a:r>
            <a:endParaRPr lang="en-US" dirty="0"/>
          </a:p>
        </p:txBody>
      </p:sp>
      <p:sp>
        <p:nvSpPr>
          <p:cNvPr id="4" name="Slide Number Placeholder 3"/>
          <p:cNvSpPr>
            <a:spLocks noGrp="1"/>
          </p:cNvSpPr>
          <p:nvPr>
            <p:ph type="sldNum" sz="quarter" idx="5"/>
          </p:nvPr>
        </p:nvSpPr>
        <p:spPr/>
        <p:txBody>
          <a:bodyPr/>
          <a:lstStyle/>
          <a:p>
            <a:fld id="{35723C0D-A671-FF46-996B-A5611795C643}" type="slidenum">
              <a:rPr lang="en-US" smtClean="0"/>
              <a:t>26</a:t>
            </a:fld>
            <a:endParaRPr lang="en-US"/>
          </a:p>
        </p:txBody>
      </p:sp>
    </p:spTree>
    <p:extLst>
      <p:ext uri="{BB962C8B-B14F-4D97-AF65-F5344CB8AC3E}">
        <p14:creationId xmlns:p14="http://schemas.microsoft.com/office/powerpoint/2010/main" val="7701404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things I will do are look at if the information underlying my decoding results is shared between stability and flexibility, to further test if they are supported by shared or distinct neural substrates. I will also directly </a:t>
            </a:r>
          </a:p>
          <a:p>
            <a:endParaRPr lang="en-US" dirty="0"/>
          </a:p>
          <a:p>
            <a:endParaRPr lang="en-US" dirty="0"/>
          </a:p>
          <a:p>
            <a:endParaRPr lang="en-US" dirty="0"/>
          </a:p>
          <a:p>
            <a:r>
              <a:rPr lang="en-US" dirty="0"/>
              <a:t>Pretty pictures.</a:t>
            </a:r>
          </a:p>
          <a:p>
            <a:endParaRPr lang="en-US" dirty="0"/>
          </a:p>
          <a:p>
            <a:endParaRPr lang="en-US" dirty="0"/>
          </a:p>
          <a:p>
            <a:r>
              <a:rPr lang="en-US" dirty="0"/>
              <a:t>fMRI next steps with fMRI, </a:t>
            </a:r>
            <a:r>
              <a:rPr lang="en-US" dirty="0" err="1"/>
              <a:t>iEEG</a:t>
            </a:r>
            <a:r>
              <a:rPr lang="en-US" dirty="0"/>
              <a:t> next steps with </a:t>
            </a:r>
            <a:r>
              <a:rPr lang="en-US" dirty="0" err="1"/>
              <a:t>iEEG</a:t>
            </a:r>
            <a:r>
              <a:rPr lang="en-US" dirty="0"/>
              <a:t>. Explain more clearly is better. Clean this up, sell the future.</a:t>
            </a:r>
          </a:p>
          <a:p>
            <a:endParaRPr lang="en-US" dirty="0"/>
          </a:p>
          <a:p>
            <a:endParaRPr lang="en-US" dirty="0"/>
          </a:p>
          <a:p>
            <a:endParaRPr lang="en-US" dirty="0"/>
          </a:p>
          <a:p>
            <a:endParaRPr lang="en-US" dirty="0"/>
          </a:p>
          <a:p>
            <a:endParaRPr lang="en-US" dirty="0"/>
          </a:p>
          <a:p>
            <a:endParaRPr lang="en-US" dirty="0"/>
          </a:p>
          <a:p>
            <a:endParaRPr lang="en-US" dirty="0"/>
          </a:p>
          <a:p>
            <a:r>
              <a:rPr lang="en-US" dirty="0"/>
              <a:t>From </a:t>
            </a:r>
            <a:r>
              <a:rPr lang="en-US" dirty="0" err="1"/>
              <a:t>cns</a:t>
            </a:r>
            <a:r>
              <a:rPr lang="en-US" dirty="0"/>
              <a:t> 2025</a:t>
            </a:r>
          </a:p>
          <a:p>
            <a:pPr marL="457200" indent="-457200">
              <a:spcAft>
                <a:spcPts val="1200"/>
              </a:spcAft>
              <a:buFont typeface="Arial" panose="020B0604020202020204" pitchFamily="34" charset="0"/>
              <a:buChar char="•"/>
            </a:pPr>
            <a:r>
              <a:rPr lang="en-US" sz="1200" dirty="0">
                <a:solidFill>
                  <a:schemeClr val="accent1">
                    <a:lumMod val="75000"/>
                  </a:schemeClr>
                </a:solidFill>
              </a:rPr>
              <a:t>Future work should investigate connectivity patterns between regions and brain-behavior correlations</a:t>
            </a:r>
          </a:p>
          <a:p>
            <a:pPr marL="457200" indent="-457200">
              <a:spcAft>
                <a:spcPts val="1200"/>
              </a:spcAft>
              <a:buFont typeface="Arial" panose="020B0604020202020204" pitchFamily="34" charset="0"/>
              <a:buChar char="•"/>
            </a:pPr>
            <a:r>
              <a:rPr lang="en-US" sz="1200" dirty="0">
                <a:solidFill>
                  <a:schemeClr val="accent1">
                    <a:lumMod val="75000"/>
                  </a:schemeClr>
                </a:solidFill>
              </a:rPr>
              <a:t>Representational similarity analysis did not show significant multivariate patterns, potentially need alternative multivariate approaches (e.g., MVPA)</a:t>
            </a:r>
          </a:p>
          <a:p>
            <a:pPr marL="457200" indent="-457200">
              <a:spcAft>
                <a:spcPts val="1200"/>
              </a:spcAft>
              <a:buFont typeface="Arial" panose="020B0604020202020204" pitchFamily="34" charset="0"/>
              <a:buChar char="•"/>
            </a:pPr>
            <a:r>
              <a:rPr lang="en-US" sz="1200" dirty="0">
                <a:solidFill>
                  <a:schemeClr val="accent1">
                    <a:lumMod val="75000"/>
                  </a:schemeClr>
                </a:solidFill>
              </a:rPr>
              <a:t>Future work should disentangle the concurrent regulation of stability and flexibility in </a:t>
            </a:r>
            <a:r>
              <a:rPr lang="en-US" sz="1200" dirty="0" err="1">
                <a:solidFill>
                  <a:schemeClr val="accent1">
                    <a:lumMod val="75000"/>
                  </a:schemeClr>
                </a:solidFill>
              </a:rPr>
              <a:t>vlPFC</a:t>
            </a:r>
            <a:r>
              <a:rPr lang="en-US" sz="1200" dirty="0">
                <a:solidFill>
                  <a:schemeClr val="accent1">
                    <a:lumMod val="75000"/>
                  </a:schemeClr>
                </a:solidFill>
              </a:rPr>
              <a:t>/</a:t>
            </a:r>
            <a:r>
              <a:rPr lang="en-US" sz="1200" dirty="0" err="1">
                <a:solidFill>
                  <a:schemeClr val="accent1">
                    <a:lumMod val="75000"/>
                  </a:schemeClr>
                </a:solidFill>
              </a:rPr>
              <a:t>dlPFC</a:t>
            </a:r>
            <a:endParaRPr lang="en-US" sz="1200" dirty="0">
              <a:solidFill>
                <a:schemeClr val="accent1">
                  <a:lumMod val="75000"/>
                </a:schemeClr>
              </a:solidFill>
            </a:endParaRPr>
          </a:p>
          <a:p>
            <a:pPr marL="457200" indent="-457200">
              <a:spcAft>
                <a:spcPts val="1200"/>
              </a:spcAft>
              <a:buFont typeface="Arial" panose="020B0604020202020204" pitchFamily="34" charset="0"/>
              <a:buChar char="•"/>
            </a:pPr>
            <a:endParaRPr lang="en-US" sz="1200" dirty="0">
              <a:solidFill>
                <a:schemeClr val="accent1">
                  <a:lumMod val="75000"/>
                </a:schemeClr>
              </a:solidFill>
            </a:endParaRPr>
          </a:p>
          <a:p>
            <a:pPr marL="0" indent="0">
              <a:spcAft>
                <a:spcPts val="1200"/>
              </a:spcAft>
              <a:buFont typeface="Arial" panose="020B0604020202020204" pitchFamily="34" charset="0"/>
              <a:buNone/>
            </a:pPr>
            <a:r>
              <a:rPr lang="en-US" sz="1200" dirty="0">
                <a:solidFill>
                  <a:schemeClr val="accent1">
                    <a:lumMod val="75000"/>
                  </a:schemeClr>
                </a:solidFill>
              </a:rPr>
              <a:t>From </a:t>
            </a:r>
            <a:r>
              <a:rPr lang="en-US" sz="1200" dirty="0" err="1">
                <a:solidFill>
                  <a:schemeClr val="accent1">
                    <a:lumMod val="75000"/>
                  </a:schemeClr>
                </a:solidFill>
              </a:rPr>
              <a:t>sfn</a:t>
            </a:r>
            <a:r>
              <a:rPr lang="en-US" sz="1200" dirty="0">
                <a:solidFill>
                  <a:schemeClr val="accent1">
                    <a:lumMod val="75000"/>
                  </a:schemeClr>
                </a:solidFill>
              </a:rPr>
              <a:t> 2024</a:t>
            </a:r>
          </a:p>
          <a:p>
            <a:pPr marL="457200" indent="-457200">
              <a:spcAft>
                <a:spcPts val="1200"/>
              </a:spcAft>
              <a:buFont typeface="Arial" panose="020B0604020202020204" pitchFamily="34" charset="0"/>
              <a:buChar char="•"/>
            </a:pPr>
            <a:r>
              <a:rPr lang="en-US" sz="1200" dirty="0">
                <a:solidFill>
                  <a:schemeClr val="accent1">
                    <a:lumMod val="75000"/>
                  </a:schemeClr>
                </a:solidFill>
              </a:rPr>
              <a:t>We detected both congruency sensitive sites and switch type sensitive sites, and these sites were spatially interspersed.</a:t>
            </a:r>
          </a:p>
          <a:p>
            <a:pPr marL="457200" indent="-457200">
              <a:spcAft>
                <a:spcPts val="1200"/>
              </a:spcAft>
              <a:buFont typeface="Arial" panose="020B0604020202020204" pitchFamily="34" charset="0"/>
              <a:buChar char="•"/>
            </a:pPr>
            <a:r>
              <a:rPr lang="en-US" sz="1200" dirty="0">
                <a:solidFill>
                  <a:schemeClr val="accent1">
                    <a:lumMod val="75000"/>
                  </a:schemeClr>
                </a:solidFill>
              </a:rPr>
              <a:t>There are both distinct and overlapping/interactive effects of stability and flexibility detectable at the level of mesoscale neural recordings in LPFC.</a:t>
            </a:r>
          </a:p>
          <a:p>
            <a:pPr marL="457200" indent="-457200">
              <a:spcAft>
                <a:spcPts val="1200"/>
              </a:spcAft>
              <a:buFont typeface="Arial" panose="020B0604020202020204" pitchFamily="34" charset="0"/>
              <a:buChar char="•"/>
            </a:pPr>
            <a:r>
              <a:rPr lang="en-US" sz="1200" dirty="0">
                <a:solidFill>
                  <a:schemeClr val="accent1">
                    <a:lumMod val="75000"/>
                  </a:schemeClr>
                </a:solidFill>
              </a:rPr>
              <a:t>More demanding trial conditions (incongruent, switch) induced greater activity in LPFC electrodes sensitive to those conditions</a:t>
            </a:r>
          </a:p>
          <a:p>
            <a:pPr marL="457200" indent="-457200">
              <a:spcAft>
                <a:spcPts val="1200"/>
              </a:spcAft>
              <a:buFont typeface="Arial" panose="020B0604020202020204" pitchFamily="34" charset="0"/>
              <a:buChar char="•"/>
            </a:pPr>
            <a:r>
              <a:rPr lang="en-US" sz="1200" dirty="0">
                <a:solidFill>
                  <a:schemeClr val="accent1">
                    <a:lumMod val="75000"/>
                  </a:schemeClr>
                </a:solidFill>
              </a:rPr>
              <a:t>Future analyses will investigate how stability and flexibility are regulated through block proportion manipulations</a:t>
            </a:r>
          </a:p>
          <a:p>
            <a:pPr marL="457200" indent="-457200">
              <a:spcAft>
                <a:spcPts val="1200"/>
              </a:spcAft>
              <a:buFont typeface="Arial" panose="020B0604020202020204" pitchFamily="34" charset="0"/>
              <a:buChar char="•"/>
            </a:pPr>
            <a:r>
              <a:rPr lang="en-US" sz="1200" dirty="0">
                <a:solidFill>
                  <a:schemeClr val="accent1">
                    <a:lumMod val="75000"/>
                  </a:schemeClr>
                </a:solidFill>
              </a:rPr>
              <a:t>Future work will also investigate the temporal differences between conditions</a:t>
            </a:r>
          </a:p>
          <a:p>
            <a:pPr>
              <a:spcAft>
                <a:spcPts val="1200"/>
              </a:spcAft>
            </a:pPr>
            <a:endParaRPr lang="en-US" sz="1200" dirty="0">
              <a:solidFill>
                <a:schemeClr val="accent1">
                  <a:lumMod val="75000"/>
                </a:schemeClr>
              </a:solidFill>
            </a:endParaRPr>
          </a:p>
          <a:p>
            <a:pPr marL="0" indent="0">
              <a:spcAft>
                <a:spcPts val="1200"/>
              </a:spcAft>
              <a:buFont typeface="Arial" panose="020B0604020202020204" pitchFamily="34" charset="0"/>
              <a:buNone/>
            </a:pPr>
            <a:endParaRPr lang="en-US" sz="1200" dirty="0">
              <a:solidFill>
                <a:schemeClr val="accent1">
                  <a:lumMod val="75000"/>
                </a:schemeClr>
              </a:solidFill>
            </a:endParaRPr>
          </a:p>
          <a:p>
            <a:pPr marL="457200" indent="-457200">
              <a:spcAft>
                <a:spcPts val="1200"/>
              </a:spcAft>
              <a:buFont typeface="Arial" panose="020B0604020202020204" pitchFamily="34" charset="0"/>
              <a:buChar char="•"/>
            </a:pPr>
            <a:endParaRPr lang="en-US" sz="1200" dirty="0">
              <a:solidFill>
                <a:schemeClr val="accent1">
                  <a:lumMod val="75000"/>
                </a:schemeClr>
              </a:solidFill>
            </a:endParaRPr>
          </a:p>
          <a:p>
            <a:endParaRPr lang="en-US" dirty="0"/>
          </a:p>
          <a:p>
            <a:endParaRPr lang="en-US" dirty="0"/>
          </a:p>
          <a:p>
            <a:r>
              <a:rPr lang="en-US" dirty="0"/>
              <a:t>No this sucks fix this.</a:t>
            </a:r>
          </a:p>
          <a:p>
            <a:endParaRPr lang="en-US" dirty="0"/>
          </a:p>
          <a:p>
            <a:r>
              <a:rPr lang="en-US" dirty="0"/>
              <a:t>So, there is a vast ocean of of neural analyses we could do next, but we’ve started by first creating general linear models with our fMRI data to find activation differences between our main effects, so incongruent vs. congruent trials, as well as switch vs. repeat trials. Then, we’ll also look at interaction effects, such as the differences between the switch costs in high and low switch proportion blocks, and the congruency effects in high and low congruency proportion blocks.</a:t>
            </a:r>
          </a:p>
          <a:p>
            <a:endParaRPr lang="en-US" dirty="0"/>
          </a:p>
          <a:p>
            <a:r>
              <a:rPr lang="en-US" dirty="0"/>
              <a:t>On the </a:t>
            </a:r>
            <a:r>
              <a:rPr lang="en-US" dirty="0" err="1"/>
              <a:t>iEEG</a:t>
            </a:r>
            <a:r>
              <a:rPr lang="en-US" dirty="0"/>
              <a:t> side, we’re currently looking at our </a:t>
            </a:r>
            <a:r>
              <a:rPr lang="en-US" dirty="0" err="1"/>
              <a:t>iEEG</a:t>
            </a:r>
            <a:r>
              <a:rPr lang="en-US" dirty="0"/>
              <a:t> data to determine the within-trial timing differences between our different conditions, such as when incongruent and congruent stimuli can be differentiated.</a:t>
            </a:r>
          </a:p>
          <a:p>
            <a:endParaRPr lang="en-US" dirty="0"/>
          </a:p>
          <a:p>
            <a:r>
              <a:rPr lang="en-US" dirty="0"/>
              <a:t>To compare across both methods, we’ll conduct representational similarity analyses in which we’ll make matrices of how dissimilar the activity caused by each of our trial types are.</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Generalizability of decoders - (train on switch/repeat, test on incongruent/congruent)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b="1" strike="noStrike" dirty="0">
              <a:effectLst/>
            </a:endParaRPr>
          </a:p>
          <a:p>
            <a:endParaRPr lang="en-US" b="1" strike="noStrike" dirty="0">
              <a:effectLst/>
            </a:endParaRPr>
          </a:p>
          <a:p>
            <a:endParaRPr lang="en-US" b="1" strike="noStrike" dirty="0">
              <a:effectLst/>
            </a:endParaRPr>
          </a:p>
          <a:p>
            <a:endParaRPr lang="en-US" b="1" strike="noStrike" dirty="0">
              <a:effectLst/>
            </a:endParaRPr>
          </a:p>
          <a:p>
            <a:endParaRPr lang="en-US" b="1" strike="noStrike" dirty="0">
              <a:effectLst/>
            </a:endParaRPr>
          </a:p>
          <a:p>
            <a:endParaRPr lang="en-US" b="1" strike="noStrike" dirty="0"/>
          </a:p>
        </p:txBody>
      </p:sp>
      <p:sp>
        <p:nvSpPr>
          <p:cNvPr id="4" name="Slide Number Placeholder 3"/>
          <p:cNvSpPr>
            <a:spLocks noGrp="1"/>
          </p:cNvSpPr>
          <p:nvPr>
            <p:ph type="sldNum" sz="quarter" idx="5"/>
          </p:nvPr>
        </p:nvSpPr>
        <p:spPr/>
        <p:txBody>
          <a:bodyPr/>
          <a:lstStyle/>
          <a:p>
            <a:fld id="{35723C0D-A671-FF46-996B-A5611795C643}" type="slidenum">
              <a:rPr lang="en-US" smtClean="0"/>
              <a:t>27</a:t>
            </a:fld>
            <a:endParaRPr lang="en-US"/>
          </a:p>
        </p:txBody>
      </p:sp>
    </p:spTree>
    <p:extLst>
      <p:ext uri="{BB962C8B-B14F-4D97-AF65-F5344CB8AC3E}">
        <p14:creationId xmlns:p14="http://schemas.microsoft.com/office/powerpoint/2010/main" val="3175639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preliminarily, we see that the LPFC seems to mediate both stability and flexibility, but independently, while the medial frontal cortex seems to uniquely mediate flexibility. There are no cross-domain effects, suggesting that stability and flexibility are independently regulated in the brain, mirroring our behavioral results. Thus, they seem to rely on similar regions but are independently adapted for in the brain.</a:t>
            </a:r>
          </a:p>
          <a:p>
            <a:endParaRPr lang="en-US" dirty="0"/>
          </a:p>
          <a:p>
            <a:r>
              <a:rPr lang="en-US" dirty="0"/>
              <a:t>Interestingly, when we use the high spatial resolution of </a:t>
            </a:r>
            <a:r>
              <a:rPr lang="en-US" dirty="0" err="1"/>
              <a:t>iEEG</a:t>
            </a:r>
            <a:r>
              <a:rPr lang="en-US" dirty="0"/>
              <a:t> to look more closely at the LPFC, we see that some sites are uniquely sensitive to one process, while others are sensitive to both. There may be some neuronal populations that uniquely mediate one process, while other neuronal populations mediate both in a multiplexed manner.</a:t>
            </a:r>
          </a:p>
          <a:p>
            <a:endParaRPr lang="en-US" dirty="0"/>
          </a:p>
          <a:p>
            <a:endParaRPr lang="en-US" dirty="0"/>
          </a:p>
          <a:p>
            <a:endParaRPr lang="en-US" dirty="0"/>
          </a:p>
          <a:p>
            <a:r>
              <a:rPr lang="en-US" dirty="0"/>
              <a:t>talk more about </a:t>
            </a:r>
            <a:r>
              <a:rPr lang="en-US" dirty="0" err="1"/>
              <a:t>fmri</a:t>
            </a:r>
            <a:r>
              <a:rPr lang="en-US" dirty="0"/>
              <a:t> blobs</a:t>
            </a:r>
          </a:p>
          <a:p>
            <a:endParaRPr lang="en-US" dirty="0"/>
          </a:p>
          <a:p>
            <a:endParaRPr lang="en-US" dirty="0"/>
          </a:p>
          <a:p>
            <a:endParaRPr lang="en-US" dirty="0"/>
          </a:p>
          <a:p>
            <a:endParaRPr lang="en-US" dirty="0"/>
          </a:p>
          <a:p>
            <a:endParaRPr lang="en-US" dirty="0"/>
          </a:p>
          <a:p>
            <a:r>
              <a:rPr lang="en-US" dirty="0"/>
              <a:t>Ugh this sucks fix this!!! 4/30</a:t>
            </a:r>
          </a:p>
          <a:p>
            <a:endParaRPr lang="en-US" dirty="0"/>
          </a:p>
          <a:p>
            <a:r>
              <a:rPr lang="en-US" dirty="0"/>
              <a:t>From </a:t>
            </a:r>
            <a:r>
              <a:rPr lang="en-US" dirty="0" err="1"/>
              <a:t>cns</a:t>
            </a:r>
            <a:r>
              <a:rPr lang="en-US" dirty="0"/>
              <a:t> 2025</a:t>
            </a:r>
          </a:p>
          <a:p>
            <a:pPr marL="457200" indent="-457200">
              <a:spcAft>
                <a:spcPts val="1200"/>
              </a:spcAft>
              <a:buFont typeface="Arial" panose="020B0604020202020204" pitchFamily="34" charset="0"/>
              <a:buChar char="•"/>
            </a:pPr>
            <a:r>
              <a:rPr lang="en-US" sz="1200" dirty="0">
                <a:solidFill>
                  <a:schemeClr val="accent1">
                    <a:lumMod val="75000"/>
                  </a:schemeClr>
                </a:solidFill>
              </a:rPr>
              <a:t>ACC uniquely sensitive to flexibility demands, while </a:t>
            </a:r>
            <a:r>
              <a:rPr lang="en-US" sz="1200" dirty="0" err="1">
                <a:solidFill>
                  <a:schemeClr val="accent1">
                    <a:lumMod val="75000"/>
                  </a:schemeClr>
                </a:solidFill>
              </a:rPr>
              <a:t>vlPFC</a:t>
            </a:r>
            <a:r>
              <a:rPr lang="en-US" sz="1200" dirty="0">
                <a:solidFill>
                  <a:schemeClr val="accent1">
                    <a:lumMod val="75000"/>
                  </a:schemeClr>
                </a:solidFill>
              </a:rPr>
              <a:t> and </a:t>
            </a:r>
            <a:r>
              <a:rPr lang="en-US" sz="1200" dirty="0" err="1">
                <a:solidFill>
                  <a:schemeClr val="accent1">
                    <a:lumMod val="75000"/>
                  </a:schemeClr>
                </a:solidFill>
              </a:rPr>
              <a:t>dlPFC</a:t>
            </a:r>
            <a:r>
              <a:rPr lang="en-US" sz="1200" dirty="0">
                <a:solidFill>
                  <a:schemeClr val="accent1">
                    <a:lumMod val="75000"/>
                  </a:schemeClr>
                </a:solidFill>
              </a:rPr>
              <a:t> show sensitivity to both stability and flexibility demands</a:t>
            </a:r>
          </a:p>
          <a:p>
            <a:pPr marL="457200" indent="-457200">
              <a:spcAft>
                <a:spcPts val="1200"/>
              </a:spcAft>
              <a:buFont typeface="Arial" panose="020B0604020202020204" pitchFamily="34" charset="0"/>
              <a:buChar char="•"/>
            </a:pPr>
            <a:r>
              <a:rPr lang="en-US" sz="1200" dirty="0" err="1">
                <a:solidFill>
                  <a:schemeClr val="accent1">
                    <a:lumMod val="75000"/>
                  </a:schemeClr>
                </a:solidFill>
              </a:rPr>
              <a:t>vlPFC</a:t>
            </a:r>
            <a:r>
              <a:rPr lang="en-US" sz="1200" dirty="0">
                <a:solidFill>
                  <a:schemeClr val="accent1">
                    <a:lumMod val="75000"/>
                  </a:schemeClr>
                </a:solidFill>
              </a:rPr>
              <a:t>/</a:t>
            </a:r>
            <a:r>
              <a:rPr lang="en-US" sz="1200" dirty="0" err="1">
                <a:solidFill>
                  <a:schemeClr val="accent1">
                    <a:lumMod val="75000"/>
                  </a:schemeClr>
                </a:solidFill>
              </a:rPr>
              <a:t>dlPFC</a:t>
            </a:r>
            <a:r>
              <a:rPr lang="en-US" sz="1200" dirty="0">
                <a:solidFill>
                  <a:schemeClr val="accent1">
                    <a:lumMod val="75000"/>
                  </a:schemeClr>
                </a:solidFill>
              </a:rPr>
              <a:t> results confirm overlapping neural substrates for stability and flexibility but show independent regulation of these processes</a:t>
            </a:r>
          </a:p>
          <a:p>
            <a:pPr marL="457200" indent="-457200">
              <a:spcAft>
                <a:spcPts val="1200"/>
              </a:spcAft>
              <a:buFont typeface="Arial" panose="020B0604020202020204" pitchFamily="34" charset="0"/>
              <a:buChar char="•"/>
            </a:pPr>
            <a:r>
              <a:rPr lang="en-US" sz="1200" dirty="0">
                <a:solidFill>
                  <a:schemeClr val="accent1">
                    <a:lumMod val="75000"/>
                  </a:schemeClr>
                </a:solidFill>
              </a:rPr>
              <a:t>Absence of cross-domain effects suggests independence in how stability and flexibility are regulated </a:t>
            </a:r>
            <a:r>
              <a:rPr lang="en-US" sz="1200" dirty="0" err="1">
                <a:solidFill>
                  <a:schemeClr val="accent1">
                    <a:lumMod val="75000"/>
                  </a:schemeClr>
                </a:solidFill>
              </a:rPr>
              <a:t>neurally</a:t>
            </a:r>
            <a:r>
              <a:rPr lang="en-US" sz="1200" dirty="0">
                <a:solidFill>
                  <a:schemeClr val="accent1">
                    <a:lumMod val="75000"/>
                  </a:schemeClr>
                </a:solidFill>
              </a:rPr>
              <a:t>, mirroring behavior</a:t>
            </a:r>
          </a:p>
          <a:p>
            <a:pPr marL="457200" indent="-457200">
              <a:spcAft>
                <a:spcPts val="1200"/>
              </a:spcAft>
              <a:buFont typeface="Arial" panose="020B0604020202020204" pitchFamily="34" charset="0"/>
              <a:buChar char="•"/>
            </a:pPr>
            <a:r>
              <a:rPr lang="en-US" sz="1200" dirty="0">
                <a:solidFill>
                  <a:schemeClr val="accent1">
                    <a:lumMod val="75000"/>
                  </a:schemeClr>
                </a:solidFill>
              </a:rPr>
              <a:t>Our findings suggest cognitive stability and flexibility rely on partially dissociable neural pathways, with ACC specifically supporting flexibility while </a:t>
            </a:r>
            <a:r>
              <a:rPr lang="en-US" sz="1200" dirty="0" err="1">
                <a:solidFill>
                  <a:schemeClr val="accent1">
                    <a:lumMod val="75000"/>
                  </a:schemeClr>
                </a:solidFill>
              </a:rPr>
              <a:t>vlPFC</a:t>
            </a:r>
            <a:r>
              <a:rPr lang="en-US" sz="1200" dirty="0">
                <a:solidFill>
                  <a:schemeClr val="accent1">
                    <a:lumMod val="75000"/>
                  </a:schemeClr>
                </a:solidFill>
              </a:rPr>
              <a:t> and </a:t>
            </a:r>
            <a:r>
              <a:rPr lang="en-US" sz="1200" dirty="0" err="1">
                <a:solidFill>
                  <a:schemeClr val="accent1">
                    <a:lumMod val="75000"/>
                  </a:schemeClr>
                </a:solidFill>
              </a:rPr>
              <a:t>dlPFC</a:t>
            </a:r>
            <a:r>
              <a:rPr lang="en-US" sz="1200" dirty="0">
                <a:solidFill>
                  <a:schemeClr val="accent1">
                    <a:lumMod val="75000"/>
                  </a:schemeClr>
                </a:solidFill>
              </a:rPr>
              <a:t> seem to support both control processes.</a:t>
            </a:r>
          </a:p>
          <a:p>
            <a:pPr marL="457200" indent="-457200">
              <a:spcAft>
                <a:spcPts val="1200"/>
              </a:spcAft>
              <a:buFont typeface="Arial" panose="020B0604020202020204" pitchFamily="34" charset="0"/>
              <a:buChar char="•"/>
            </a:pPr>
            <a:r>
              <a:rPr lang="en-US" sz="1200" dirty="0">
                <a:solidFill>
                  <a:schemeClr val="accent1">
                    <a:lumMod val="75000"/>
                  </a:schemeClr>
                </a:solidFill>
              </a:rPr>
              <a:t>This functional specialization could help explain how the brain manages concurrent demands on task focus and task switching.</a:t>
            </a:r>
          </a:p>
          <a:p>
            <a:endParaRPr lang="en-US" dirty="0"/>
          </a:p>
          <a:p>
            <a:endParaRPr lang="en-US" dirty="0"/>
          </a:p>
          <a:p>
            <a:r>
              <a:rPr lang="en-US" dirty="0"/>
              <a:t>From </a:t>
            </a:r>
            <a:r>
              <a:rPr lang="en-US" dirty="0" err="1"/>
              <a:t>sfn</a:t>
            </a:r>
            <a:r>
              <a:rPr lang="en-US" dirty="0"/>
              <a:t> 2024</a:t>
            </a:r>
          </a:p>
          <a:p>
            <a:pPr marL="457200" indent="-457200">
              <a:spcAft>
                <a:spcPts val="1200"/>
              </a:spcAft>
              <a:buFont typeface="Arial" panose="020B0604020202020204" pitchFamily="34" charset="0"/>
              <a:buChar char="•"/>
            </a:pPr>
            <a:r>
              <a:rPr lang="en-US" sz="1200" dirty="0">
                <a:solidFill>
                  <a:schemeClr val="accent1">
                    <a:lumMod val="75000"/>
                  </a:schemeClr>
                </a:solidFill>
              </a:rPr>
              <a:t>We detected both congruency sensitive sites and switch type sensitive sites, and these sites were spatially interspersed.</a:t>
            </a:r>
          </a:p>
          <a:p>
            <a:pPr marL="457200" indent="-457200">
              <a:spcAft>
                <a:spcPts val="1200"/>
              </a:spcAft>
              <a:buFont typeface="Arial" panose="020B0604020202020204" pitchFamily="34" charset="0"/>
              <a:buChar char="•"/>
            </a:pPr>
            <a:r>
              <a:rPr lang="en-US" sz="1200" dirty="0">
                <a:solidFill>
                  <a:schemeClr val="accent1">
                    <a:lumMod val="75000"/>
                  </a:schemeClr>
                </a:solidFill>
              </a:rPr>
              <a:t>There are both distinct and overlapping/interactive effects of stability and flexibility detectable at the level of mesoscale neural recordings in LPFC.</a:t>
            </a:r>
          </a:p>
          <a:p>
            <a:pPr marL="457200" indent="-457200">
              <a:spcAft>
                <a:spcPts val="1200"/>
              </a:spcAft>
              <a:buFont typeface="Arial" panose="020B0604020202020204" pitchFamily="34" charset="0"/>
              <a:buChar char="•"/>
            </a:pPr>
            <a:r>
              <a:rPr lang="en-US" sz="1200" dirty="0">
                <a:solidFill>
                  <a:schemeClr val="accent1">
                    <a:lumMod val="75000"/>
                  </a:schemeClr>
                </a:solidFill>
              </a:rPr>
              <a:t>More demanding trial conditions (incongruent, switch) induced greater activity in LPFC electrodes sensitive to those conditions</a:t>
            </a:r>
          </a:p>
          <a:p>
            <a:pPr marL="457200" indent="-457200">
              <a:spcAft>
                <a:spcPts val="1200"/>
              </a:spcAft>
              <a:buFont typeface="Arial" panose="020B0604020202020204" pitchFamily="34" charset="0"/>
              <a:buChar char="•"/>
            </a:pPr>
            <a:r>
              <a:rPr lang="en-US" sz="1200" dirty="0">
                <a:solidFill>
                  <a:schemeClr val="accent1">
                    <a:lumMod val="75000"/>
                  </a:schemeClr>
                </a:solidFill>
              </a:rPr>
              <a:t>Future analyses will investigate how stability and flexibility are regulated through block proportion manipulations</a:t>
            </a:r>
          </a:p>
          <a:p>
            <a:pPr marL="457200" indent="-457200">
              <a:spcAft>
                <a:spcPts val="1200"/>
              </a:spcAft>
              <a:buFont typeface="Arial" panose="020B0604020202020204" pitchFamily="34" charset="0"/>
              <a:buChar char="•"/>
            </a:pPr>
            <a:r>
              <a:rPr lang="en-US" sz="1200" dirty="0">
                <a:solidFill>
                  <a:schemeClr val="accent1">
                    <a:lumMod val="75000"/>
                  </a:schemeClr>
                </a:solidFill>
              </a:rPr>
              <a:t>Future work will also investigate the temporal differences between conditions</a:t>
            </a:r>
          </a:p>
          <a:p>
            <a:pPr>
              <a:spcAft>
                <a:spcPts val="1200"/>
              </a:spcAft>
            </a:pPr>
            <a:endParaRPr lang="en-US" sz="1200" dirty="0">
              <a:solidFill>
                <a:schemeClr val="accent1">
                  <a:lumMod val="75000"/>
                </a:schemeClr>
              </a:solidFill>
            </a:endParaRPr>
          </a:p>
          <a:p>
            <a:endParaRPr lang="en-US" dirty="0"/>
          </a:p>
          <a:p>
            <a:r>
              <a:rPr lang="en-US" dirty="0"/>
              <a:t>In conclusion, we’ve made a task design in which we can measure stability and flexibility at the same time, and our preliminary behavioral results match the literature. We’re still collecting data, with the goal of determining how the brain concurrently regulates stability and flexibility.</a:t>
            </a:r>
          </a:p>
        </p:txBody>
      </p:sp>
      <p:sp>
        <p:nvSpPr>
          <p:cNvPr id="4" name="Slide Number Placeholder 3"/>
          <p:cNvSpPr>
            <a:spLocks noGrp="1"/>
          </p:cNvSpPr>
          <p:nvPr>
            <p:ph type="sldNum" sz="quarter" idx="5"/>
          </p:nvPr>
        </p:nvSpPr>
        <p:spPr/>
        <p:txBody>
          <a:bodyPr/>
          <a:lstStyle/>
          <a:p>
            <a:fld id="{35723C0D-A671-FF46-996B-A5611795C643}" type="slidenum">
              <a:rPr lang="en-US" smtClean="0"/>
              <a:t>28</a:t>
            </a:fld>
            <a:endParaRPr lang="en-US"/>
          </a:p>
        </p:txBody>
      </p:sp>
    </p:spTree>
    <p:extLst>
      <p:ext uri="{BB962C8B-B14F-4D97-AF65-F5344CB8AC3E}">
        <p14:creationId xmlns:p14="http://schemas.microsoft.com/office/powerpoint/2010/main" val="681550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723C0D-A671-FF46-996B-A5611795C643}" type="slidenum">
              <a:rPr lang="en-US" smtClean="0"/>
              <a:t>29</a:t>
            </a:fld>
            <a:endParaRPr lang="en-US"/>
          </a:p>
        </p:txBody>
      </p:sp>
    </p:spTree>
    <p:extLst>
      <p:ext uri="{BB962C8B-B14F-4D97-AF65-F5344CB8AC3E}">
        <p14:creationId xmlns:p14="http://schemas.microsoft.com/office/powerpoint/2010/main" val="39646586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t>We have also begun doing multivariate decoding analyses, to see if there are activity-silent differences between stability and flexibility.</a:t>
            </a:r>
          </a:p>
          <a:p>
            <a:endParaRPr lang="en-US" sz="1200" b="0" dirty="0"/>
          </a:p>
          <a:p>
            <a:endParaRPr lang="en-US" sz="1200" b="0" dirty="0"/>
          </a:p>
          <a:p>
            <a:endParaRPr lang="en-US" sz="1200" b="0" dirty="0"/>
          </a:p>
          <a:p>
            <a:endParaRPr lang="en-US" sz="1200" b="0" dirty="0"/>
          </a:p>
          <a:p>
            <a:endParaRPr lang="en-US" sz="1200" b="0" dirty="0"/>
          </a:p>
          <a:p>
            <a:endParaRPr lang="en-US" sz="1200" b="0" dirty="0"/>
          </a:p>
          <a:p>
            <a:endParaRPr lang="en-US" sz="1200" b="0" dirty="0"/>
          </a:p>
          <a:p>
            <a:r>
              <a:rPr lang="en-US" sz="1200" b="0" dirty="0"/>
              <a:t>PCA-LDA decoder from HG signals across all task-sensitive LPFC electrodes</a:t>
            </a:r>
          </a:p>
          <a:p>
            <a:r>
              <a:rPr lang="en-US" sz="1200" b="0" dirty="0"/>
              <a:t>PCA – 80% variance explained</a:t>
            </a:r>
          </a:p>
          <a:p>
            <a:r>
              <a:rPr lang="en-US" sz="1200" b="0" dirty="0"/>
              <a:t>2-way decoder (switch, repeat)</a:t>
            </a:r>
          </a:p>
          <a:p>
            <a:r>
              <a:rPr lang="en-US" sz="1200" b="0" dirty="0"/>
              <a:t>5 fold cross validation, 10 repeats</a:t>
            </a:r>
          </a:p>
          <a:p>
            <a:r>
              <a:rPr lang="en-US" sz="1200" b="0" dirty="0"/>
              <a:t>LPFC task-sensitive electrodes successfully decode switch type: mean decoding = 67.4%, chance = 50%</a:t>
            </a:r>
          </a:p>
          <a:p>
            <a:endParaRPr lang="en-US" sz="1200" b="0" dirty="0"/>
          </a:p>
          <a:p>
            <a:endParaRPr lang="en-US" dirty="0"/>
          </a:p>
        </p:txBody>
      </p:sp>
      <p:sp>
        <p:nvSpPr>
          <p:cNvPr id="4" name="Slide Number Placeholder 3"/>
          <p:cNvSpPr>
            <a:spLocks noGrp="1"/>
          </p:cNvSpPr>
          <p:nvPr>
            <p:ph type="sldNum" sz="quarter" idx="5"/>
          </p:nvPr>
        </p:nvSpPr>
        <p:spPr/>
        <p:txBody>
          <a:bodyPr/>
          <a:lstStyle/>
          <a:p>
            <a:fld id="{35723C0D-A671-FF46-996B-A5611795C643}" type="slidenum">
              <a:rPr lang="en-US" smtClean="0"/>
              <a:t>30</a:t>
            </a:fld>
            <a:endParaRPr lang="en-US"/>
          </a:p>
        </p:txBody>
      </p:sp>
    </p:spTree>
    <p:extLst>
      <p:ext uri="{BB962C8B-B14F-4D97-AF65-F5344CB8AC3E}">
        <p14:creationId xmlns:p14="http://schemas.microsoft.com/office/powerpoint/2010/main" val="4659141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723C0D-A671-FF46-996B-A5611795C643}" type="slidenum">
              <a:rPr lang="en-US" smtClean="0"/>
              <a:t>31</a:t>
            </a:fld>
            <a:endParaRPr lang="en-US"/>
          </a:p>
        </p:txBody>
      </p:sp>
    </p:spTree>
    <p:extLst>
      <p:ext uri="{BB962C8B-B14F-4D97-AF65-F5344CB8AC3E}">
        <p14:creationId xmlns:p14="http://schemas.microsoft.com/office/powerpoint/2010/main" val="41647333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We have also begun doing multivariate decoding analyses, to see if there are activity-silent differences between stability and flexibility.</a:t>
            </a:r>
          </a:p>
          <a:p>
            <a:endParaRPr lang="en-US" dirty="0"/>
          </a:p>
        </p:txBody>
      </p:sp>
      <p:sp>
        <p:nvSpPr>
          <p:cNvPr id="4" name="Slide Number Placeholder 3"/>
          <p:cNvSpPr>
            <a:spLocks noGrp="1"/>
          </p:cNvSpPr>
          <p:nvPr>
            <p:ph type="sldNum" sz="quarter" idx="5"/>
          </p:nvPr>
        </p:nvSpPr>
        <p:spPr/>
        <p:txBody>
          <a:bodyPr/>
          <a:lstStyle/>
          <a:p>
            <a:fld id="{35723C0D-A671-FF46-996B-A5611795C643}" type="slidenum">
              <a:rPr lang="en-US" smtClean="0"/>
              <a:t>33</a:t>
            </a:fld>
            <a:endParaRPr lang="en-US"/>
          </a:p>
        </p:txBody>
      </p:sp>
    </p:spTree>
    <p:extLst>
      <p:ext uri="{BB962C8B-B14F-4D97-AF65-F5344CB8AC3E}">
        <p14:creationId xmlns:p14="http://schemas.microsoft.com/office/powerpoint/2010/main" val="39901259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Should I even talk about this..??? </a:t>
            </a:r>
            <a:r>
              <a:rPr lang="en-US" dirty="0" err="1"/>
              <a:t>Kinda</a:t>
            </a:r>
            <a:r>
              <a:rPr lang="en-US" dirty="0"/>
              <a:t> long..</a:t>
            </a:r>
          </a:p>
        </p:txBody>
      </p:sp>
      <p:sp>
        <p:nvSpPr>
          <p:cNvPr id="4" name="Slide Number Placeholder 3"/>
          <p:cNvSpPr>
            <a:spLocks noGrp="1"/>
          </p:cNvSpPr>
          <p:nvPr>
            <p:ph type="sldNum" sz="quarter" idx="5"/>
          </p:nvPr>
        </p:nvSpPr>
        <p:spPr/>
        <p:txBody>
          <a:bodyPr/>
          <a:lstStyle/>
          <a:p>
            <a:fld id="{35723C0D-A671-FF46-996B-A5611795C643}" type="slidenum">
              <a:rPr lang="en-US" smtClean="0"/>
              <a:t>34</a:t>
            </a:fld>
            <a:endParaRPr lang="en-US"/>
          </a:p>
        </p:txBody>
      </p:sp>
    </p:spTree>
    <p:extLst>
      <p:ext uri="{BB962C8B-B14F-4D97-AF65-F5344CB8AC3E}">
        <p14:creationId xmlns:p14="http://schemas.microsoft.com/office/powerpoint/2010/main" val="32431608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Thus, we’ve shown that we can measure cognitive stability and flexibility using the congruency effect and the switch cost. We’ve also shown that both stability and flexibility are dynamically regulated through the </a:t>
            </a:r>
            <a:r>
              <a:rPr lang="en-US" dirty="0" err="1"/>
              <a:t>listwide</a:t>
            </a:r>
            <a:r>
              <a:rPr lang="en-US" dirty="0"/>
              <a:t> proportion congruent effect and the </a:t>
            </a:r>
            <a:r>
              <a:rPr lang="en-US" dirty="0" err="1"/>
              <a:t>listwide</a:t>
            </a:r>
            <a:r>
              <a:rPr lang="en-US" dirty="0"/>
              <a:t> proportion switch effect. But how does our brain adjust its levels of cognitive stability and flexibility? And what neural differences exist between states in which we are highly focused and/or flexible, and states in which we aren’t?</a:t>
            </a:r>
          </a:p>
        </p:txBody>
      </p:sp>
      <p:sp>
        <p:nvSpPr>
          <p:cNvPr id="4" name="Slide Number Placeholder 3"/>
          <p:cNvSpPr>
            <a:spLocks noGrp="1"/>
          </p:cNvSpPr>
          <p:nvPr>
            <p:ph type="sldNum" sz="quarter" idx="5"/>
          </p:nvPr>
        </p:nvSpPr>
        <p:spPr/>
        <p:txBody>
          <a:bodyPr/>
          <a:lstStyle/>
          <a:p>
            <a:fld id="{35723C0D-A671-FF46-996B-A5611795C643}" type="slidenum">
              <a:rPr lang="en-US" smtClean="0"/>
              <a:t>35</a:t>
            </a:fld>
            <a:endParaRPr lang="en-US"/>
          </a:p>
        </p:txBody>
      </p:sp>
    </p:spTree>
    <p:extLst>
      <p:ext uri="{BB962C8B-B14F-4D97-AF65-F5344CB8AC3E}">
        <p14:creationId xmlns:p14="http://schemas.microsoft.com/office/powerpoint/2010/main" val="4896153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People use the response time difference between incongruent and congruent trials to quantify stability. They call this difference the congruency effect.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congruency effect acts as an inverse measure of cognitive stability because as it gets larger, it indicates that people are getting more distracted by the incongruent trials and are thus in a less stable state.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p:txBody>
      </p:sp>
      <p:sp>
        <p:nvSpPr>
          <p:cNvPr id="4" name="Slide Number Placeholder 3"/>
          <p:cNvSpPr>
            <a:spLocks noGrp="1"/>
          </p:cNvSpPr>
          <p:nvPr>
            <p:ph type="sldNum" sz="quarter" idx="5"/>
          </p:nvPr>
        </p:nvSpPr>
        <p:spPr/>
        <p:txBody>
          <a:bodyPr/>
          <a:lstStyle/>
          <a:p>
            <a:fld id="{35723C0D-A671-FF46-996B-A5611795C643}" type="slidenum">
              <a:rPr lang="en-US" smtClean="0"/>
              <a:t>40</a:t>
            </a:fld>
            <a:endParaRPr lang="en-US"/>
          </a:p>
        </p:txBody>
      </p:sp>
    </p:spTree>
    <p:extLst>
      <p:ext uri="{BB962C8B-B14F-4D97-AF65-F5344CB8AC3E}">
        <p14:creationId xmlns:p14="http://schemas.microsoft.com/office/powerpoint/2010/main" val="16923975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people have also observed that the congruency effect is larger in mostly congruent blocks/items compared to mostly incongruent blocks/items.</a:t>
            </a:r>
          </a:p>
          <a:p>
            <a:endParaRPr lang="en-US" dirty="0"/>
          </a:p>
          <a:p>
            <a:r>
              <a:rPr lang="en-US" dirty="0"/>
              <a:t>This suggests that cognitive stability is dynamically regulated, and that we increase our stability when there’s a lot of incongruent trials that require more stability, and we become less stable when there’s a lot of congruent trials that require less stability,.</a:t>
            </a:r>
          </a:p>
          <a:p>
            <a:endParaRPr lang="en-US" dirty="0"/>
          </a:p>
          <a:p>
            <a:r>
              <a:rPr lang="en-US" dirty="0"/>
              <a:t>More incongruent more stability - like increasing our ability to focus when the café gets noisier, </a:t>
            </a:r>
          </a:p>
          <a:p>
            <a:r>
              <a:rPr lang="en-US" dirty="0"/>
              <a:t>More congruent less stability - which is like decreasing our ability to focus when the café gets quieter</a:t>
            </a:r>
          </a:p>
          <a:p>
            <a:endParaRPr lang="en-US" dirty="0"/>
          </a:p>
          <a:p>
            <a:endParaRPr lang="en-US" dirty="0"/>
          </a:p>
        </p:txBody>
      </p:sp>
      <p:sp>
        <p:nvSpPr>
          <p:cNvPr id="4" name="Slide Number Placeholder 3"/>
          <p:cNvSpPr>
            <a:spLocks noGrp="1"/>
          </p:cNvSpPr>
          <p:nvPr>
            <p:ph type="sldNum" sz="quarter" idx="5"/>
          </p:nvPr>
        </p:nvSpPr>
        <p:spPr/>
        <p:txBody>
          <a:bodyPr/>
          <a:lstStyle/>
          <a:p>
            <a:fld id="{35723C0D-A671-FF46-996B-A5611795C643}" type="slidenum">
              <a:rPr lang="en-US" smtClean="0"/>
              <a:t>41</a:t>
            </a:fld>
            <a:endParaRPr lang="en-US"/>
          </a:p>
        </p:txBody>
      </p:sp>
    </p:spTree>
    <p:extLst>
      <p:ext uri="{BB962C8B-B14F-4D97-AF65-F5344CB8AC3E}">
        <p14:creationId xmlns:p14="http://schemas.microsoft.com/office/powerpoint/2010/main" val="3224477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Okay so we have a way to measure stability , but what about flexibility?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Task switch trials are when the task switches from that of the previous trial, such as from odd/even to greater than or less than 5. Task repeat trials are when the task remains the same as that of the previous trial. We expect people to be slower on task switch trials relative to task repeat. To measure flexibility, we will use the response time difference between task switch and task repeat trials. We will call this difference the switch cost. The switch cost acts as an inverse measure of cognitive flexibility because as it gets larger, it indicates that people are less ready to switch, and are thus in a less flexible state.</a:t>
            </a:r>
          </a:p>
          <a:p>
            <a:endParaRPr lang="en-US" dirty="0"/>
          </a:p>
        </p:txBody>
      </p:sp>
      <p:sp>
        <p:nvSpPr>
          <p:cNvPr id="4" name="Slide Number Placeholder 3"/>
          <p:cNvSpPr>
            <a:spLocks noGrp="1"/>
          </p:cNvSpPr>
          <p:nvPr>
            <p:ph type="sldNum" sz="quarter" idx="5"/>
          </p:nvPr>
        </p:nvSpPr>
        <p:spPr/>
        <p:txBody>
          <a:bodyPr/>
          <a:lstStyle/>
          <a:p>
            <a:fld id="{35723C0D-A671-FF46-996B-A5611795C643}" type="slidenum">
              <a:rPr lang="en-US" smtClean="0"/>
              <a:t>42</a:t>
            </a:fld>
            <a:endParaRPr lang="en-US"/>
          </a:p>
        </p:txBody>
      </p:sp>
    </p:spTree>
    <p:extLst>
      <p:ext uri="{BB962C8B-B14F-4D97-AF65-F5344CB8AC3E}">
        <p14:creationId xmlns:p14="http://schemas.microsoft.com/office/powerpoint/2010/main" val="17579809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However, we also see that the switch cost is larger in mostly repeat blocks/items compared to mostly switch blocks/items. </a:t>
            </a:r>
          </a:p>
          <a:p>
            <a:endParaRPr lang="en-US" dirty="0"/>
          </a:p>
          <a:p>
            <a:r>
              <a:rPr lang="en-US" dirty="0"/>
              <a:t>This suggests that flexibility is also dynamically regulated, and we increase our flexibility when there’s a lot of switch trials that require more flexibility (this is like when we are switching between reading and checking our phone a lot in the café, so we expect to switch tasks and are more ready to do so) and become less flexible when there’s a lot of repeat trials that require less flexibility (this is like when our phone doesn’t buzz a lot in the cafe, so we just keep reading.)</a:t>
            </a:r>
          </a:p>
          <a:p>
            <a:endParaRPr lang="en-US" dirty="0"/>
          </a:p>
          <a:p>
            <a:endParaRPr lang="en-US" dirty="0"/>
          </a:p>
          <a:p>
            <a:endParaRPr lang="en-US" dirty="0"/>
          </a:p>
          <a:p>
            <a:r>
              <a:rPr lang="en-US" dirty="0"/>
              <a:t>Hmm oh I actually really like the way I went through this. Just go through it the same way but using my fMRI data.</a:t>
            </a:r>
          </a:p>
        </p:txBody>
      </p:sp>
      <p:sp>
        <p:nvSpPr>
          <p:cNvPr id="4" name="Slide Number Placeholder 3"/>
          <p:cNvSpPr>
            <a:spLocks noGrp="1"/>
          </p:cNvSpPr>
          <p:nvPr>
            <p:ph type="sldNum" sz="quarter" idx="5"/>
          </p:nvPr>
        </p:nvSpPr>
        <p:spPr/>
        <p:txBody>
          <a:bodyPr/>
          <a:lstStyle/>
          <a:p>
            <a:fld id="{35723C0D-A671-FF46-996B-A5611795C643}" type="slidenum">
              <a:rPr lang="en-US" smtClean="0"/>
              <a:t>43</a:t>
            </a:fld>
            <a:endParaRPr lang="en-US"/>
          </a:p>
        </p:txBody>
      </p:sp>
    </p:spTree>
    <p:extLst>
      <p:ext uri="{BB962C8B-B14F-4D97-AF65-F5344CB8AC3E}">
        <p14:creationId xmlns:p14="http://schemas.microsoft.com/office/powerpoint/2010/main" val="2770081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1C293-35B5-3467-3EEC-ED61210D16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717A879-00AC-9329-999D-E7D58BF026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1E59196-E195-69DD-9EF5-4FC0757FA8FD}"/>
              </a:ext>
            </a:extLst>
          </p:cNvPr>
          <p:cNvSpPr>
            <a:spLocks noGrp="1"/>
          </p:cNvSpPr>
          <p:nvPr>
            <p:ph type="dt" sz="half" idx="10"/>
          </p:nvPr>
        </p:nvSpPr>
        <p:spPr/>
        <p:txBody>
          <a:bodyPr/>
          <a:lstStyle/>
          <a:p>
            <a:fld id="{9402F179-CF7D-2646-AA18-98B755873154}" type="datetimeFigureOut">
              <a:rPr lang="en-US" smtClean="0"/>
              <a:t>5/1/25</a:t>
            </a:fld>
            <a:endParaRPr lang="en-US"/>
          </a:p>
        </p:txBody>
      </p:sp>
      <p:sp>
        <p:nvSpPr>
          <p:cNvPr id="5" name="Footer Placeholder 4">
            <a:extLst>
              <a:ext uri="{FF2B5EF4-FFF2-40B4-BE49-F238E27FC236}">
                <a16:creationId xmlns:a16="http://schemas.microsoft.com/office/drawing/2014/main" id="{A77098D5-D649-E423-B6BD-A0731A9C0A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A61C6-153C-1C62-6FFA-C75595915EA3}"/>
              </a:ext>
            </a:extLst>
          </p:cNvPr>
          <p:cNvSpPr>
            <a:spLocks noGrp="1"/>
          </p:cNvSpPr>
          <p:nvPr>
            <p:ph type="sldNum" sz="quarter" idx="12"/>
          </p:nvPr>
        </p:nvSpPr>
        <p:spPr/>
        <p:txBody>
          <a:bodyPr/>
          <a:lstStyle/>
          <a:p>
            <a:fld id="{B7832730-0125-8C47-B8E0-A0B62C45849E}" type="slidenum">
              <a:rPr lang="en-US" smtClean="0"/>
              <a:t>‹#›</a:t>
            </a:fld>
            <a:endParaRPr lang="en-US"/>
          </a:p>
        </p:txBody>
      </p:sp>
    </p:spTree>
    <p:extLst>
      <p:ext uri="{BB962C8B-B14F-4D97-AF65-F5344CB8AC3E}">
        <p14:creationId xmlns:p14="http://schemas.microsoft.com/office/powerpoint/2010/main" val="1307141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A5DF3-A074-1078-7338-6FBA476AB6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3A6755-4C3C-317D-E4A7-2E0110F576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5B4D23-B510-0104-6CD5-B47296E9CBD3}"/>
              </a:ext>
            </a:extLst>
          </p:cNvPr>
          <p:cNvSpPr>
            <a:spLocks noGrp="1"/>
          </p:cNvSpPr>
          <p:nvPr>
            <p:ph type="dt" sz="half" idx="10"/>
          </p:nvPr>
        </p:nvSpPr>
        <p:spPr/>
        <p:txBody>
          <a:bodyPr/>
          <a:lstStyle/>
          <a:p>
            <a:fld id="{9402F179-CF7D-2646-AA18-98B755873154}" type="datetimeFigureOut">
              <a:rPr lang="en-US" smtClean="0"/>
              <a:t>5/1/25</a:t>
            </a:fld>
            <a:endParaRPr lang="en-US"/>
          </a:p>
        </p:txBody>
      </p:sp>
      <p:sp>
        <p:nvSpPr>
          <p:cNvPr id="5" name="Footer Placeholder 4">
            <a:extLst>
              <a:ext uri="{FF2B5EF4-FFF2-40B4-BE49-F238E27FC236}">
                <a16:creationId xmlns:a16="http://schemas.microsoft.com/office/drawing/2014/main" id="{45416E6E-B2CC-E27A-ECA9-FB13FCA525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98769B-0E11-7539-7625-A57E2F442D32}"/>
              </a:ext>
            </a:extLst>
          </p:cNvPr>
          <p:cNvSpPr>
            <a:spLocks noGrp="1"/>
          </p:cNvSpPr>
          <p:nvPr>
            <p:ph type="sldNum" sz="quarter" idx="12"/>
          </p:nvPr>
        </p:nvSpPr>
        <p:spPr/>
        <p:txBody>
          <a:bodyPr/>
          <a:lstStyle/>
          <a:p>
            <a:fld id="{B7832730-0125-8C47-B8E0-A0B62C45849E}" type="slidenum">
              <a:rPr lang="en-US" smtClean="0"/>
              <a:t>‹#›</a:t>
            </a:fld>
            <a:endParaRPr lang="en-US"/>
          </a:p>
        </p:txBody>
      </p:sp>
    </p:spTree>
    <p:extLst>
      <p:ext uri="{BB962C8B-B14F-4D97-AF65-F5344CB8AC3E}">
        <p14:creationId xmlns:p14="http://schemas.microsoft.com/office/powerpoint/2010/main" val="4099267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67292-077F-9253-04E4-2ED4B849F5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F9CF41-D9B8-22D2-503E-D6D778DAFA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446342-16D6-FFDC-C298-89C131372889}"/>
              </a:ext>
            </a:extLst>
          </p:cNvPr>
          <p:cNvSpPr>
            <a:spLocks noGrp="1"/>
          </p:cNvSpPr>
          <p:nvPr>
            <p:ph type="dt" sz="half" idx="10"/>
          </p:nvPr>
        </p:nvSpPr>
        <p:spPr/>
        <p:txBody>
          <a:bodyPr/>
          <a:lstStyle/>
          <a:p>
            <a:fld id="{9402F179-CF7D-2646-AA18-98B755873154}" type="datetimeFigureOut">
              <a:rPr lang="en-US" smtClean="0"/>
              <a:t>5/1/25</a:t>
            </a:fld>
            <a:endParaRPr lang="en-US"/>
          </a:p>
        </p:txBody>
      </p:sp>
      <p:sp>
        <p:nvSpPr>
          <p:cNvPr id="5" name="Footer Placeholder 4">
            <a:extLst>
              <a:ext uri="{FF2B5EF4-FFF2-40B4-BE49-F238E27FC236}">
                <a16:creationId xmlns:a16="http://schemas.microsoft.com/office/drawing/2014/main" id="{163814F4-F5D6-E004-58E2-DE77F99168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FDCFFC-2C36-4BA6-8BD6-79875A326665}"/>
              </a:ext>
            </a:extLst>
          </p:cNvPr>
          <p:cNvSpPr>
            <a:spLocks noGrp="1"/>
          </p:cNvSpPr>
          <p:nvPr>
            <p:ph type="sldNum" sz="quarter" idx="12"/>
          </p:nvPr>
        </p:nvSpPr>
        <p:spPr/>
        <p:txBody>
          <a:bodyPr/>
          <a:lstStyle/>
          <a:p>
            <a:fld id="{B7832730-0125-8C47-B8E0-A0B62C45849E}" type="slidenum">
              <a:rPr lang="en-US" smtClean="0"/>
              <a:t>‹#›</a:t>
            </a:fld>
            <a:endParaRPr lang="en-US"/>
          </a:p>
        </p:txBody>
      </p:sp>
    </p:spTree>
    <p:extLst>
      <p:ext uri="{BB962C8B-B14F-4D97-AF65-F5344CB8AC3E}">
        <p14:creationId xmlns:p14="http://schemas.microsoft.com/office/powerpoint/2010/main" val="3536070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C6571-EED7-3FCA-11C6-A7C4F37880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34439E-AEBC-F55B-F8BE-A9A9D2D9D1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0343C4C-2132-9227-E742-92398AFD54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6F3E701-21CC-C09A-E339-59AB88757BF1}"/>
              </a:ext>
            </a:extLst>
          </p:cNvPr>
          <p:cNvSpPr>
            <a:spLocks noGrp="1"/>
          </p:cNvSpPr>
          <p:nvPr>
            <p:ph type="dt" sz="half" idx="10"/>
          </p:nvPr>
        </p:nvSpPr>
        <p:spPr/>
        <p:txBody>
          <a:bodyPr/>
          <a:lstStyle/>
          <a:p>
            <a:fld id="{9402F179-CF7D-2646-AA18-98B755873154}" type="datetimeFigureOut">
              <a:rPr lang="en-US" smtClean="0"/>
              <a:t>5/1/25</a:t>
            </a:fld>
            <a:endParaRPr lang="en-US"/>
          </a:p>
        </p:txBody>
      </p:sp>
      <p:sp>
        <p:nvSpPr>
          <p:cNvPr id="6" name="Footer Placeholder 5">
            <a:extLst>
              <a:ext uri="{FF2B5EF4-FFF2-40B4-BE49-F238E27FC236}">
                <a16:creationId xmlns:a16="http://schemas.microsoft.com/office/drawing/2014/main" id="{45AE273E-DA25-F5C4-636E-DC70261B2E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E4C6D1-44C0-5CF2-9884-06C2DA9C5BB1}"/>
              </a:ext>
            </a:extLst>
          </p:cNvPr>
          <p:cNvSpPr>
            <a:spLocks noGrp="1"/>
          </p:cNvSpPr>
          <p:nvPr>
            <p:ph type="sldNum" sz="quarter" idx="12"/>
          </p:nvPr>
        </p:nvSpPr>
        <p:spPr/>
        <p:txBody>
          <a:bodyPr/>
          <a:lstStyle/>
          <a:p>
            <a:fld id="{B7832730-0125-8C47-B8E0-A0B62C45849E}" type="slidenum">
              <a:rPr lang="en-US" smtClean="0"/>
              <a:t>‹#›</a:t>
            </a:fld>
            <a:endParaRPr lang="en-US"/>
          </a:p>
        </p:txBody>
      </p:sp>
    </p:spTree>
    <p:extLst>
      <p:ext uri="{BB962C8B-B14F-4D97-AF65-F5344CB8AC3E}">
        <p14:creationId xmlns:p14="http://schemas.microsoft.com/office/powerpoint/2010/main" val="1023737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89994-4CE1-2E3F-BDAB-43FA568B7D5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783E02-7914-2C8F-60F7-944237CC4F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B05D894-9CE3-6732-80D1-E849FD76AC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9C9614B-5BEA-FF1A-B239-DAAE40CAA1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E8719D-66E0-4ED3-1D98-90EEF24005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D72C9A-5D37-7B72-7B85-7C8152B7EB4E}"/>
              </a:ext>
            </a:extLst>
          </p:cNvPr>
          <p:cNvSpPr>
            <a:spLocks noGrp="1"/>
          </p:cNvSpPr>
          <p:nvPr>
            <p:ph type="dt" sz="half" idx="10"/>
          </p:nvPr>
        </p:nvSpPr>
        <p:spPr/>
        <p:txBody>
          <a:bodyPr/>
          <a:lstStyle/>
          <a:p>
            <a:fld id="{9402F179-CF7D-2646-AA18-98B755873154}" type="datetimeFigureOut">
              <a:rPr lang="en-US" smtClean="0"/>
              <a:t>5/1/25</a:t>
            </a:fld>
            <a:endParaRPr lang="en-US"/>
          </a:p>
        </p:txBody>
      </p:sp>
      <p:sp>
        <p:nvSpPr>
          <p:cNvPr id="8" name="Footer Placeholder 7">
            <a:extLst>
              <a:ext uri="{FF2B5EF4-FFF2-40B4-BE49-F238E27FC236}">
                <a16:creationId xmlns:a16="http://schemas.microsoft.com/office/drawing/2014/main" id="{51905F5A-5A53-2657-BF30-846F4BA2DFA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4A944A3-2DCE-A34B-6C14-394EC4C59D5B}"/>
              </a:ext>
            </a:extLst>
          </p:cNvPr>
          <p:cNvSpPr>
            <a:spLocks noGrp="1"/>
          </p:cNvSpPr>
          <p:nvPr>
            <p:ph type="sldNum" sz="quarter" idx="12"/>
          </p:nvPr>
        </p:nvSpPr>
        <p:spPr/>
        <p:txBody>
          <a:bodyPr/>
          <a:lstStyle/>
          <a:p>
            <a:fld id="{B7832730-0125-8C47-B8E0-A0B62C45849E}" type="slidenum">
              <a:rPr lang="en-US" smtClean="0"/>
              <a:t>‹#›</a:t>
            </a:fld>
            <a:endParaRPr lang="en-US"/>
          </a:p>
        </p:txBody>
      </p:sp>
    </p:spTree>
    <p:extLst>
      <p:ext uri="{BB962C8B-B14F-4D97-AF65-F5344CB8AC3E}">
        <p14:creationId xmlns:p14="http://schemas.microsoft.com/office/powerpoint/2010/main" val="4231497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48618-A731-B291-D05A-00311CF065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9224552-0AAA-EEDA-AD10-6CDBC8F77026}"/>
              </a:ext>
            </a:extLst>
          </p:cNvPr>
          <p:cNvSpPr>
            <a:spLocks noGrp="1"/>
          </p:cNvSpPr>
          <p:nvPr>
            <p:ph type="dt" sz="half" idx="10"/>
          </p:nvPr>
        </p:nvSpPr>
        <p:spPr/>
        <p:txBody>
          <a:bodyPr/>
          <a:lstStyle/>
          <a:p>
            <a:fld id="{9402F179-CF7D-2646-AA18-98B755873154}" type="datetimeFigureOut">
              <a:rPr lang="en-US" smtClean="0"/>
              <a:t>5/1/25</a:t>
            </a:fld>
            <a:endParaRPr lang="en-US"/>
          </a:p>
        </p:txBody>
      </p:sp>
      <p:sp>
        <p:nvSpPr>
          <p:cNvPr id="4" name="Footer Placeholder 3">
            <a:extLst>
              <a:ext uri="{FF2B5EF4-FFF2-40B4-BE49-F238E27FC236}">
                <a16:creationId xmlns:a16="http://schemas.microsoft.com/office/drawing/2014/main" id="{28E12226-3B85-FAA6-D919-395CC3A5F9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398BF3-D4F7-9AAD-8A04-F32684BBE9F2}"/>
              </a:ext>
            </a:extLst>
          </p:cNvPr>
          <p:cNvSpPr>
            <a:spLocks noGrp="1"/>
          </p:cNvSpPr>
          <p:nvPr>
            <p:ph type="sldNum" sz="quarter" idx="12"/>
          </p:nvPr>
        </p:nvSpPr>
        <p:spPr/>
        <p:txBody>
          <a:bodyPr/>
          <a:lstStyle/>
          <a:p>
            <a:fld id="{B7832730-0125-8C47-B8E0-A0B62C45849E}" type="slidenum">
              <a:rPr lang="en-US" smtClean="0"/>
              <a:t>‹#›</a:t>
            </a:fld>
            <a:endParaRPr lang="en-US"/>
          </a:p>
        </p:txBody>
      </p:sp>
    </p:spTree>
    <p:extLst>
      <p:ext uri="{BB962C8B-B14F-4D97-AF65-F5344CB8AC3E}">
        <p14:creationId xmlns:p14="http://schemas.microsoft.com/office/powerpoint/2010/main" val="2961350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30B612-3B58-9667-1729-BAB99C0F20B3}"/>
              </a:ext>
            </a:extLst>
          </p:cNvPr>
          <p:cNvSpPr>
            <a:spLocks noGrp="1"/>
          </p:cNvSpPr>
          <p:nvPr>
            <p:ph type="dt" sz="half" idx="10"/>
          </p:nvPr>
        </p:nvSpPr>
        <p:spPr/>
        <p:txBody>
          <a:bodyPr/>
          <a:lstStyle/>
          <a:p>
            <a:fld id="{9402F179-CF7D-2646-AA18-98B755873154}" type="datetimeFigureOut">
              <a:rPr lang="en-US" smtClean="0"/>
              <a:t>5/1/25</a:t>
            </a:fld>
            <a:endParaRPr lang="en-US"/>
          </a:p>
        </p:txBody>
      </p:sp>
      <p:sp>
        <p:nvSpPr>
          <p:cNvPr id="3" name="Footer Placeholder 2">
            <a:extLst>
              <a:ext uri="{FF2B5EF4-FFF2-40B4-BE49-F238E27FC236}">
                <a16:creationId xmlns:a16="http://schemas.microsoft.com/office/drawing/2014/main" id="{0D5BA887-8BC1-F963-4861-8D940654AD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FCBBC00-574C-943D-0E4B-6AE90F622CB8}"/>
              </a:ext>
            </a:extLst>
          </p:cNvPr>
          <p:cNvSpPr>
            <a:spLocks noGrp="1"/>
          </p:cNvSpPr>
          <p:nvPr>
            <p:ph type="sldNum" sz="quarter" idx="12"/>
          </p:nvPr>
        </p:nvSpPr>
        <p:spPr/>
        <p:txBody>
          <a:bodyPr/>
          <a:lstStyle/>
          <a:p>
            <a:fld id="{B7832730-0125-8C47-B8E0-A0B62C45849E}" type="slidenum">
              <a:rPr lang="en-US" smtClean="0"/>
              <a:t>‹#›</a:t>
            </a:fld>
            <a:endParaRPr lang="en-US"/>
          </a:p>
        </p:txBody>
      </p:sp>
    </p:spTree>
    <p:extLst>
      <p:ext uri="{BB962C8B-B14F-4D97-AF65-F5344CB8AC3E}">
        <p14:creationId xmlns:p14="http://schemas.microsoft.com/office/powerpoint/2010/main" val="35403402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BFB43-5231-5BD8-19F4-5C8BA6E807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3D2E2E-81B8-9B3A-E862-71ADAEDB85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51753A-E62F-9E58-26BC-D8C3D9C37E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823E19-837A-BD7C-9232-2C774FCB935F}"/>
              </a:ext>
            </a:extLst>
          </p:cNvPr>
          <p:cNvSpPr>
            <a:spLocks noGrp="1"/>
          </p:cNvSpPr>
          <p:nvPr>
            <p:ph type="dt" sz="half" idx="10"/>
          </p:nvPr>
        </p:nvSpPr>
        <p:spPr/>
        <p:txBody>
          <a:bodyPr/>
          <a:lstStyle/>
          <a:p>
            <a:fld id="{9402F179-CF7D-2646-AA18-98B755873154}" type="datetimeFigureOut">
              <a:rPr lang="en-US" smtClean="0"/>
              <a:t>5/1/25</a:t>
            </a:fld>
            <a:endParaRPr lang="en-US"/>
          </a:p>
        </p:txBody>
      </p:sp>
      <p:sp>
        <p:nvSpPr>
          <p:cNvPr id="6" name="Footer Placeholder 5">
            <a:extLst>
              <a:ext uri="{FF2B5EF4-FFF2-40B4-BE49-F238E27FC236}">
                <a16:creationId xmlns:a16="http://schemas.microsoft.com/office/drawing/2014/main" id="{E91C03B2-ABBE-07FA-0E65-469BB1EDFC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026815-4AD0-30FE-8770-3E5FF60FCC3E}"/>
              </a:ext>
            </a:extLst>
          </p:cNvPr>
          <p:cNvSpPr>
            <a:spLocks noGrp="1"/>
          </p:cNvSpPr>
          <p:nvPr>
            <p:ph type="sldNum" sz="quarter" idx="12"/>
          </p:nvPr>
        </p:nvSpPr>
        <p:spPr/>
        <p:txBody>
          <a:bodyPr/>
          <a:lstStyle/>
          <a:p>
            <a:fld id="{B7832730-0125-8C47-B8E0-A0B62C45849E}" type="slidenum">
              <a:rPr lang="en-US" smtClean="0"/>
              <a:t>‹#›</a:t>
            </a:fld>
            <a:endParaRPr lang="en-US"/>
          </a:p>
        </p:txBody>
      </p:sp>
    </p:spTree>
    <p:extLst>
      <p:ext uri="{BB962C8B-B14F-4D97-AF65-F5344CB8AC3E}">
        <p14:creationId xmlns:p14="http://schemas.microsoft.com/office/powerpoint/2010/main" val="2819294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10011-F6BF-F2A2-7779-AD208397F7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3D3819F-B28E-C822-27F8-2A696EE349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321CFC7-4FB8-6F2F-9C63-6A7F5036C2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D4BF90-AA60-6F79-CC9A-C0DEB2580472}"/>
              </a:ext>
            </a:extLst>
          </p:cNvPr>
          <p:cNvSpPr>
            <a:spLocks noGrp="1"/>
          </p:cNvSpPr>
          <p:nvPr>
            <p:ph type="dt" sz="half" idx="10"/>
          </p:nvPr>
        </p:nvSpPr>
        <p:spPr/>
        <p:txBody>
          <a:bodyPr/>
          <a:lstStyle/>
          <a:p>
            <a:fld id="{9402F179-CF7D-2646-AA18-98B755873154}" type="datetimeFigureOut">
              <a:rPr lang="en-US" smtClean="0"/>
              <a:t>5/1/25</a:t>
            </a:fld>
            <a:endParaRPr lang="en-US"/>
          </a:p>
        </p:txBody>
      </p:sp>
      <p:sp>
        <p:nvSpPr>
          <p:cNvPr id="6" name="Footer Placeholder 5">
            <a:extLst>
              <a:ext uri="{FF2B5EF4-FFF2-40B4-BE49-F238E27FC236}">
                <a16:creationId xmlns:a16="http://schemas.microsoft.com/office/drawing/2014/main" id="{0E4634D6-D426-37F2-115A-6BA754827E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EF7FB3-90F4-82FA-0DEB-8E489DC68246}"/>
              </a:ext>
            </a:extLst>
          </p:cNvPr>
          <p:cNvSpPr>
            <a:spLocks noGrp="1"/>
          </p:cNvSpPr>
          <p:nvPr>
            <p:ph type="sldNum" sz="quarter" idx="12"/>
          </p:nvPr>
        </p:nvSpPr>
        <p:spPr/>
        <p:txBody>
          <a:bodyPr/>
          <a:lstStyle/>
          <a:p>
            <a:fld id="{B7832730-0125-8C47-B8E0-A0B62C45849E}" type="slidenum">
              <a:rPr lang="en-US" smtClean="0"/>
              <a:t>‹#›</a:t>
            </a:fld>
            <a:endParaRPr lang="en-US"/>
          </a:p>
        </p:txBody>
      </p:sp>
    </p:spTree>
    <p:extLst>
      <p:ext uri="{BB962C8B-B14F-4D97-AF65-F5344CB8AC3E}">
        <p14:creationId xmlns:p14="http://schemas.microsoft.com/office/powerpoint/2010/main" val="2791774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8783D-41B8-16E1-C0F3-793FEA1949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170B00-64CF-3ED6-A573-766D33AA56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2B989A-EC55-E7BA-F144-2C3B89775ACC}"/>
              </a:ext>
            </a:extLst>
          </p:cNvPr>
          <p:cNvSpPr>
            <a:spLocks noGrp="1"/>
          </p:cNvSpPr>
          <p:nvPr>
            <p:ph type="dt" sz="half" idx="10"/>
          </p:nvPr>
        </p:nvSpPr>
        <p:spPr/>
        <p:txBody>
          <a:bodyPr/>
          <a:lstStyle/>
          <a:p>
            <a:fld id="{9402F179-CF7D-2646-AA18-98B755873154}" type="datetimeFigureOut">
              <a:rPr lang="en-US" smtClean="0"/>
              <a:t>5/1/25</a:t>
            </a:fld>
            <a:endParaRPr lang="en-US"/>
          </a:p>
        </p:txBody>
      </p:sp>
      <p:sp>
        <p:nvSpPr>
          <p:cNvPr id="5" name="Footer Placeholder 4">
            <a:extLst>
              <a:ext uri="{FF2B5EF4-FFF2-40B4-BE49-F238E27FC236}">
                <a16:creationId xmlns:a16="http://schemas.microsoft.com/office/drawing/2014/main" id="{067A8F3F-7662-1229-7943-426484ACD7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08A6D3-A830-056B-96B6-5F66B78C2D47}"/>
              </a:ext>
            </a:extLst>
          </p:cNvPr>
          <p:cNvSpPr>
            <a:spLocks noGrp="1"/>
          </p:cNvSpPr>
          <p:nvPr>
            <p:ph type="sldNum" sz="quarter" idx="12"/>
          </p:nvPr>
        </p:nvSpPr>
        <p:spPr/>
        <p:txBody>
          <a:bodyPr/>
          <a:lstStyle/>
          <a:p>
            <a:fld id="{B7832730-0125-8C47-B8E0-A0B62C45849E}" type="slidenum">
              <a:rPr lang="en-US" smtClean="0"/>
              <a:t>‹#›</a:t>
            </a:fld>
            <a:endParaRPr lang="en-US"/>
          </a:p>
        </p:txBody>
      </p:sp>
    </p:spTree>
    <p:extLst>
      <p:ext uri="{BB962C8B-B14F-4D97-AF65-F5344CB8AC3E}">
        <p14:creationId xmlns:p14="http://schemas.microsoft.com/office/powerpoint/2010/main" val="3529336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1386F1-1729-9849-A951-12D64FF685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6799B1-B173-08D4-3FAA-5920CF8435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16A499-11EA-B5E0-20F0-8393EB8C4937}"/>
              </a:ext>
            </a:extLst>
          </p:cNvPr>
          <p:cNvSpPr>
            <a:spLocks noGrp="1"/>
          </p:cNvSpPr>
          <p:nvPr>
            <p:ph type="dt" sz="half" idx="10"/>
          </p:nvPr>
        </p:nvSpPr>
        <p:spPr/>
        <p:txBody>
          <a:bodyPr/>
          <a:lstStyle/>
          <a:p>
            <a:fld id="{9402F179-CF7D-2646-AA18-98B755873154}" type="datetimeFigureOut">
              <a:rPr lang="en-US" smtClean="0"/>
              <a:t>5/1/25</a:t>
            </a:fld>
            <a:endParaRPr lang="en-US"/>
          </a:p>
        </p:txBody>
      </p:sp>
      <p:sp>
        <p:nvSpPr>
          <p:cNvPr id="5" name="Footer Placeholder 4">
            <a:extLst>
              <a:ext uri="{FF2B5EF4-FFF2-40B4-BE49-F238E27FC236}">
                <a16:creationId xmlns:a16="http://schemas.microsoft.com/office/drawing/2014/main" id="{13D4E68D-D16B-19C8-2321-E6844E09DC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C3CBC1-0110-A499-403C-A825EC91441D}"/>
              </a:ext>
            </a:extLst>
          </p:cNvPr>
          <p:cNvSpPr>
            <a:spLocks noGrp="1"/>
          </p:cNvSpPr>
          <p:nvPr>
            <p:ph type="sldNum" sz="quarter" idx="12"/>
          </p:nvPr>
        </p:nvSpPr>
        <p:spPr/>
        <p:txBody>
          <a:bodyPr/>
          <a:lstStyle/>
          <a:p>
            <a:fld id="{B7832730-0125-8C47-B8E0-A0B62C45849E}" type="slidenum">
              <a:rPr lang="en-US" smtClean="0"/>
              <a:t>‹#›</a:t>
            </a:fld>
            <a:endParaRPr lang="en-US"/>
          </a:p>
        </p:txBody>
      </p:sp>
    </p:spTree>
    <p:extLst>
      <p:ext uri="{BB962C8B-B14F-4D97-AF65-F5344CB8AC3E}">
        <p14:creationId xmlns:p14="http://schemas.microsoft.com/office/powerpoint/2010/main" val="3754973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4EFAC0-9E5B-1E03-4782-C05EB43AEC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20D7C6-80FE-DCA3-CB04-1CF5EB5026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B3026C-9DF2-3955-54AD-71B3E4A05F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02F179-CF7D-2646-AA18-98B755873154}" type="datetimeFigureOut">
              <a:rPr lang="en-US" smtClean="0"/>
              <a:t>5/1/25</a:t>
            </a:fld>
            <a:endParaRPr lang="en-US"/>
          </a:p>
        </p:txBody>
      </p:sp>
      <p:sp>
        <p:nvSpPr>
          <p:cNvPr id="5" name="Footer Placeholder 4">
            <a:extLst>
              <a:ext uri="{FF2B5EF4-FFF2-40B4-BE49-F238E27FC236}">
                <a16:creationId xmlns:a16="http://schemas.microsoft.com/office/drawing/2014/main" id="{6A61EE97-8983-5BA5-5243-91E34D3C1C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97ABA9F-6FEB-7162-5615-94DDC1519B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832730-0125-8C47-B8E0-A0B62C45849E}" type="slidenum">
              <a:rPr lang="en-US" smtClean="0"/>
              <a:t>‹#›</a:t>
            </a:fld>
            <a:endParaRPr lang="en-US"/>
          </a:p>
        </p:txBody>
      </p:sp>
    </p:spTree>
    <p:extLst>
      <p:ext uri="{BB962C8B-B14F-4D97-AF65-F5344CB8AC3E}">
        <p14:creationId xmlns:p14="http://schemas.microsoft.com/office/powerpoint/2010/main" val="2167916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jp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2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5.PNG"/><Relationship Id="rId7"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41.jpg"/><Relationship Id="rId5" Type="http://schemas.openxmlformats.org/officeDocument/2006/relationships/image" Target="../media/image40.jpeg"/><Relationship Id="rId4" Type="http://schemas.openxmlformats.org/officeDocument/2006/relationships/image" Target="../media/image39.jpg"/></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3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39.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331CB-3400-FCD5-5532-CFE41EE46C18}"/>
              </a:ext>
            </a:extLst>
          </p:cNvPr>
          <p:cNvSpPr>
            <a:spLocks noGrp="1"/>
          </p:cNvSpPr>
          <p:nvPr>
            <p:ph type="ctrTitle"/>
          </p:nvPr>
        </p:nvSpPr>
        <p:spPr>
          <a:xfrm>
            <a:off x="1524000" y="2870200"/>
            <a:ext cx="9144000" cy="2387600"/>
          </a:xfrm>
        </p:spPr>
        <p:txBody>
          <a:bodyPr>
            <a:normAutofit fontScale="90000"/>
          </a:bodyPr>
          <a:lstStyle/>
          <a:p>
            <a:r>
              <a:rPr lang="en-US" b="0" i="0" u="none" strike="noStrike" dirty="0">
                <a:solidFill>
                  <a:srgbClr val="212121"/>
                </a:solidFill>
                <a:effectLst/>
                <a:latin typeface="Calibri" panose="020F0502020204030204" pitchFamily="34" charset="0"/>
              </a:rPr>
              <a:t>Investigating the Neural Mechanisms Underlying Concurrent Regulation of Cognitive Stability and Flexibility</a:t>
            </a:r>
            <a:endParaRPr lang="en-US" dirty="0"/>
          </a:p>
        </p:txBody>
      </p:sp>
    </p:spTree>
    <p:extLst>
      <p:ext uri="{BB962C8B-B14F-4D97-AF65-F5344CB8AC3E}">
        <p14:creationId xmlns:p14="http://schemas.microsoft.com/office/powerpoint/2010/main" val="180898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30096-81AB-73F4-42BA-59D8BE997E09}"/>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D2062675-2B5A-F475-C9A1-EF2732481DF3}"/>
              </a:ext>
            </a:extLst>
          </p:cNvPr>
          <p:cNvSpPr>
            <a:spLocks noGrp="1"/>
          </p:cNvSpPr>
          <p:nvPr>
            <p:ph idx="1"/>
          </p:nvPr>
        </p:nvSpPr>
        <p:spPr/>
        <p:txBody>
          <a:bodyPr/>
          <a:lstStyle/>
          <a:p>
            <a:r>
              <a:rPr lang="en-US" dirty="0"/>
              <a:t>What are cognitive stability and flexibility?</a:t>
            </a:r>
          </a:p>
        </p:txBody>
      </p:sp>
    </p:spTree>
    <p:extLst>
      <p:ext uri="{BB962C8B-B14F-4D97-AF65-F5344CB8AC3E}">
        <p14:creationId xmlns:p14="http://schemas.microsoft.com/office/powerpoint/2010/main" val="1172713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E0A28-732D-03B7-AAE8-063453FFF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2B77F-63D4-16C1-B10E-B4A4C83F527C}"/>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CCDC687C-197E-5F68-3AB8-E629A4AE5F06}"/>
              </a:ext>
            </a:extLst>
          </p:cNvPr>
          <p:cNvSpPr>
            <a:spLocks noGrp="1"/>
          </p:cNvSpPr>
          <p:nvPr>
            <p:ph idx="1"/>
          </p:nvPr>
        </p:nvSpPr>
        <p:spPr/>
        <p:txBody>
          <a:bodyPr/>
          <a:lstStyle/>
          <a:p>
            <a:r>
              <a:rPr lang="en-US" dirty="0"/>
              <a:t>What are cognitive stability and flexibility?</a:t>
            </a:r>
          </a:p>
          <a:p>
            <a:r>
              <a:rPr lang="en-US" dirty="0"/>
              <a:t>Task to manipulate demands on stability and flexibility</a:t>
            </a:r>
          </a:p>
        </p:txBody>
      </p:sp>
    </p:spTree>
    <p:extLst>
      <p:ext uri="{BB962C8B-B14F-4D97-AF65-F5344CB8AC3E}">
        <p14:creationId xmlns:p14="http://schemas.microsoft.com/office/powerpoint/2010/main" val="491322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B45EC-2FD8-0262-95EB-AB6A4400D9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5361E-C125-516E-219F-75DA85B70025}"/>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FADFD6D-BF2A-AF54-8432-3A1A2009FBF7}"/>
              </a:ext>
            </a:extLst>
          </p:cNvPr>
          <p:cNvSpPr>
            <a:spLocks noGrp="1"/>
          </p:cNvSpPr>
          <p:nvPr>
            <p:ph idx="1"/>
          </p:nvPr>
        </p:nvSpPr>
        <p:spPr/>
        <p:txBody>
          <a:bodyPr/>
          <a:lstStyle/>
          <a:p>
            <a:r>
              <a:rPr lang="en-US" dirty="0"/>
              <a:t>What are cognitive stability and flexibility?</a:t>
            </a:r>
          </a:p>
          <a:p>
            <a:r>
              <a:rPr lang="en-US" dirty="0"/>
              <a:t>Task to manipulate demands on stability and flexibility</a:t>
            </a:r>
          </a:p>
          <a:p>
            <a:r>
              <a:rPr lang="en-US" dirty="0"/>
              <a:t>fMRI Results + Future Work</a:t>
            </a:r>
          </a:p>
        </p:txBody>
      </p:sp>
    </p:spTree>
    <p:extLst>
      <p:ext uri="{BB962C8B-B14F-4D97-AF65-F5344CB8AC3E}">
        <p14:creationId xmlns:p14="http://schemas.microsoft.com/office/powerpoint/2010/main" val="494982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B05C2-AAF4-3C6B-6AE5-27FD9225D2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B07BE-6877-B3B4-EFEB-4E0D0C1FBF5E}"/>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16D03E32-250D-B632-4876-91FDA452D5B4}"/>
              </a:ext>
            </a:extLst>
          </p:cNvPr>
          <p:cNvSpPr>
            <a:spLocks noGrp="1"/>
          </p:cNvSpPr>
          <p:nvPr>
            <p:ph idx="1"/>
          </p:nvPr>
        </p:nvSpPr>
        <p:spPr/>
        <p:txBody>
          <a:bodyPr/>
          <a:lstStyle/>
          <a:p>
            <a:r>
              <a:rPr lang="en-US" dirty="0"/>
              <a:t>What are cognitive stability and flexibility?</a:t>
            </a:r>
          </a:p>
          <a:p>
            <a:r>
              <a:rPr lang="en-US" dirty="0"/>
              <a:t>Task to manipulate demands on stability and flexibility</a:t>
            </a:r>
          </a:p>
          <a:p>
            <a:r>
              <a:rPr lang="en-US" dirty="0"/>
              <a:t>fMRI Results + Future Work</a:t>
            </a:r>
          </a:p>
          <a:p>
            <a:r>
              <a:rPr lang="en-US" dirty="0" err="1"/>
              <a:t>iEEG</a:t>
            </a:r>
            <a:r>
              <a:rPr lang="en-US" dirty="0"/>
              <a:t> Results + Future Work</a:t>
            </a:r>
          </a:p>
        </p:txBody>
      </p:sp>
    </p:spTree>
    <p:extLst>
      <p:ext uri="{BB962C8B-B14F-4D97-AF65-F5344CB8AC3E}">
        <p14:creationId xmlns:p14="http://schemas.microsoft.com/office/powerpoint/2010/main" val="1747910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93ADA-783B-0258-08BF-135A36D3D0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6EB8CF-AB95-FC98-D13A-CBF6ADF32626}"/>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7E00FB2B-DE98-4EF2-F431-A1ED1CF25F66}"/>
              </a:ext>
            </a:extLst>
          </p:cNvPr>
          <p:cNvSpPr>
            <a:spLocks noGrp="1"/>
          </p:cNvSpPr>
          <p:nvPr>
            <p:ph idx="1"/>
          </p:nvPr>
        </p:nvSpPr>
        <p:spPr/>
        <p:txBody>
          <a:bodyPr/>
          <a:lstStyle/>
          <a:p>
            <a:r>
              <a:rPr lang="en-US" dirty="0"/>
              <a:t>What are cognitive stability and flexibility?</a:t>
            </a:r>
          </a:p>
          <a:p>
            <a:r>
              <a:rPr lang="en-US" dirty="0"/>
              <a:t>Task to manipulate demands on stability and flexibility</a:t>
            </a:r>
          </a:p>
          <a:p>
            <a:r>
              <a:rPr lang="en-US" dirty="0"/>
              <a:t>fMRI Results + Future Work</a:t>
            </a:r>
          </a:p>
          <a:p>
            <a:r>
              <a:rPr lang="en-US" dirty="0" err="1"/>
              <a:t>iEEG</a:t>
            </a:r>
            <a:r>
              <a:rPr lang="en-US" dirty="0"/>
              <a:t> Results + Future Work</a:t>
            </a:r>
          </a:p>
          <a:p>
            <a:r>
              <a:rPr lang="en-US" dirty="0"/>
              <a:t>Conclusions</a:t>
            </a:r>
          </a:p>
        </p:txBody>
      </p:sp>
    </p:spTree>
    <p:extLst>
      <p:ext uri="{BB962C8B-B14F-4D97-AF65-F5344CB8AC3E}">
        <p14:creationId xmlns:p14="http://schemas.microsoft.com/office/powerpoint/2010/main" val="3392679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F0C2A-1021-EAA8-AD13-311D8FCAB295}"/>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2FCCA4A5-122E-807A-37A6-E75D1E186C3D}"/>
              </a:ext>
            </a:extLst>
          </p:cNvPr>
          <p:cNvSpPr txBox="1"/>
          <p:nvPr/>
        </p:nvSpPr>
        <p:spPr>
          <a:xfrm>
            <a:off x="0" y="98474"/>
            <a:ext cx="12191999"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400" u="sng" dirty="0"/>
              <a:t>Cognitive stability</a:t>
            </a:r>
            <a:r>
              <a:rPr lang="en-US" sz="4400" dirty="0"/>
              <a:t> – ability to stably maintain current goals (conflict control)</a:t>
            </a:r>
          </a:p>
        </p:txBody>
      </p:sp>
    </p:spTree>
    <p:extLst>
      <p:ext uri="{BB962C8B-B14F-4D97-AF65-F5344CB8AC3E}">
        <p14:creationId xmlns:p14="http://schemas.microsoft.com/office/powerpoint/2010/main" val="782166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B4672-51E1-3525-7B57-51638800A4A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C1AED1F-E391-CD99-2CF7-BF47578E0C30}"/>
              </a:ext>
            </a:extLst>
          </p:cNvPr>
          <p:cNvPicPr>
            <a:picLocks noChangeAspect="1"/>
          </p:cNvPicPr>
          <p:nvPr/>
        </p:nvPicPr>
        <p:blipFill>
          <a:blip r:embed="rId3"/>
          <a:stretch>
            <a:fillRect/>
          </a:stretch>
        </p:blipFill>
        <p:spPr>
          <a:xfrm>
            <a:off x="1060616" y="2781578"/>
            <a:ext cx="5410522" cy="4076422"/>
          </a:xfrm>
          <a:prstGeom prst="rect">
            <a:avLst/>
          </a:prstGeom>
        </p:spPr>
      </p:pic>
      <p:pic>
        <p:nvPicPr>
          <p:cNvPr id="5" name="Picture 4">
            <a:extLst>
              <a:ext uri="{FF2B5EF4-FFF2-40B4-BE49-F238E27FC236}">
                <a16:creationId xmlns:a16="http://schemas.microsoft.com/office/drawing/2014/main" id="{585A89CF-7D7C-BA34-5A37-F6353206114F}"/>
              </a:ext>
            </a:extLst>
          </p:cNvPr>
          <p:cNvPicPr>
            <a:picLocks noChangeAspect="1"/>
          </p:cNvPicPr>
          <p:nvPr/>
        </p:nvPicPr>
        <p:blipFill>
          <a:blip r:embed="rId4"/>
          <a:stretch>
            <a:fillRect/>
          </a:stretch>
        </p:blipFill>
        <p:spPr>
          <a:xfrm>
            <a:off x="6471138" y="1914700"/>
            <a:ext cx="4943300" cy="4943300"/>
          </a:xfrm>
          <a:prstGeom prst="rect">
            <a:avLst/>
          </a:prstGeom>
        </p:spPr>
      </p:pic>
      <p:sp>
        <p:nvSpPr>
          <p:cNvPr id="14" name="TextBox 13">
            <a:extLst>
              <a:ext uri="{FF2B5EF4-FFF2-40B4-BE49-F238E27FC236}">
                <a16:creationId xmlns:a16="http://schemas.microsoft.com/office/drawing/2014/main" id="{5D78B432-00DF-B1B7-09B8-A7FD781D3CF3}"/>
              </a:ext>
            </a:extLst>
          </p:cNvPr>
          <p:cNvSpPr txBox="1"/>
          <p:nvPr/>
        </p:nvSpPr>
        <p:spPr>
          <a:xfrm>
            <a:off x="0" y="98474"/>
            <a:ext cx="12191999"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400" u="sng" dirty="0"/>
              <a:t>Cognitive stability</a:t>
            </a:r>
            <a:r>
              <a:rPr lang="en-US" sz="4400" dirty="0"/>
              <a:t> – ability to stably maintain current goals (conflict control)</a:t>
            </a:r>
          </a:p>
        </p:txBody>
      </p:sp>
    </p:spTree>
    <p:extLst>
      <p:ext uri="{BB962C8B-B14F-4D97-AF65-F5344CB8AC3E}">
        <p14:creationId xmlns:p14="http://schemas.microsoft.com/office/powerpoint/2010/main" val="4234334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43023-71A7-F512-2B67-EA4419AB455A}"/>
            </a:ext>
          </a:extLst>
        </p:cNvPr>
        <p:cNvGrpSpPr/>
        <p:nvPr/>
      </p:nvGrpSpPr>
      <p:grpSpPr>
        <a:xfrm>
          <a:off x="0" y="0"/>
          <a:ext cx="0" cy="0"/>
          <a:chOff x="0" y="0"/>
          <a:chExt cx="0" cy="0"/>
        </a:xfrm>
      </p:grpSpPr>
      <p:sp>
        <p:nvSpPr>
          <p:cNvPr id="8" name="Content Placeholder 2">
            <a:extLst>
              <a:ext uri="{FF2B5EF4-FFF2-40B4-BE49-F238E27FC236}">
                <a16:creationId xmlns:a16="http://schemas.microsoft.com/office/drawing/2014/main" id="{17AB5754-395B-1839-884C-50A5A1B30569}"/>
              </a:ext>
            </a:extLst>
          </p:cNvPr>
          <p:cNvSpPr txBox="1">
            <a:spLocks/>
          </p:cNvSpPr>
          <p:nvPr/>
        </p:nvSpPr>
        <p:spPr>
          <a:xfrm>
            <a:off x="0" y="3907781"/>
            <a:ext cx="10515600" cy="8524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endParaRPr lang="en-US" dirty="0"/>
          </a:p>
          <a:p>
            <a:endParaRPr lang="en-US" dirty="0"/>
          </a:p>
          <a:p>
            <a:endParaRPr lang="en-US" dirty="0"/>
          </a:p>
          <a:p>
            <a:endParaRPr lang="en-US" dirty="0"/>
          </a:p>
        </p:txBody>
      </p:sp>
      <p:sp>
        <p:nvSpPr>
          <p:cNvPr id="14" name="TextBox 13">
            <a:extLst>
              <a:ext uri="{FF2B5EF4-FFF2-40B4-BE49-F238E27FC236}">
                <a16:creationId xmlns:a16="http://schemas.microsoft.com/office/drawing/2014/main" id="{469DDC35-8DDF-9AC8-F90B-55F446A4E54D}"/>
              </a:ext>
            </a:extLst>
          </p:cNvPr>
          <p:cNvSpPr txBox="1"/>
          <p:nvPr/>
        </p:nvSpPr>
        <p:spPr>
          <a:xfrm>
            <a:off x="1" y="0"/>
            <a:ext cx="12191999"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400" u="sng" dirty="0"/>
              <a:t>Cognitive flexibility</a:t>
            </a:r>
            <a:r>
              <a:rPr lang="en-US" sz="4400" dirty="0"/>
              <a:t> – ability to switch between different goals (task switching)</a:t>
            </a:r>
          </a:p>
        </p:txBody>
      </p:sp>
    </p:spTree>
    <p:extLst>
      <p:ext uri="{BB962C8B-B14F-4D97-AF65-F5344CB8AC3E}">
        <p14:creationId xmlns:p14="http://schemas.microsoft.com/office/powerpoint/2010/main" val="1979775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A41E8-7B76-A753-0098-ACBC7D8B5B9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03C2B16-6512-E874-46DC-E5D7D2364D86}"/>
              </a:ext>
            </a:extLst>
          </p:cNvPr>
          <p:cNvPicPr>
            <a:picLocks noChangeAspect="1"/>
          </p:cNvPicPr>
          <p:nvPr/>
        </p:nvPicPr>
        <p:blipFill>
          <a:blip r:embed="rId3"/>
          <a:srcRect b="8200"/>
          <a:stretch/>
        </p:blipFill>
        <p:spPr>
          <a:xfrm>
            <a:off x="6074898" y="1714798"/>
            <a:ext cx="3062068" cy="5143200"/>
          </a:xfrm>
          <a:prstGeom prst="rect">
            <a:avLst/>
          </a:prstGeom>
        </p:spPr>
      </p:pic>
      <p:sp>
        <p:nvSpPr>
          <p:cNvPr id="8" name="Content Placeholder 2">
            <a:extLst>
              <a:ext uri="{FF2B5EF4-FFF2-40B4-BE49-F238E27FC236}">
                <a16:creationId xmlns:a16="http://schemas.microsoft.com/office/drawing/2014/main" id="{FDF2862C-D645-3830-AD23-A25A46908933}"/>
              </a:ext>
            </a:extLst>
          </p:cNvPr>
          <p:cNvSpPr txBox="1">
            <a:spLocks/>
          </p:cNvSpPr>
          <p:nvPr/>
        </p:nvSpPr>
        <p:spPr>
          <a:xfrm>
            <a:off x="0" y="3907781"/>
            <a:ext cx="10515600" cy="8524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endParaRPr lang="en-US" dirty="0"/>
          </a:p>
          <a:p>
            <a:endParaRPr lang="en-US" dirty="0"/>
          </a:p>
          <a:p>
            <a:endParaRPr lang="en-US" dirty="0"/>
          </a:p>
          <a:p>
            <a:endParaRPr lang="en-US" dirty="0"/>
          </a:p>
        </p:txBody>
      </p:sp>
      <p:sp>
        <p:nvSpPr>
          <p:cNvPr id="14" name="TextBox 13">
            <a:extLst>
              <a:ext uri="{FF2B5EF4-FFF2-40B4-BE49-F238E27FC236}">
                <a16:creationId xmlns:a16="http://schemas.microsoft.com/office/drawing/2014/main" id="{BBCAAB65-9226-4F73-F740-CB7428080CBD}"/>
              </a:ext>
            </a:extLst>
          </p:cNvPr>
          <p:cNvSpPr txBox="1"/>
          <p:nvPr/>
        </p:nvSpPr>
        <p:spPr>
          <a:xfrm>
            <a:off x="1" y="0"/>
            <a:ext cx="12191999"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400" u="sng" dirty="0"/>
              <a:t>Cognitive flexibility</a:t>
            </a:r>
            <a:r>
              <a:rPr lang="en-US" sz="4400" dirty="0"/>
              <a:t> – ability to switch between different goals (task switching)</a:t>
            </a:r>
          </a:p>
        </p:txBody>
      </p:sp>
    </p:spTree>
    <p:extLst>
      <p:ext uri="{BB962C8B-B14F-4D97-AF65-F5344CB8AC3E}">
        <p14:creationId xmlns:p14="http://schemas.microsoft.com/office/powerpoint/2010/main" val="616164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A202F-4B4A-6465-DCF1-8DFB3CE8459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3BE33A9-E50B-4A72-10F1-5AF7751A10A8}"/>
              </a:ext>
            </a:extLst>
          </p:cNvPr>
          <p:cNvPicPr>
            <a:picLocks noChangeAspect="1"/>
          </p:cNvPicPr>
          <p:nvPr/>
        </p:nvPicPr>
        <p:blipFill>
          <a:blip r:embed="rId3"/>
          <a:srcRect b="8200"/>
          <a:stretch/>
        </p:blipFill>
        <p:spPr>
          <a:xfrm>
            <a:off x="6074898" y="1714798"/>
            <a:ext cx="3062068" cy="5143200"/>
          </a:xfrm>
          <a:prstGeom prst="rect">
            <a:avLst/>
          </a:prstGeom>
        </p:spPr>
      </p:pic>
      <p:sp>
        <p:nvSpPr>
          <p:cNvPr id="8" name="Content Placeholder 2">
            <a:extLst>
              <a:ext uri="{FF2B5EF4-FFF2-40B4-BE49-F238E27FC236}">
                <a16:creationId xmlns:a16="http://schemas.microsoft.com/office/drawing/2014/main" id="{4053D905-AF94-378F-C534-8A15DBAA3750}"/>
              </a:ext>
            </a:extLst>
          </p:cNvPr>
          <p:cNvSpPr txBox="1">
            <a:spLocks/>
          </p:cNvSpPr>
          <p:nvPr/>
        </p:nvSpPr>
        <p:spPr>
          <a:xfrm>
            <a:off x="0" y="3907781"/>
            <a:ext cx="10515600" cy="8524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endParaRPr lang="en-US" dirty="0"/>
          </a:p>
          <a:p>
            <a:endParaRPr lang="en-US" dirty="0"/>
          </a:p>
          <a:p>
            <a:endParaRPr lang="en-US" dirty="0"/>
          </a:p>
          <a:p>
            <a:endParaRPr lang="en-US" dirty="0"/>
          </a:p>
        </p:txBody>
      </p:sp>
      <p:sp>
        <p:nvSpPr>
          <p:cNvPr id="14" name="TextBox 13">
            <a:extLst>
              <a:ext uri="{FF2B5EF4-FFF2-40B4-BE49-F238E27FC236}">
                <a16:creationId xmlns:a16="http://schemas.microsoft.com/office/drawing/2014/main" id="{3F31C6A0-552F-8212-32E1-A0DBB2C17CA6}"/>
              </a:ext>
            </a:extLst>
          </p:cNvPr>
          <p:cNvSpPr txBox="1"/>
          <p:nvPr/>
        </p:nvSpPr>
        <p:spPr>
          <a:xfrm>
            <a:off x="1" y="0"/>
            <a:ext cx="12191999"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400" u="sng" dirty="0"/>
              <a:t>Cognitive flexibility</a:t>
            </a:r>
            <a:r>
              <a:rPr lang="en-US" sz="4400" dirty="0"/>
              <a:t> – ability to switch between different goals (task switching)</a:t>
            </a:r>
          </a:p>
        </p:txBody>
      </p:sp>
      <p:pic>
        <p:nvPicPr>
          <p:cNvPr id="2054" name="Picture 6" descr="Free Images Speech Bubble Download PNG Transparent Background, Free  Download #15291 - FreeIconsPNG">
            <a:extLst>
              <a:ext uri="{FF2B5EF4-FFF2-40B4-BE49-F238E27FC236}">
                <a16:creationId xmlns:a16="http://schemas.microsoft.com/office/drawing/2014/main" id="{F236C044-2AC0-D405-3718-AE355A0D30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3124" y="1884228"/>
            <a:ext cx="2186551" cy="218655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A94F29C-8AFF-CF90-DBFF-F21A5B1E4DF9}"/>
              </a:ext>
            </a:extLst>
          </p:cNvPr>
          <p:cNvSpPr txBox="1"/>
          <p:nvPr/>
        </p:nvSpPr>
        <p:spPr>
          <a:xfrm>
            <a:off x="794479" y="2217056"/>
            <a:ext cx="1714259" cy="954107"/>
          </a:xfrm>
          <a:prstGeom prst="rect">
            <a:avLst/>
          </a:prstGeom>
          <a:noFill/>
        </p:spPr>
        <p:txBody>
          <a:bodyPr wrap="square" rtlCol="0">
            <a:spAutoFit/>
          </a:bodyPr>
          <a:lstStyle/>
          <a:p>
            <a:r>
              <a:rPr lang="en-US" sz="2800" dirty="0"/>
              <a:t>Rewrite all of it</a:t>
            </a:r>
          </a:p>
        </p:txBody>
      </p:sp>
      <p:pic>
        <p:nvPicPr>
          <p:cNvPr id="3" name="Picture 2" descr="A person wearing a yellow garment&#10;&#10;Description automatically generated">
            <a:extLst>
              <a:ext uri="{FF2B5EF4-FFF2-40B4-BE49-F238E27FC236}">
                <a16:creationId xmlns:a16="http://schemas.microsoft.com/office/drawing/2014/main" id="{D818DC0C-DDD7-2370-25D1-A847C3EA663D}"/>
              </a:ext>
            </a:extLst>
          </p:cNvPr>
          <p:cNvPicPr>
            <a:picLocks noChangeAspect="1"/>
          </p:cNvPicPr>
          <p:nvPr/>
        </p:nvPicPr>
        <p:blipFill rotWithShape="1">
          <a:blip r:embed="rId5"/>
          <a:srcRect t="18750"/>
          <a:stretch/>
        </p:blipFill>
        <p:spPr>
          <a:xfrm>
            <a:off x="2508738" y="3907781"/>
            <a:ext cx="2801131" cy="2272031"/>
          </a:xfrm>
          <a:prstGeom prst="rect">
            <a:avLst/>
          </a:prstGeom>
        </p:spPr>
      </p:pic>
    </p:spTree>
    <p:extLst>
      <p:ext uri="{BB962C8B-B14F-4D97-AF65-F5344CB8AC3E}">
        <p14:creationId xmlns:p14="http://schemas.microsoft.com/office/powerpoint/2010/main" val="1766766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D0E71-FF31-FE76-6358-0AEBB2284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85D2A-8031-5419-979E-9946B38587CC}"/>
              </a:ext>
            </a:extLst>
          </p:cNvPr>
          <p:cNvSpPr>
            <a:spLocks noGrp="1"/>
          </p:cNvSpPr>
          <p:nvPr>
            <p:ph type="title"/>
          </p:nvPr>
        </p:nvSpPr>
        <p:spPr>
          <a:xfrm>
            <a:off x="0" y="0"/>
            <a:ext cx="6705600" cy="1325563"/>
          </a:xfrm>
        </p:spPr>
        <p:txBody>
          <a:bodyPr/>
          <a:lstStyle/>
          <a:p>
            <a:r>
              <a:rPr lang="en-US" dirty="0"/>
              <a:t>Core capabilities of cognitive control</a:t>
            </a:r>
          </a:p>
        </p:txBody>
      </p:sp>
      <p:sp>
        <p:nvSpPr>
          <p:cNvPr id="3" name="Content Placeholder 2">
            <a:extLst>
              <a:ext uri="{FF2B5EF4-FFF2-40B4-BE49-F238E27FC236}">
                <a16:creationId xmlns:a16="http://schemas.microsoft.com/office/drawing/2014/main" id="{6B7D0059-F847-2AAF-5682-83B4A36021D7}"/>
              </a:ext>
            </a:extLst>
          </p:cNvPr>
          <p:cNvSpPr>
            <a:spLocks noGrp="1"/>
          </p:cNvSpPr>
          <p:nvPr>
            <p:ph idx="1"/>
          </p:nvPr>
        </p:nvSpPr>
        <p:spPr>
          <a:xfrm>
            <a:off x="0" y="1690688"/>
            <a:ext cx="7292898" cy="4351338"/>
          </a:xfrm>
        </p:spPr>
        <p:txBody>
          <a:bodyPr>
            <a:normAutofit lnSpcReduction="10000"/>
          </a:bodyPr>
          <a:lstStyle/>
          <a:p>
            <a:r>
              <a:rPr lang="en-US" dirty="0"/>
              <a:t>Cognitive stability</a:t>
            </a:r>
          </a:p>
          <a:p>
            <a:pPr lvl="1"/>
            <a:r>
              <a:rPr lang="en-US" dirty="0"/>
              <a:t>Task focus</a:t>
            </a:r>
          </a:p>
          <a:p>
            <a:r>
              <a:rPr lang="en-US" dirty="0"/>
              <a:t>Cognitive flexibility</a:t>
            </a:r>
          </a:p>
          <a:p>
            <a:pPr lvl="1"/>
            <a:r>
              <a:rPr lang="en-US" dirty="0"/>
              <a:t>Task switching</a:t>
            </a:r>
          </a:p>
          <a:p>
            <a:r>
              <a:rPr lang="en-US" dirty="0"/>
              <a:t>Adjust based on environmental demands</a:t>
            </a:r>
          </a:p>
          <a:p>
            <a:r>
              <a:rPr lang="en-US" dirty="0"/>
              <a:t>How does the brain regulate these concurrently?</a:t>
            </a:r>
          </a:p>
          <a:p>
            <a:pPr lvl="1"/>
            <a:r>
              <a:rPr lang="en-US" dirty="0"/>
              <a:t>Hypothesis: The brain adapts to stability and flexibility demands independently</a:t>
            </a:r>
          </a:p>
          <a:p>
            <a:r>
              <a:rPr lang="en-US" dirty="0"/>
              <a:t>Both processes impaired in various clinical disorders</a:t>
            </a:r>
          </a:p>
          <a:p>
            <a:endParaRPr lang="en-US" dirty="0"/>
          </a:p>
        </p:txBody>
      </p:sp>
      <p:grpSp>
        <p:nvGrpSpPr>
          <p:cNvPr id="26" name="Group 25">
            <a:extLst>
              <a:ext uri="{FF2B5EF4-FFF2-40B4-BE49-F238E27FC236}">
                <a16:creationId xmlns:a16="http://schemas.microsoft.com/office/drawing/2014/main" id="{ED76D7B8-E6CD-04B6-4913-FEB1EEFAAA7B}"/>
              </a:ext>
            </a:extLst>
          </p:cNvPr>
          <p:cNvGrpSpPr/>
          <p:nvPr/>
        </p:nvGrpSpPr>
        <p:grpSpPr>
          <a:xfrm>
            <a:off x="7454565" y="491488"/>
            <a:ext cx="4616787" cy="1110101"/>
            <a:chOff x="7292898" y="950374"/>
            <a:chExt cx="4616787" cy="1110101"/>
          </a:xfrm>
        </p:grpSpPr>
        <p:cxnSp>
          <p:nvCxnSpPr>
            <p:cNvPr id="13" name="Straight Arrow Connector 12">
              <a:extLst>
                <a:ext uri="{FF2B5EF4-FFF2-40B4-BE49-F238E27FC236}">
                  <a16:creationId xmlns:a16="http://schemas.microsoft.com/office/drawing/2014/main" id="{AD06BAC9-D118-120D-F43C-846AFD386620}"/>
                </a:ext>
              </a:extLst>
            </p:cNvPr>
            <p:cNvCxnSpPr/>
            <p:nvPr/>
          </p:nvCxnSpPr>
          <p:spPr>
            <a:xfrm>
              <a:off x="7658100" y="1504950"/>
              <a:ext cx="3657600" cy="0"/>
            </a:xfrm>
            <a:prstGeom prst="straightConnector1">
              <a:avLst/>
            </a:pr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3B75C973-62AC-DFD5-5578-9A71F36BD6FC}"/>
                </a:ext>
              </a:extLst>
            </p:cNvPr>
            <p:cNvSpPr txBox="1"/>
            <p:nvPr/>
          </p:nvSpPr>
          <p:spPr>
            <a:xfrm>
              <a:off x="7292898" y="1598810"/>
              <a:ext cx="1709314" cy="461665"/>
            </a:xfrm>
            <a:prstGeom prst="rect">
              <a:avLst/>
            </a:prstGeom>
            <a:noFill/>
          </p:spPr>
          <p:txBody>
            <a:bodyPr wrap="none" rtlCol="0">
              <a:spAutoFit/>
            </a:bodyPr>
            <a:lstStyle/>
            <a:p>
              <a:r>
                <a:rPr lang="en-US" sz="2400" dirty="0"/>
                <a:t>More Stable</a:t>
              </a:r>
            </a:p>
          </p:txBody>
        </p:sp>
        <p:sp>
          <p:nvSpPr>
            <p:cNvPr id="15" name="TextBox 14">
              <a:extLst>
                <a:ext uri="{FF2B5EF4-FFF2-40B4-BE49-F238E27FC236}">
                  <a16:creationId xmlns:a16="http://schemas.microsoft.com/office/drawing/2014/main" id="{7ED6D621-5E9E-7B23-9A5D-CE3AE95E0523}"/>
                </a:ext>
              </a:extLst>
            </p:cNvPr>
            <p:cNvSpPr txBox="1"/>
            <p:nvPr/>
          </p:nvSpPr>
          <p:spPr>
            <a:xfrm>
              <a:off x="10023335" y="1560377"/>
              <a:ext cx="1886350" cy="461665"/>
            </a:xfrm>
            <a:prstGeom prst="rect">
              <a:avLst/>
            </a:prstGeom>
            <a:noFill/>
          </p:spPr>
          <p:txBody>
            <a:bodyPr wrap="none" rtlCol="0">
              <a:spAutoFit/>
            </a:bodyPr>
            <a:lstStyle/>
            <a:p>
              <a:r>
                <a:rPr lang="en-US" sz="2400" dirty="0"/>
                <a:t>More Flexible</a:t>
              </a:r>
            </a:p>
          </p:txBody>
        </p:sp>
        <p:sp>
          <p:nvSpPr>
            <p:cNvPr id="16" name="TextBox 15">
              <a:extLst>
                <a:ext uri="{FF2B5EF4-FFF2-40B4-BE49-F238E27FC236}">
                  <a16:creationId xmlns:a16="http://schemas.microsoft.com/office/drawing/2014/main" id="{7A1D9C6D-DE05-0A65-1902-797938B1ED73}"/>
                </a:ext>
              </a:extLst>
            </p:cNvPr>
            <p:cNvSpPr txBox="1"/>
            <p:nvPr/>
          </p:nvSpPr>
          <p:spPr>
            <a:xfrm>
              <a:off x="8463786" y="950374"/>
              <a:ext cx="2205732" cy="461665"/>
            </a:xfrm>
            <a:prstGeom prst="rect">
              <a:avLst/>
            </a:prstGeom>
            <a:noFill/>
          </p:spPr>
          <p:txBody>
            <a:bodyPr wrap="none" rtlCol="0">
              <a:spAutoFit/>
            </a:bodyPr>
            <a:lstStyle/>
            <a:p>
              <a:r>
                <a:rPr lang="en-US" sz="2400" dirty="0"/>
                <a:t>Others’ 1D View</a:t>
              </a:r>
            </a:p>
          </p:txBody>
        </p:sp>
      </p:grpSp>
      <p:grpSp>
        <p:nvGrpSpPr>
          <p:cNvPr id="28" name="Group 27">
            <a:extLst>
              <a:ext uri="{FF2B5EF4-FFF2-40B4-BE49-F238E27FC236}">
                <a16:creationId xmlns:a16="http://schemas.microsoft.com/office/drawing/2014/main" id="{F92940FB-82C1-85C8-2FA7-4751EB2299E2}"/>
              </a:ext>
            </a:extLst>
          </p:cNvPr>
          <p:cNvGrpSpPr/>
          <p:nvPr/>
        </p:nvGrpSpPr>
        <p:grpSpPr>
          <a:xfrm>
            <a:off x="7292898" y="2431910"/>
            <a:ext cx="4253635" cy="4426090"/>
            <a:chOff x="7062065" y="2478078"/>
            <a:chExt cx="4253635" cy="4426090"/>
          </a:xfrm>
        </p:grpSpPr>
        <p:cxnSp>
          <p:nvCxnSpPr>
            <p:cNvPr id="17" name="Straight Arrow Connector 16">
              <a:extLst>
                <a:ext uri="{FF2B5EF4-FFF2-40B4-BE49-F238E27FC236}">
                  <a16:creationId xmlns:a16="http://schemas.microsoft.com/office/drawing/2014/main" id="{EAA99C56-3C26-8F41-5FB8-E9380DBF8687}"/>
                </a:ext>
              </a:extLst>
            </p:cNvPr>
            <p:cNvCxnSpPr>
              <a:cxnSpLocks/>
            </p:cNvCxnSpPr>
            <p:nvPr/>
          </p:nvCxnSpPr>
          <p:spPr>
            <a:xfrm flipV="1">
              <a:off x="7658100" y="2708911"/>
              <a:ext cx="0" cy="365760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0" name="Straight Arrow Connector 19">
              <a:extLst>
                <a:ext uri="{FF2B5EF4-FFF2-40B4-BE49-F238E27FC236}">
                  <a16:creationId xmlns:a16="http://schemas.microsoft.com/office/drawing/2014/main" id="{A3CAF4CD-48BC-155D-3C0C-4B4B76CE4E72}"/>
                </a:ext>
              </a:extLst>
            </p:cNvPr>
            <p:cNvCxnSpPr>
              <a:cxnSpLocks/>
            </p:cNvCxnSpPr>
            <p:nvPr/>
          </p:nvCxnSpPr>
          <p:spPr>
            <a:xfrm>
              <a:off x="7658100" y="6366511"/>
              <a:ext cx="3657600" cy="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TextBox 21">
              <a:extLst>
                <a:ext uri="{FF2B5EF4-FFF2-40B4-BE49-F238E27FC236}">
                  <a16:creationId xmlns:a16="http://schemas.microsoft.com/office/drawing/2014/main" id="{A172A595-1D0B-5674-FE7D-676AE335958A}"/>
                </a:ext>
              </a:extLst>
            </p:cNvPr>
            <p:cNvSpPr txBox="1"/>
            <p:nvPr/>
          </p:nvSpPr>
          <p:spPr>
            <a:xfrm rot="16200000">
              <a:off x="6438241" y="4306878"/>
              <a:ext cx="1709314" cy="461665"/>
            </a:xfrm>
            <a:prstGeom prst="rect">
              <a:avLst/>
            </a:prstGeom>
            <a:noFill/>
          </p:spPr>
          <p:txBody>
            <a:bodyPr wrap="none" rtlCol="0">
              <a:spAutoFit/>
            </a:bodyPr>
            <a:lstStyle/>
            <a:p>
              <a:r>
                <a:rPr lang="en-US" sz="2400" dirty="0"/>
                <a:t>More Stable</a:t>
              </a:r>
            </a:p>
          </p:txBody>
        </p:sp>
        <p:sp>
          <p:nvSpPr>
            <p:cNvPr id="25" name="TextBox 24">
              <a:extLst>
                <a:ext uri="{FF2B5EF4-FFF2-40B4-BE49-F238E27FC236}">
                  <a16:creationId xmlns:a16="http://schemas.microsoft.com/office/drawing/2014/main" id="{654CFDD7-74E0-E5C1-96B4-4256EABE7956}"/>
                </a:ext>
              </a:extLst>
            </p:cNvPr>
            <p:cNvSpPr txBox="1"/>
            <p:nvPr/>
          </p:nvSpPr>
          <p:spPr>
            <a:xfrm>
              <a:off x="8554311" y="6442503"/>
              <a:ext cx="1886350" cy="461665"/>
            </a:xfrm>
            <a:prstGeom prst="rect">
              <a:avLst/>
            </a:prstGeom>
            <a:noFill/>
          </p:spPr>
          <p:txBody>
            <a:bodyPr wrap="none" rtlCol="0">
              <a:spAutoFit/>
            </a:bodyPr>
            <a:lstStyle/>
            <a:p>
              <a:r>
                <a:rPr lang="en-US" sz="2400" dirty="0"/>
                <a:t>More Flexible</a:t>
              </a:r>
            </a:p>
          </p:txBody>
        </p:sp>
        <p:sp>
          <p:nvSpPr>
            <p:cNvPr id="27" name="TextBox 26">
              <a:extLst>
                <a:ext uri="{FF2B5EF4-FFF2-40B4-BE49-F238E27FC236}">
                  <a16:creationId xmlns:a16="http://schemas.microsoft.com/office/drawing/2014/main" id="{4F092662-1714-9C9B-16EF-540969E239EC}"/>
                </a:ext>
              </a:extLst>
            </p:cNvPr>
            <p:cNvSpPr txBox="1"/>
            <p:nvPr/>
          </p:nvSpPr>
          <p:spPr>
            <a:xfrm>
              <a:off x="8654010" y="2478078"/>
              <a:ext cx="1757341" cy="461665"/>
            </a:xfrm>
            <a:prstGeom prst="rect">
              <a:avLst/>
            </a:prstGeom>
            <a:noFill/>
          </p:spPr>
          <p:txBody>
            <a:bodyPr wrap="none" rtlCol="0">
              <a:spAutoFit/>
            </a:bodyPr>
            <a:lstStyle/>
            <a:p>
              <a:r>
                <a:rPr lang="en-US" sz="2400" dirty="0"/>
                <a:t>Our 2D View</a:t>
              </a:r>
            </a:p>
          </p:txBody>
        </p:sp>
      </p:grpSp>
    </p:spTree>
    <p:extLst>
      <p:ext uri="{BB962C8B-B14F-4D97-AF65-F5344CB8AC3E}">
        <p14:creationId xmlns:p14="http://schemas.microsoft.com/office/powerpoint/2010/main" val="40543039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3F163-365A-7B25-FBC6-3280BA2162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2013D0-D620-D286-1B92-FF5890072668}"/>
              </a:ext>
            </a:extLst>
          </p:cNvPr>
          <p:cNvSpPr>
            <a:spLocks noGrp="1"/>
          </p:cNvSpPr>
          <p:nvPr>
            <p:ph type="title"/>
          </p:nvPr>
        </p:nvSpPr>
        <p:spPr>
          <a:xfrm>
            <a:off x="965730" y="-172446"/>
            <a:ext cx="10515600" cy="1325563"/>
          </a:xfrm>
        </p:spPr>
        <p:txBody>
          <a:bodyPr/>
          <a:lstStyle/>
          <a:p>
            <a:r>
              <a:rPr lang="en-US" dirty="0"/>
              <a:t>Our tasks measure both stability and flexibility</a:t>
            </a:r>
          </a:p>
        </p:txBody>
      </p:sp>
      <p:pic>
        <p:nvPicPr>
          <p:cNvPr id="3" name="Picture 2">
            <a:extLst>
              <a:ext uri="{FF2B5EF4-FFF2-40B4-BE49-F238E27FC236}">
                <a16:creationId xmlns:a16="http://schemas.microsoft.com/office/drawing/2014/main" id="{6E720D2A-721D-DD79-E29A-24F8DFA16128}"/>
              </a:ext>
            </a:extLst>
          </p:cNvPr>
          <p:cNvPicPr>
            <a:picLocks noChangeAspect="1"/>
          </p:cNvPicPr>
          <p:nvPr/>
        </p:nvPicPr>
        <p:blipFill>
          <a:blip r:embed="rId3"/>
          <a:stretch>
            <a:fillRect/>
          </a:stretch>
        </p:blipFill>
        <p:spPr>
          <a:xfrm>
            <a:off x="164968" y="1339241"/>
            <a:ext cx="5715000" cy="1765300"/>
          </a:xfrm>
          <a:prstGeom prst="rect">
            <a:avLst/>
          </a:prstGeom>
        </p:spPr>
      </p:pic>
      <p:sp>
        <p:nvSpPr>
          <p:cNvPr id="9" name="TextBox 8">
            <a:extLst>
              <a:ext uri="{FF2B5EF4-FFF2-40B4-BE49-F238E27FC236}">
                <a16:creationId xmlns:a16="http://schemas.microsoft.com/office/drawing/2014/main" id="{36058F60-F2B2-3963-7276-809CEAE759C5}"/>
              </a:ext>
            </a:extLst>
          </p:cNvPr>
          <p:cNvSpPr txBox="1"/>
          <p:nvPr/>
        </p:nvSpPr>
        <p:spPr>
          <a:xfrm>
            <a:off x="164968" y="3177657"/>
            <a:ext cx="1342417" cy="369332"/>
          </a:xfrm>
          <a:prstGeom prst="rect">
            <a:avLst/>
          </a:prstGeom>
          <a:noFill/>
        </p:spPr>
        <p:txBody>
          <a:bodyPr wrap="square" rtlCol="0">
            <a:spAutoFit/>
          </a:bodyPr>
          <a:lstStyle/>
          <a:p>
            <a:r>
              <a:rPr lang="en-US" dirty="0"/>
              <a:t>congruent</a:t>
            </a:r>
          </a:p>
        </p:txBody>
      </p:sp>
      <p:sp>
        <p:nvSpPr>
          <p:cNvPr id="10" name="TextBox 9">
            <a:extLst>
              <a:ext uri="{FF2B5EF4-FFF2-40B4-BE49-F238E27FC236}">
                <a16:creationId xmlns:a16="http://schemas.microsoft.com/office/drawing/2014/main" id="{B348C043-B3FA-11E0-0696-277ADC061B88}"/>
              </a:ext>
            </a:extLst>
          </p:cNvPr>
          <p:cNvSpPr txBox="1"/>
          <p:nvPr/>
        </p:nvSpPr>
        <p:spPr>
          <a:xfrm>
            <a:off x="1632821" y="3162356"/>
            <a:ext cx="1342417" cy="369332"/>
          </a:xfrm>
          <a:prstGeom prst="rect">
            <a:avLst/>
          </a:prstGeom>
          <a:noFill/>
        </p:spPr>
        <p:txBody>
          <a:bodyPr wrap="square" rtlCol="0">
            <a:spAutoFit/>
          </a:bodyPr>
          <a:lstStyle/>
          <a:p>
            <a:r>
              <a:rPr lang="en-US" dirty="0"/>
              <a:t>incongruent</a:t>
            </a:r>
          </a:p>
        </p:txBody>
      </p:sp>
      <p:sp>
        <p:nvSpPr>
          <p:cNvPr id="11" name="TextBox 10">
            <a:extLst>
              <a:ext uri="{FF2B5EF4-FFF2-40B4-BE49-F238E27FC236}">
                <a16:creationId xmlns:a16="http://schemas.microsoft.com/office/drawing/2014/main" id="{24A7BCAE-A385-606E-04A6-790FF3EB9059}"/>
              </a:ext>
            </a:extLst>
          </p:cNvPr>
          <p:cNvSpPr txBox="1"/>
          <p:nvPr/>
        </p:nvSpPr>
        <p:spPr>
          <a:xfrm>
            <a:off x="3189459" y="3177657"/>
            <a:ext cx="1342417" cy="369332"/>
          </a:xfrm>
          <a:prstGeom prst="rect">
            <a:avLst/>
          </a:prstGeom>
          <a:noFill/>
        </p:spPr>
        <p:txBody>
          <a:bodyPr wrap="square" rtlCol="0">
            <a:spAutoFit/>
          </a:bodyPr>
          <a:lstStyle/>
          <a:p>
            <a:r>
              <a:rPr lang="en-US" dirty="0"/>
              <a:t>incongruent</a:t>
            </a:r>
          </a:p>
        </p:txBody>
      </p:sp>
      <p:sp>
        <p:nvSpPr>
          <p:cNvPr id="12" name="TextBox 11">
            <a:extLst>
              <a:ext uri="{FF2B5EF4-FFF2-40B4-BE49-F238E27FC236}">
                <a16:creationId xmlns:a16="http://schemas.microsoft.com/office/drawing/2014/main" id="{B2DADE4C-EA3B-3267-A223-E4562D4DC5B1}"/>
              </a:ext>
            </a:extLst>
          </p:cNvPr>
          <p:cNvSpPr txBox="1"/>
          <p:nvPr/>
        </p:nvSpPr>
        <p:spPr>
          <a:xfrm>
            <a:off x="4871533" y="3162356"/>
            <a:ext cx="1342417" cy="369332"/>
          </a:xfrm>
          <a:prstGeom prst="rect">
            <a:avLst/>
          </a:prstGeom>
          <a:noFill/>
        </p:spPr>
        <p:txBody>
          <a:bodyPr wrap="square" rtlCol="0">
            <a:spAutoFit/>
          </a:bodyPr>
          <a:lstStyle/>
          <a:p>
            <a:r>
              <a:rPr lang="en-US" dirty="0"/>
              <a:t>congruent</a:t>
            </a:r>
          </a:p>
        </p:txBody>
      </p:sp>
      <p:pic>
        <p:nvPicPr>
          <p:cNvPr id="13" name="Graphic 12" descr="Magnifying glass with solid fill">
            <a:extLst>
              <a:ext uri="{FF2B5EF4-FFF2-40B4-BE49-F238E27FC236}">
                <a16:creationId xmlns:a16="http://schemas.microsoft.com/office/drawing/2014/main" id="{A80B3B36-B9CD-141E-59F4-7DBD2732D28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22768" y="1081735"/>
            <a:ext cx="914400" cy="914400"/>
          </a:xfrm>
          <a:prstGeom prst="rect">
            <a:avLst/>
          </a:prstGeom>
        </p:spPr>
      </p:pic>
      <p:grpSp>
        <p:nvGrpSpPr>
          <p:cNvPr id="14" name="Group 13">
            <a:extLst>
              <a:ext uri="{FF2B5EF4-FFF2-40B4-BE49-F238E27FC236}">
                <a16:creationId xmlns:a16="http://schemas.microsoft.com/office/drawing/2014/main" id="{2375B6A2-D80A-1EBF-7644-22313352296A}"/>
              </a:ext>
            </a:extLst>
          </p:cNvPr>
          <p:cNvGrpSpPr>
            <a:grpSpLocks noChangeAspect="1"/>
          </p:cNvGrpSpPr>
          <p:nvPr/>
        </p:nvGrpSpPr>
        <p:grpSpPr>
          <a:xfrm>
            <a:off x="13952714" y="2138119"/>
            <a:ext cx="7023975" cy="2984651"/>
            <a:chOff x="7805585" y="19373185"/>
            <a:chExt cx="9446917" cy="4014216"/>
          </a:xfrm>
        </p:grpSpPr>
        <p:grpSp>
          <p:nvGrpSpPr>
            <p:cNvPr id="15" name="Group 14">
              <a:extLst>
                <a:ext uri="{FF2B5EF4-FFF2-40B4-BE49-F238E27FC236}">
                  <a16:creationId xmlns:a16="http://schemas.microsoft.com/office/drawing/2014/main" id="{0F7DFD1B-FBCF-E54C-62DD-B26C1F58C947}"/>
                </a:ext>
              </a:extLst>
            </p:cNvPr>
            <p:cNvGrpSpPr/>
            <p:nvPr/>
          </p:nvGrpSpPr>
          <p:grpSpPr>
            <a:xfrm>
              <a:off x="7805585" y="19373185"/>
              <a:ext cx="9446917" cy="4014216"/>
              <a:chOff x="7805585" y="19373185"/>
              <a:chExt cx="9446917" cy="4014216"/>
            </a:xfrm>
          </p:grpSpPr>
          <p:pic>
            <p:nvPicPr>
              <p:cNvPr id="17" name="Content Placeholder 12" descr="A diagram of a diagram of a number&#10;&#10;Description automatically generated">
                <a:extLst>
                  <a:ext uri="{FF2B5EF4-FFF2-40B4-BE49-F238E27FC236}">
                    <a16:creationId xmlns:a16="http://schemas.microsoft.com/office/drawing/2014/main" id="{79A5EA00-194A-63A9-13B3-481B235E6D85}"/>
                  </a:ext>
                </a:extLst>
              </p:cNvPr>
              <p:cNvPicPr>
                <a:picLocks noChangeAspect="1"/>
              </p:cNvPicPr>
              <p:nvPr/>
            </p:nvPicPr>
            <p:blipFill>
              <a:blip r:embed="rId6"/>
              <a:stretch>
                <a:fillRect/>
              </a:stretch>
            </p:blipFill>
            <p:spPr>
              <a:xfrm>
                <a:off x="7805585" y="19373185"/>
                <a:ext cx="9446917" cy="4014216"/>
              </a:xfrm>
              <a:prstGeom prst="rect">
                <a:avLst/>
              </a:prstGeom>
            </p:spPr>
          </p:pic>
          <p:sp>
            <p:nvSpPr>
              <p:cNvPr id="18" name="Rectangle 17">
                <a:extLst>
                  <a:ext uri="{FF2B5EF4-FFF2-40B4-BE49-F238E27FC236}">
                    <a16:creationId xmlns:a16="http://schemas.microsoft.com/office/drawing/2014/main" id="{2C1A81DD-413E-6692-DECD-FD5C1EFD6BE2}"/>
                  </a:ext>
                </a:extLst>
              </p:cNvPr>
              <p:cNvSpPr/>
              <p:nvPr/>
            </p:nvSpPr>
            <p:spPr>
              <a:xfrm>
                <a:off x="11724602" y="20340887"/>
                <a:ext cx="1389514" cy="13203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 name="Picture 15">
              <a:extLst>
                <a:ext uri="{FF2B5EF4-FFF2-40B4-BE49-F238E27FC236}">
                  <a16:creationId xmlns:a16="http://schemas.microsoft.com/office/drawing/2014/main" id="{7B121D58-CDD8-EA7A-2BA8-BA88B19C18DD}"/>
                </a:ext>
              </a:extLst>
            </p:cNvPr>
            <p:cNvPicPr>
              <a:picLocks noChangeAspect="1"/>
            </p:cNvPicPr>
            <p:nvPr/>
          </p:nvPicPr>
          <p:blipFill rotWithShape="1">
            <a:blip r:embed="rId7"/>
            <a:srcRect r="65984"/>
            <a:stretch/>
          </p:blipFill>
          <p:spPr>
            <a:xfrm>
              <a:off x="11817177" y="20107797"/>
              <a:ext cx="1036795" cy="1701800"/>
            </a:xfrm>
            <a:prstGeom prst="rect">
              <a:avLst/>
            </a:prstGeom>
          </p:spPr>
        </p:pic>
      </p:grpSp>
      <p:grpSp>
        <p:nvGrpSpPr>
          <p:cNvPr id="22" name="Group 21">
            <a:extLst>
              <a:ext uri="{FF2B5EF4-FFF2-40B4-BE49-F238E27FC236}">
                <a16:creationId xmlns:a16="http://schemas.microsoft.com/office/drawing/2014/main" id="{6BB8AB87-801B-2DBE-69A0-96FA748E6B02}"/>
              </a:ext>
            </a:extLst>
          </p:cNvPr>
          <p:cNvGrpSpPr/>
          <p:nvPr/>
        </p:nvGrpSpPr>
        <p:grpSpPr>
          <a:xfrm>
            <a:off x="101292" y="4137008"/>
            <a:ext cx="8621456" cy="2483204"/>
            <a:chOff x="283966" y="14363775"/>
            <a:chExt cx="8193094" cy="2350325"/>
          </a:xfrm>
        </p:grpSpPr>
        <p:grpSp>
          <p:nvGrpSpPr>
            <p:cNvPr id="23" name="Group 22">
              <a:extLst>
                <a:ext uri="{FF2B5EF4-FFF2-40B4-BE49-F238E27FC236}">
                  <a16:creationId xmlns:a16="http://schemas.microsoft.com/office/drawing/2014/main" id="{6FB566C4-03D9-C002-01D7-3B824D32DF41}"/>
                </a:ext>
              </a:extLst>
            </p:cNvPr>
            <p:cNvGrpSpPr/>
            <p:nvPr/>
          </p:nvGrpSpPr>
          <p:grpSpPr>
            <a:xfrm>
              <a:off x="283966" y="14363775"/>
              <a:ext cx="8193094" cy="2047074"/>
              <a:chOff x="283966" y="14363775"/>
              <a:chExt cx="8193094" cy="2047074"/>
            </a:xfrm>
          </p:grpSpPr>
          <p:grpSp>
            <p:nvGrpSpPr>
              <p:cNvPr id="25" name="Group 24">
                <a:extLst>
                  <a:ext uri="{FF2B5EF4-FFF2-40B4-BE49-F238E27FC236}">
                    <a16:creationId xmlns:a16="http://schemas.microsoft.com/office/drawing/2014/main" id="{680717A4-A7D5-FBE1-FC0D-86303E1A14E7}"/>
                  </a:ext>
                </a:extLst>
              </p:cNvPr>
              <p:cNvGrpSpPr/>
              <p:nvPr/>
            </p:nvGrpSpPr>
            <p:grpSpPr>
              <a:xfrm>
                <a:off x="283966" y="14363775"/>
                <a:ext cx="7594668" cy="2047074"/>
                <a:chOff x="283966" y="14363775"/>
                <a:chExt cx="7594668" cy="2047074"/>
              </a:xfrm>
            </p:grpSpPr>
            <p:sp>
              <p:nvSpPr>
                <p:cNvPr id="39" name="Rectangle 38">
                  <a:extLst>
                    <a:ext uri="{FF2B5EF4-FFF2-40B4-BE49-F238E27FC236}">
                      <a16:creationId xmlns:a16="http://schemas.microsoft.com/office/drawing/2014/main" id="{70FD1EEE-044C-80CB-2E91-5A36AB2286C1}"/>
                    </a:ext>
                  </a:extLst>
                </p:cNvPr>
                <p:cNvSpPr>
                  <a:spLocks noChangeAspect="1"/>
                </p:cNvSpPr>
                <p:nvPr/>
              </p:nvSpPr>
              <p:spPr>
                <a:xfrm>
                  <a:off x="283966" y="14740014"/>
                  <a:ext cx="2404871" cy="167083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n w="19050">
                      <a:solidFill>
                        <a:schemeClr val="tx1"/>
                      </a:solidFill>
                    </a:ln>
                    <a:solidFill>
                      <a:sysClr val="windowText" lastClr="000000"/>
                    </a:solidFill>
                  </a:endParaRPr>
                </a:p>
              </p:txBody>
            </p:sp>
            <p:sp>
              <p:nvSpPr>
                <p:cNvPr id="28" name="TextBox 27">
                  <a:extLst>
                    <a:ext uri="{FF2B5EF4-FFF2-40B4-BE49-F238E27FC236}">
                      <a16:creationId xmlns:a16="http://schemas.microsoft.com/office/drawing/2014/main" id="{95FD80BB-60C2-3977-8285-500746C45BD7}"/>
                    </a:ext>
                  </a:extLst>
                </p:cNvPr>
                <p:cNvSpPr txBox="1"/>
                <p:nvPr/>
              </p:nvSpPr>
              <p:spPr>
                <a:xfrm>
                  <a:off x="2879356" y="14363775"/>
                  <a:ext cx="2404871" cy="461665"/>
                </a:xfrm>
                <a:prstGeom prst="rect">
                  <a:avLst/>
                </a:prstGeom>
                <a:noFill/>
              </p:spPr>
              <p:txBody>
                <a:bodyPr wrap="square" rtlCol="0">
                  <a:spAutoFit/>
                </a:bodyPr>
                <a:lstStyle/>
                <a:p>
                  <a:pPr algn="ctr"/>
                  <a:r>
                    <a:rPr lang="en-US" sz="2400" b="1" dirty="0"/>
                    <a:t>Repeat</a:t>
                  </a:r>
                </a:p>
              </p:txBody>
            </p:sp>
            <p:sp>
              <p:nvSpPr>
                <p:cNvPr id="29" name="TextBox 28">
                  <a:extLst>
                    <a:ext uri="{FF2B5EF4-FFF2-40B4-BE49-F238E27FC236}">
                      <a16:creationId xmlns:a16="http://schemas.microsoft.com/office/drawing/2014/main" id="{FDDB660D-7A91-B160-99EF-D5FB06A8B9F5}"/>
                    </a:ext>
                  </a:extLst>
                </p:cNvPr>
                <p:cNvSpPr txBox="1"/>
                <p:nvPr/>
              </p:nvSpPr>
              <p:spPr>
                <a:xfrm>
                  <a:off x="5473763" y="14363776"/>
                  <a:ext cx="2404871" cy="461665"/>
                </a:xfrm>
                <a:prstGeom prst="rect">
                  <a:avLst/>
                </a:prstGeom>
                <a:noFill/>
              </p:spPr>
              <p:txBody>
                <a:bodyPr wrap="square" rtlCol="0">
                  <a:spAutoFit/>
                </a:bodyPr>
                <a:lstStyle/>
                <a:p>
                  <a:pPr algn="ctr"/>
                  <a:r>
                    <a:rPr lang="en-US" sz="2400" b="1" dirty="0"/>
                    <a:t>Switch</a:t>
                  </a:r>
                </a:p>
              </p:txBody>
            </p:sp>
          </p:grpSp>
          <p:sp>
            <p:nvSpPr>
              <p:cNvPr id="26" name="TextBox 25">
                <a:extLst>
                  <a:ext uri="{FF2B5EF4-FFF2-40B4-BE49-F238E27FC236}">
                    <a16:creationId xmlns:a16="http://schemas.microsoft.com/office/drawing/2014/main" id="{5E29BBAB-41F3-F181-6064-0364A6D59037}"/>
                  </a:ext>
                </a:extLst>
              </p:cNvPr>
              <p:cNvSpPr txBox="1"/>
              <p:nvPr/>
            </p:nvSpPr>
            <p:spPr>
              <a:xfrm>
                <a:off x="8086666" y="15180742"/>
                <a:ext cx="390394" cy="584775"/>
              </a:xfrm>
              <a:prstGeom prst="rect">
                <a:avLst/>
              </a:prstGeom>
              <a:noFill/>
            </p:spPr>
            <p:txBody>
              <a:bodyPr wrap="square" rtlCol="0">
                <a:spAutoFit/>
              </a:bodyPr>
              <a:lstStyle/>
              <a:p>
                <a:r>
                  <a:rPr lang="en-US" sz="3200" dirty="0"/>
                  <a:t>…</a:t>
                </a:r>
              </a:p>
            </p:txBody>
          </p:sp>
        </p:grpSp>
        <p:cxnSp>
          <p:nvCxnSpPr>
            <p:cNvPr id="24" name="Straight Arrow Connector 23">
              <a:extLst>
                <a:ext uri="{FF2B5EF4-FFF2-40B4-BE49-F238E27FC236}">
                  <a16:creationId xmlns:a16="http://schemas.microsoft.com/office/drawing/2014/main" id="{404C0EDA-DF56-49AE-7E04-F848A8CFD66E}"/>
                </a:ext>
              </a:extLst>
            </p:cNvPr>
            <p:cNvCxnSpPr>
              <a:cxnSpLocks/>
            </p:cNvCxnSpPr>
            <p:nvPr/>
          </p:nvCxnSpPr>
          <p:spPr>
            <a:xfrm>
              <a:off x="2296310" y="16714100"/>
              <a:ext cx="382189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4" name="TextBox 53">
            <a:extLst>
              <a:ext uri="{FF2B5EF4-FFF2-40B4-BE49-F238E27FC236}">
                <a16:creationId xmlns:a16="http://schemas.microsoft.com/office/drawing/2014/main" id="{44FEC155-AFCD-4E3C-FE46-DC3839CD018C}"/>
              </a:ext>
            </a:extLst>
          </p:cNvPr>
          <p:cNvSpPr txBox="1"/>
          <p:nvPr/>
        </p:nvSpPr>
        <p:spPr>
          <a:xfrm>
            <a:off x="8518594" y="4263782"/>
            <a:ext cx="2368819" cy="1077218"/>
          </a:xfrm>
          <a:prstGeom prst="rect">
            <a:avLst/>
          </a:prstGeom>
          <a:noFill/>
        </p:spPr>
        <p:txBody>
          <a:bodyPr wrap="square" rtlCol="0">
            <a:spAutoFit/>
          </a:bodyPr>
          <a:lstStyle/>
          <a:p>
            <a:pPr algn="ctr"/>
            <a:r>
              <a:rPr lang="en-US" sz="3200" b="1" u="sng" dirty="0">
                <a:solidFill>
                  <a:srgbClr val="FF0000"/>
                </a:solidFill>
              </a:rPr>
              <a:t>Red Frame: </a:t>
            </a:r>
            <a:r>
              <a:rPr lang="en-US" sz="3200" dirty="0">
                <a:solidFill>
                  <a:srgbClr val="FF0000"/>
                </a:solidFill>
              </a:rPr>
              <a:t>Small Letter</a:t>
            </a:r>
          </a:p>
        </p:txBody>
      </p:sp>
      <p:sp>
        <p:nvSpPr>
          <p:cNvPr id="55" name="TextBox 54">
            <a:extLst>
              <a:ext uri="{FF2B5EF4-FFF2-40B4-BE49-F238E27FC236}">
                <a16:creationId xmlns:a16="http://schemas.microsoft.com/office/drawing/2014/main" id="{87197C09-EBD2-7671-0B4E-44FE8B658C45}"/>
              </a:ext>
            </a:extLst>
          </p:cNvPr>
          <p:cNvSpPr txBox="1"/>
          <p:nvPr/>
        </p:nvSpPr>
        <p:spPr>
          <a:xfrm>
            <a:off x="8380230" y="5493848"/>
            <a:ext cx="2695524" cy="1354217"/>
          </a:xfrm>
          <a:prstGeom prst="rect">
            <a:avLst/>
          </a:prstGeom>
          <a:noFill/>
        </p:spPr>
        <p:txBody>
          <a:bodyPr wrap="square" rtlCol="0">
            <a:spAutoFit/>
          </a:bodyPr>
          <a:lstStyle/>
          <a:p>
            <a:pPr algn="ctr"/>
            <a:r>
              <a:rPr lang="en-US" sz="3200" b="1" u="sng" dirty="0">
                <a:solidFill>
                  <a:schemeClr val="accent1"/>
                </a:solidFill>
              </a:rPr>
              <a:t>Blue Frame:</a:t>
            </a:r>
          </a:p>
          <a:p>
            <a:pPr algn="ctr"/>
            <a:r>
              <a:rPr lang="en-US" sz="3200" dirty="0">
                <a:solidFill>
                  <a:schemeClr val="accent1"/>
                </a:solidFill>
              </a:rPr>
              <a:t>Big Letter</a:t>
            </a:r>
          </a:p>
          <a:p>
            <a:endParaRPr lang="en-US" dirty="0"/>
          </a:p>
        </p:txBody>
      </p:sp>
      <p:pic>
        <p:nvPicPr>
          <p:cNvPr id="56" name="Picture 55">
            <a:extLst>
              <a:ext uri="{FF2B5EF4-FFF2-40B4-BE49-F238E27FC236}">
                <a16:creationId xmlns:a16="http://schemas.microsoft.com/office/drawing/2014/main" id="{6F1FB186-1B3F-C997-5563-4167949BE7B0}"/>
              </a:ext>
            </a:extLst>
          </p:cNvPr>
          <p:cNvPicPr>
            <a:picLocks noChangeAspect="1"/>
          </p:cNvPicPr>
          <p:nvPr/>
        </p:nvPicPr>
        <p:blipFill rotWithShape="1">
          <a:blip r:embed="rId7"/>
          <a:srcRect r="65984"/>
          <a:stretch/>
        </p:blipFill>
        <p:spPr>
          <a:xfrm>
            <a:off x="-4713329" y="4490108"/>
            <a:ext cx="770878" cy="1265323"/>
          </a:xfrm>
          <a:prstGeom prst="rect">
            <a:avLst/>
          </a:prstGeom>
        </p:spPr>
      </p:pic>
      <p:sp>
        <p:nvSpPr>
          <p:cNvPr id="58" name="TextBox 57">
            <a:extLst>
              <a:ext uri="{FF2B5EF4-FFF2-40B4-BE49-F238E27FC236}">
                <a16:creationId xmlns:a16="http://schemas.microsoft.com/office/drawing/2014/main" id="{2ECD8729-B7E6-16BD-BCDB-8A94E1DE3CDE}"/>
              </a:ext>
            </a:extLst>
          </p:cNvPr>
          <p:cNvSpPr txBox="1"/>
          <p:nvPr/>
        </p:nvSpPr>
        <p:spPr>
          <a:xfrm>
            <a:off x="-6606647" y="615261"/>
            <a:ext cx="742513" cy="1477328"/>
          </a:xfrm>
          <a:prstGeom prst="rect">
            <a:avLst/>
          </a:prstGeom>
          <a:noFill/>
          <a:ln w="38100">
            <a:solidFill>
              <a:schemeClr val="accent1"/>
            </a:solidFill>
          </a:ln>
        </p:spPr>
        <p:txBody>
          <a:bodyPr wrap="square" rtlCol="0">
            <a:spAutoFit/>
          </a:bodyPr>
          <a:lstStyle/>
          <a:p>
            <a:r>
              <a:rPr lang="en-US" dirty="0"/>
              <a:t>S S S</a:t>
            </a:r>
          </a:p>
          <a:p>
            <a:r>
              <a:rPr lang="en-US" dirty="0"/>
              <a:t>S</a:t>
            </a:r>
          </a:p>
          <a:p>
            <a:r>
              <a:rPr lang="en-US" dirty="0"/>
              <a:t>S S S</a:t>
            </a:r>
          </a:p>
          <a:p>
            <a:r>
              <a:rPr lang="en-US" dirty="0">
                <a:solidFill>
                  <a:schemeClr val="bg1"/>
                </a:solidFill>
              </a:rPr>
              <a:t>S S </a:t>
            </a:r>
            <a:r>
              <a:rPr lang="en-US" dirty="0"/>
              <a:t>S</a:t>
            </a:r>
          </a:p>
          <a:p>
            <a:r>
              <a:rPr lang="en-US" dirty="0"/>
              <a:t>S S S</a:t>
            </a:r>
          </a:p>
        </p:txBody>
      </p:sp>
      <p:sp>
        <p:nvSpPr>
          <p:cNvPr id="59" name="TextBox 58">
            <a:extLst>
              <a:ext uri="{FF2B5EF4-FFF2-40B4-BE49-F238E27FC236}">
                <a16:creationId xmlns:a16="http://schemas.microsoft.com/office/drawing/2014/main" id="{AF96AC91-9430-F4D6-979C-7D8A161052C5}"/>
              </a:ext>
            </a:extLst>
          </p:cNvPr>
          <p:cNvSpPr txBox="1"/>
          <p:nvPr/>
        </p:nvSpPr>
        <p:spPr>
          <a:xfrm>
            <a:off x="939334" y="4678506"/>
            <a:ext cx="721140" cy="1477328"/>
          </a:xfrm>
          <a:prstGeom prst="rect">
            <a:avLst/>
          </a:prstGeom>
          <a:noFill/>
          <a:ln w="38100">
            <a:solidFill>
              <a:schemeClr val="accent1"/>
            </a:solidFill>
          </a:ln>
        </p:spPr>
        <p:txBody>
          <a:bodyPr wrap="square" rtlCol="0">
            <a:spAutoFit/>
          </a:bodyPr>
          <a:lstStyle/>
          <a:p>
            <a:pPr algn="ctr"/>
            <a:r>
              <a:rPr lang="en-US" dirty="0"/>
              <a:t>S </a:t>
            </a:r>
            <a:r>
              <a:rPr lang="en-US" dirty="0">
                <a:solidFill>
                  <a:schemeClr val="bg2"/>
                </a:solidFill>
              </a:rPr>
              <a:t>S</a:t>
            </a:r>
            <a:r>
              <a:rPr lang="en-US" dirty="0"/>
              <a:t> S</a:t>
            </a:r>
          </a:p>
          <a:p>
            <a:pPr algn="ctr"/>
            <a:r>
              <a:rPr lang="en-US" dirty="0"/>
              <a:t>S </a:t>
            </a:r>
            <a:r>
              <a:rPr lang="en-US" dirty="0">
                <a:solidFill>
                  <a:schemeClr val="bg2"/>
                </a:solidFill>
              </a:rPr>
              <a:t>S</a:t>
            </a:r>
            <a:r>
              <a:rPr lang="en-US" dirty="0"/>
              <a:t> S</a:t>
            </a:r>
          </a:p>
          <a:p>
            <a:pPr algn="ctr"/>
            <a:r>
              <a:rPr lang="en-US" dirty="0"/>
              <a:t>S S S</a:t>
            </a:r>
          </a:p>
          <a:p>
            <a:pPr algn="ctr"/>
            <a:r>
              <a:rPr lang="en-US" dirty="0"/>
              <a:t>S </a:t>
            </a:r>
            <a:r>
              <a:rPr lang="en-US" dirty="0">
                <a:solidFill>
                  <a:schemeClr val="bg2"/>
                </a:solidFill>
              </a:rPr>
              <a:t>S</a:t>
            </a:r>
            <a:r>
              <a:rPr lang="en-US" dirty="0"/>
              <a:t> S</a:t>
            </a:r>
          </a:p>
          <a:p>
            <a:pPr algn="ctr"/>
            <a:r>
              <a:rPr lang="en-US" dirty="0"/>
              <a:t>S</a:t>
            </a:r>
            <a:r>
              <a:rPr lang="en-US" dirty="0">
                <a:solidFill>
                  <a:schemeClr val="bg2"/>
                </a:solidFill>
              </a:rPr>
              <a:t> S </a:t>
            </a:r>
            <a:r>
              <a:rPr lang="en-US" dirty="0"/>
              <a:t>S</a:t>
            </a:r>
          </a:p>
        </p:txBody>
      </p:sp>
      <p:sp>
        <p:nvSpPr>
          <p:cNvPr id="60" name="TextBox 59">
            <a:extLst>
              <a:ext uri="{FF2B5EF4-FFF2-40B4-BE49-F238E27FC236}">
                <a16:creationId xmlns:a16="http://schemas.microsoft.com/office/drawing/2014/main" id="{4F22E50C-F3E7-CB4F-9997-6144751335BA}"/>
              </a:ext>
            </a:extLst>
          </p:cNvPr>
          <p:cNvSpPr txBox="1"/>
          <p:nvPr/>
        </p:nvSpPr>
        <p:spPr>
          <a:xfrm>
            <a:off x="-3538872" y="1654926"/>
            <a:ext cx="721140" cy="1477328"/>
          </a:xfrm>
          <a:prstGeom prst="rect">
            <a:avLst/>
          </a:prstGeom>
          <a:noFill/>
          <a:ln w="38100">
            <a:solidFill>
              <a:schemeClr val="accent1"/>
            </a:solidFill>
          </a:ln>
        </p:spPr>
        <p:txBody>
          <a:bodyPr wrap="square" rtlCol="0">
            <a:spAutoFit/>
          </a:bodyPr>
          <a:lstStyle/>
          <a:p>
            <a:pPr algn="ctr"/>
            <a:r>
              <a:rPr lang="en-US" dirty="0"/>
              <a:t>H </a:t>
            </a:r>
            <a:r>
              <a:rPr lang="en-US" dirty="0">
                <a:solidFill>
                  <a:schemeClr val="bg1"/>
                </a:solidFill>
              </a:rPr>
              <a:t>S</a:t>
            </a:r>
            <a:r>
              <a:rPr lang="en-US" dirty="0"/>
              <a:t> H</a:t>
            </a:r>
          </a:p>
          <a:p>
            <a:pPr algn="ctr"/>
            <a:r>
              <a:rPr lang="en-US" dirty="0"/>
              <a:t>H </a:t>
            </a:r>
            <a:r>
              <a:rPr lang="en-US" dirty="0">
                <a:solidFill>
                  <a:schemeClr val="bg1"/>
                </a:solidFill>
              </a:rPr>
              <a:t>S</a:t>
            </a:r>
            <a:r>
              <a:rPr lang="en-US" dirty="0"/>
              <a:t> H</a:t>
            </a:r>
          </a:p>
          <a:p>
            <a:pPr algn="ctr"/>
            <a:r>
              <a:rPr lang="en-US" dirty="0"/>
              <a:t>H H H</a:t>
            </a:r>
          </a:p>
          <a:p>
            <a:pPr algn="ctr"/>
            <a:r>
              <a:rPr lang="en-US" dirty="0"/>
              <a:t>H </a:t>
            </a:r>
            <a:r>
              <a:rPr lang="en-US" dirty="0">
                <a:solidFill>
                  <a:schemeClr val="bg1"/>
                </a:solidFill>
              </a:rPr>
              <a:t>S</a:t>
            </a:r>
            <a:r>
              <a:rPr lang="en-US" dirty="0"/>
              <a:t> H</a:t>
            </a:r>
          </a:p>
          <a:p>
            <a:pPr algn="ctr"/>
            <a:r>
              <a:rPr lang="en-US" dirty="0"/>
              <a:t>H </a:t>
            </a:r>
            <a:r>
              <a:rPr lang="en-US" dirty="0">
                <a:solidFill>
                  <a:schemeClr val="bg1"/>
                </a:solidFill>
              </a:rPr>
              <a:t>S</a:t>
            </a:r>
            <a:r>
              <a:rPr lang="en-US" dirty="0"/>
              <a:t> H</a:t>
            </a:r>
          </a:p>
        </p:txBody>
      </p:sp>
      <p:sp>
        <p:nvSpPr>
          <p:cNvPr id="67" name="Rectangle 66">
            <a:extLst>
              <a:ext uri="{FF2B5EF4-FFF2-40B4-BE49-F238E27FC236}">
                <a16:creationId xmlns:a16="http://schemas.microsoft.com/office/drawing/2014/main" id="{65B49007-6988-447F-403A-2B2762BCF341}"/>
              </a:ext>
            </a:extLst>
          </p:cNvPr>
          <p:cNvSpPr>
            <a:spLocks noChangeAspect="1"/>
          </p:cNvSpPr>
          <p:nvPr/>
        </p:nvSpPr>
        <p:spPr>
          <a:xfrm>
            <a:off x="2808102" y="4545230"/>
            <a:ext cx="2530605" cy="17652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n w="19050">
                <a:solidFill>
                  <a:schemeClr val="tx1"/>
                </a:solidFill>
              </a:ln>
              <a:solidFill>
                <a:sysClr val="windowText" lastClr="000000"/>
              </a:solidFill>
            </a:endParaRPr>
          </a:p>
        </p:txBody>
      </p:sp>
      <p:sp>
        <p:nvSpPr>
          <p:cNvPr id="57" name="TextBox 56">
            <a:extLst>
              <a:ext uri="{FF2B5EF4-FFF2-40B4-BE49-F238E27FC236}">
                <a16:creationId xmlns:a16="http://schemas.microsoft.com/office/drawing/2014/main" id="{BE205730-7FFD-4B9F-34F2-8F2F51704BFA}"/>
              </a:ext>
            </a:extLst>
          </p:cNvPr>
          <p:cNvSpPr txBox="1"/>
          <p:nvPr/>
        </p:nvSpPr>
        <p:spPr>
          <a:xfrm>
            <a:off x="3736041" y="4693629"/>
            <a:ext cx="723275" cy="1477328"/>
          </a:xfrm>
          <a:prstGeom prst="rect">
            <a:avLst/>
          </a:prstGeom>
          <a:noFill/>
          <a:ln w="38100">
            <a:solidFill>
              <a:schemeClr val="accent1"/>
            </a:solidFill>
          </a:ln>
        </p:spPr>
        <p:txBody>
          <a:bodyPr wrap="none" rtlCol="0">
            <a:spAutoFit/>
          </a:bodyPr>
          <a:lstStyle/>
          <a:p>
            <a:r>
              <a:rPr lang="en-US" dirty="0"/>
              <a:t>H H H</a:t>
            </a:r>
          </a:p>
          <a:p>
            <a:r>
              <a:rPr lang="en-US" dirty="0"/>
              <a:t>H</a:t>
            </a:r>
          </a:p>
          <a:p>
            <a:r>
              <a:rPr lang="en-US" dirty="0"/>
              <a:t>H H H</a:t>
            </a:r>
          </a:p>
          <a:p>
            <a:r>
              <a:rPr lang="en-US" dirty="0">
                <a:solidFill>
                  <a:schemeClr val="bg2"/>
                </a:solidFill>
              </a:rPr>
              <a:t>HH </a:t>
            </a:r>
            <a:r>
              <a:rPr lang="en-US" dirty="0">
                <a:solidFill>
                  <a:schemeClr val="bg1"/>
                </a:solidFill>
              </a:rPr>
              <a:t> </a:t>
            </a:r>
            <a:r>
              <a:rPr lang="en-US" dirty="0"/>
              <a:t>H</a:t>
            </a:r>
          </a:p>
          <a:p>
            <a:r>
              <a:rPr lang="en-US" dirty="0"/>
              <a:t>H H H</a:t>
            </a:r>
          </a:p>
        </p:txBody>
      </p:sp>
      <p:sp>
        <p:nvSpPr>
          <p:cNvPr id="69" name="Rectangle 68">
            <a:extLst>
              <a:ext uri="{FF2B5EF4-FFF2-40B4-BE49-F238E27FC236}">
                <a16:creationId xmlns:a16="http://schemas.microsoft.com/office/drawing/2014/main" id="{A7821A9C-EFF5-0FD4-E6FF-EAD165057B76}"/>
              </a:ext>
            </a:extLst>
          </p:cNvPr>
          <p:cNvSpPr>
            <a:spLocks noChangeAspect="1"/>
          </p:cNvSpPr>
          <p:nvPr/>
        </p:nvSpPr>
        <p:spPr>
          <a:xfrm>
            <a:off x="5538154" y="4534520"/>
            <a:ext cx="2530605" cy="17652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n w="19050">
                <a:solidFill>
                  <a:schemeClr val="tx1"/>
                </a:solidFill>
              </a:ln>
              <a:solidFill>
                <a:sysClr val="windowText" lastClr="000000"/>
              </a:solidFill>
            </a:endParaRPr>
          </a:p>
        </p:txBody>
      </p:sp>
      <p:sp>
        <p:nvSpPr>
          <p:cNvPr id="70" name="TextBox 69">
            <a:extLst>
              <a:ext uri="{FF2B5EF4-FFF2-40B4-BE49-F238E27FC236}">
                <a16:creationId xmlns:a16="http://schemas.microsoft.com/office/drawing/2014/main" id="{EBECC8F6-9BF9-F730-DA5F-A7A8C4304466}"/>
              </a:ext>
            </a:extLst>
          </p:cNvPr>
          <p:cNvSpPr txBox="1"/>
          <p:nvPr/>
        </p:nvSpPr>
        <p:spPr>
          <a:xfrm>
            <a:off x="6466093" y="4682919"/>
            <a:ext cx="723275" cy="1477328"/>
          </a:xfrm>
          <a:prstGeom prst="rect">
            <a:avLst/>
          </a:prstGeom>
          <a:noFill/>
          <a:ln w="38100">
            <a:solidFill>
              <a:srgbClr val="FF0000"/>
            </a:solidFill>
          </a:ln>
        </p:spPr>
        <p:txBody>
          <a:bodyPr wrap="none" rtlCol="0">
            <a:spAutoFit/>
          </a:bodyPr>
          <a:lstStyle/>
          <a:p>
            <a:r>
              <a:rPr lang="en-US" dirty="0"/>
              <a:t>H H H</a:t>
            </a:r>
          </a:p>
          <a:p>
            <a:r>
              <a:rPr lang="en-US" dirty="0"/>
              <a:t>H</a:t>
            </a:r>
          </a:p>
          <a:p>
            <a:r>
              <a:rPr lang="en-US" dirty="0"/>
              <a:t>H H H</a:t>
            </a:r>
          </a:p>
          <a:p>
            <a:r>
              <a:rPr lang="en-US" dirty="0">
                <a:solidFill>
                  <a:schemeClr val="bg2"/>
                </a:solidFill>
              </a:rPr>
              <a:t>HH </a:t>
            </a:r>
            <a:r>
              <a:rPr lang="en-US" dirty="0">
                <a:solidFill>
                  <a:schemeClr val="bg1"/>
                </a:solidFill>
              </a:rPr>
              <a:t> </a:t>
            </a:r>
            <a:r>
              <a:rPr lang="en-US" dirty="0"/>
              <a:t>H</a:t>
            </a:r>
          </a:p>
          <a:p>
            <a:r>
              <a:rPr lang="en-US" dirty="0"/>
              <a:t>H H H</a:t>
            </a:r>
          </a:p>
        </p:txBody>
      </p:sp>
      <p:sp>
        <p:nvSpPr>
          <p:cNvPr id="4" name="TextBox 3">
            <a:extLst>
              <a:ext uri="{FF2B5EF4-FFF2-40B4-BE49-F238E27FC236}">
                <a16:creationId xmlns:a16="http://schemas.microsoft.com/office/drawing/2014/main" id="{C39E0185-BC62-5666-B196-C0F86E06ADA6}"/>
              </a:ext>
            </a:extLst>
          </p:cNvPr>
          <p:cNvSpPr txBox="1"/>
          <p:nvPr/>
        </p:nvSpPr>
        <p:spPr>
          <a:xfrm>
            <a:off x="6765185" y="1706095"/>
            <a:ext cx="5426815" cy="1569660"/>
          </a:xfrm>
          <a:prstGeom prst="rect">
            <a:avLst/>
          </a:prstGeom>
          <a:noFill/>
        </p:spPr>
        <p:txBody>
          <a:bodyPr wrap="square" rtlCol="0">
            <a:spAutoFit/>
          </a:bodyPr>
          <a:lstStyle/>
          <a:p>
            <a:r>
              <a:rPr lang="en-US" sz="3200" dirty="0"/>
              <a:t>Congruency Effect = </a:t>
            </a:r>
            <a:r>
              <a:rPr lang="en-US" sz="3200" dirty="0" err="1"/>
              <a:t>RT</a:t>
            </a:r>
            <a:r>
              <a:rPr lang="en-US" sz="3200" baseline="-25000" dirty="0" err="1"/>
              <a:t>inc</a:t>
            </a:r>
            <a:r>
              <a:rPr lang="en-US" sz="3200" baseline="-25000" dirty="0"/>
              <a:t> </a:t>
            </a:r>
            <a:r>
              <a:rPr lang="en-US" sz="3200" dirty="0"/>
              <a:t>– </a:t>
            </a:r>
            <a:r>
              <a:rPr lang="en-US" sz="3200" dirty="0" err="1"/>
              <a:t>RT</a:t>
            </a:r>
            <a:r>
              <a:rPr lang="en-US" sz="3200" baseline="-25000" dirty="0" err="1"/>
              <a:t>con</a:t>
            </a:r>
            <a:endParaRPr lang="en-US" sz="3200" baseline="-25000" dirty="0"/>
          </a:p>
          <a:p>
            <a:r>
              <a:rPr lang="en-US" sz="3200" dirty="0"/>
              <a:t>Switch Cost = </a:t>
            </a:r>
            <a:r>
              <a:rPr lang="en-US" sz="3200" dirty="0" err="1"/>
              <a:t>RT</a:t>
            </a:r>
            <a:r>
              <a:rPr lang="en-US" sz="3200" baseline="-25000" dirty="0" err="1"/>
              <a:t>switch</a:t>
            </a:r>
            <a:r>
              <a:rPr lang="en-US" sz="3200" baseline="-25000" dirty="0"/>
              <a:t> </a:t>
            </a:r>
            <a:r>
              <a:rPr lang="en-US" sz="3200" dirty="0"/>
              <a:t>– </a:t>
            </a:r>
            <a:r>
              <a:rPr lang="en-US" sz="3200" dirty="0" err="1"/>
              <a:t>RT</a:t>
            </a:r>
            <a:r>
              <a:rPr lang="en-US" sz="3200" baseline="-25000" dirty="0" err="1"/>
              <a:t>repeat</a:t>
            </a:r>
            <a:endParaRPr lang="en-US" sz="3200" baseline="-25000" dirty="0"/>
          </a:p>
          <a:p>
            <a:endParaRPr lang="en-US" sz="3200" dirty="0"/>
          </a:p>
        </p:txBody>
      </p:sp>
      <p:sp>
        <p:nvSpPr>
          <p:cNvPr id="6" name="Rectangle 5">
            <a:extLst>
              <a:ext uri="{FF2B5EF4-FFF2-40B4-BE49-F238E27FC236}">
                <a16:creationId xmlns:a16="http://schemas.microsoft.com/office/drawing/2014/main" id="{AFDF959F-267A-FF05-785A-610FEA22E9BC}"/>
              </a:ext>
            </a:extLst>
          </p:cNvPr>
          <p:cNvSpPr/>
          <p:nvPr/>
        </p:nvSpPr>
        <p:spPr>
          <a:xfrm>
            <a:off x="0" y="4137008"/>
            <a:ext cx="11226270" cy="27110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5B494FB0-3413-16CA-FCB5-11E5707C27F0}"/>
              </a:ext>
            </a:extLst>
          </p:cNvPr>
          <p:cNvSpPr/>
          <p:nvPr/>
        </p:nvSpPr>
        <p:spPr>
          <a:xfrm>
            <a:off x="6765185" y="2233234"/>
            <a:ext cx="5426815" cy="27110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9903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7E734-77CA-107B-AA5F-228D74A982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DB7702-811F-AF65-3A7B-F2D2B869B329}"/>
              </a:ext>
            </a:extLst>
          </p:cNvPr>
          <p:cNvSpPr>
            <a:spLocks noGrp="1"/>
          </p:cNvSpPr>
          <p:nvPr>
            <p:ph type="title"/>
          </p:nvPr>
        </p:nvSpPr>
        <p:spPr>
          <a:xfrm>
            <a:off x="965730" y="-172446"/>
            <a:ext cx="10515600" cy="1325563"/>
          </a:xfrm>
        </p:spPr>
        <p:txBody>
          <a:bodyPr/>
          <a:lstStyle/>
          <a:p>
            <a:r>
              <a:rPr lang="en-US" dirty="0"/>
              <a:t>Our tasks measure both stability and flexibility</a:t>
            </a:r>
          </a:p>
        </p:txBody>
      </p:sp>
      <p:pic>
        <p:nvPicPr>
          <p:cNvPr id="3" name="Picture 2">
            <a:extLst>
              <a:ext uri="{FF2B5EF4-FFF2-40B4-BE49-F238E27FC236}">
                <a16:creationId xmlns:a16="http://schemas.microsoft.com/office/drawing/2014/main" id="{6E07A890-DD4C-C505-5DBF-018CC8811B4C}"/>
              </a:ext>
            </a:extLst>
          </p:cNvPr>
          <p:cNvPicPr>
            <a:picLocks noChangeAspect="1"/>
          </p:cNvPicPr>
          <p:nvPr/>
        </p:nvPicPr>
        <p:blipFill>
          <a:blip r:embed="rId3"/>
          <a:stretch>
            <a:fillRect/>
          </a:stretch>
        </p:blipFill>
        <p:spPr>
          <a:xfrm>
            <a:off x="164968" y="1339241"/>
            <a:ext cx="5715000" cy="1765300"/>
          </a:xfrm>
          <a:prstGeom prst="rect">
            <a:avLst/>
          </a:prstGeom>
        </p:spPr>
      </p:pic>
      <p:sp>
        <p:nvSpPr>
          <p:cNvPr id="9" name="TextBox 8">
            <a:extLst>
              <a:ext uri="{FF2B5EF4-FFF2-40B4-BE49-F238E27FC236}">
                <a16:creationId xmlns:a16="http://schemas.microsoft.com/office/drawing/2014/main" id="{6E1A22C3-CA8D-9EDC-D7CB-2C336069A446}"/>
              </a:ext>
            </a:extLst>
          </p:cNvPr>
          <p:cNvSpPr txBox="1"/>
          <p:nvPr/>
        </p:nvSpPr>
        <p:spPr>
          <a:xfrm>
            <a:off x="164968" y="3177657"/>
            <a:ext cx="1342417" cy="369332"/>
          </a:xfrm>
          <a:prstGeom prst="rect">
            <a:avLst/>
          </a:prstGeom>
          <a:noFill/>
        </p:spPr>
        <p:txBody>
          <a:bodyPr wrap="square" rtlCol="0">
            <a:spAutoFit/>
          </a:bodyPr>
          <a:lstStyle/>
          <a:p>
            <a:r>
              <a:rPr lang="en-US" dirty="0"/>
              <a:t>congruent</a:t>
            </a:r>
          </a:p>
        </p:txBody>
      </p:sp>
      <p:sp>
        <p:nvSpPr>
          <p:cNvPr id="10" name="TextBox 9">
            <a:extLst>
              <a:ext uri="{FF2B5EF4-FFF2-40B4-BE49-F238E27FC236}">
                <a16:creationId xmlns:a16="http://schemas.microsoft.com/office/drawing/2014/main" id="{192D57D3-4745-3F07-B6E4-D415C7DA7F3F}"/>
              </a:ext>
            </a:extLst>
          </p:cNvPr>
          <p:cNvSpPr txBox="1"/>
          <p:nvPr/>
        </p:nvSpPr>
        <p:spPr>
          <a:xfrm>
            <a:off x="1632821" y="3162356"/>
            <a:ext cx="1342417" cy="369332"/>
          </a:xfrm>
          <a:prstGeom prst="rect">
            <a:avLst/>
          </a:prstGeom>
          <a:noFill/>
        </p:spPr>
        <p:txBody>
          <a:bodyPr wrap="square" rtlCol="0">
            <a:spAutoFit/>
          </a:bodyPr>
          <a:lstStyle/>
          <a:p>
            <a:r>
              <a:rPr lang="en-US" dirty="0"/>
              <a:t>incongruent</a:t>
            </a:r>
          </a:p>
        </p:txBody>
      </p:sp>
      <p:sp>
        <p:nvSpPr>
          <p:cNvPr id="11" name="TextBox 10">
            <a:extLst>
              <a:ext uri="{FF2B5EF4-FFF2-40B4-BE49-F238E27FC236}">
                <a16:creationId xmlns:a16="http://schemas.microsoft.com/office/drawing/2014/main" id="{B55EA478-A628-665A-08DC-0753DC01E8F8}"/>
              </a:ext>
            </a:extLst>
          </p:cNvPr>
          <p:cNvSpPr txBox="1"/>
          <p:nvPr/>
        </p:nvSpPr>
        <p:spPr>
          <a:xfrm>
            <a:off x="3189459" y="3177657"/>
            <a:ext cx="1342417" cy="369332"/>
          </a:xfrm>
          <a:prstGeom prst="rect">
            <a:avLst/>
          </a:prstGeom>
          <a:noFill/>
        </p:spPr>
        <p:txBody>
          <a:bodyPr wrap="square" rtlCol="0">
            <a:spAutoFit/>
          </a:bodyPr>
          <a:lstStyle/>
          <a:p>
            <a:r>
              <a:rPr lang="en-US" dirty="0"/>
              <a:t>incongruent</a:t>
            </a:r>
          </a:p>
        </p:txBody>
      </p:sp>
      <p:sp>
        <p:nvSpPr>
          <p:cNvPr id="12" name="TextBox 11">
            <a:extLst>
              <a:ext uri="{FF2B5EF4-FFF2-40B4-BE49-F238E27FC236}">
                <a16:creationId xmlns:a16="http://schemas.microsoft.com/office/drawing/2014/main" id="{F24DA976-2776-661A-DF86-BE663C51C6AE}"/>
              </a:ext>
            </a:extLst>
          </p:cNvPr>
          <p:cNvSpPr txBox="1"/>
          <p:nvPr/>
        </p:nvSpPr>
        <p:spPr>
          <a:xfrm>
            <a:off x="4871533" y="3162356"/>
            <a:ext cx="1342417" cy="369332"/>
          </a:xfrm>
          <a:prstGeom prst="rect">
            <a:avLst/>
          </a:prstGeom>
          <a:noFill/>
        </p:spPr>
        <p:txBody>
          <a:bodyPr wrap="square" rtlCol="0">
            <a:spAutoFit/>
          </a:bodyPr>
          <a:lstStyle/>
          <a:p>
            <a:r>
              <a:rPr lang="en-US" dirty="0"/>
              <a:t>congruent</a:t>
            </a:r>
          </a:p>
        </p:txBody>
      </p:sp>
      <p:pic>
        <p:nvPicPr>
          <p:cNvPr id="13" name="Graphic 12" descr="Magnifying glass with solid fill">
            <a:extLst>
              <a:ext uri="{FF2B5EF4-FFF2-40B4-BE49-F238E27FC236}">
                <a16:creationId xmlns:a16="http://schemas.microsoft.com/office/drawing/2014/main" id="{0AEB428B-EDCA-1511-5C0A-C4DABF244BB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422768" y="1081735"/>
            <a:ext cx="914400" cy="914400"/>
          </a:xfrm>
          <a:prstGeom prst="rect">
            <a:avLst/>
          </a:prstGeom>
        </p:spPr>
      </p:pic>
      <p:grpSp>
        <p:nvGrpSpPr>
          <p:cNvPr id="14" name="Group 13">
            <a:extLst>
              <a:ext uri="{FF2B5EF4-FFF2-40B4-BE49-F238E27FC236}">
                <a16:creationId xmlns:a16="http://schemas.microsoft.com/office/drawing/2014/main" id="{1982081E-A738-E937-9296-658A38900662}"/>
              </a:ext>
            </a:extLst>
          </p:cNvPr>
          <p:cNvGrpSpPr>
            <a:grpSpLocks noChangeAspect="1"/>
          </p:cNvGrpSpPr>
          <p:nvPr/>
        </p:nvGrpSpPr>
        <p:grpSpPr>
          <a:xfrm>
            <a:off x="13952714" y="2138119"/>
            <a:ext cx="7023975" cy="2984651"/>
            <a:chOff x="7805585" y="19373185"/>
            <a:chExt cx="9446917" cy="4014216"/>
          </a:xfrm>
        </p:grpSpPr>
        <p:grpSp>
          <p:nvGrpSpPr>
            <p:cNvPr id="15" name="Group 14">
              <a:extLst>
                <a:ext uri="{FF2B5EF4-FFF2-40B4-BE49-F238E27FC236}">
                  <a16:creationId xmlns:a16="http://schemas.microsoft.com/office/drawing/2014/main" id="{E32CF95D-EB3E-0B1C-2306-FBCC6992DFB7}"/>
                </a:ext>
              </a:extLst>
            </p:cNvPr>
            <p:cNvGrpSpPr/>
            <p:nvPr/>
          </p:nvGrpSpPr>
          <p:grpSpPr>
            <a:xfrm>
              <a:off x="7805585" y="19373185"/>
              <a:ext cx="9446917" cy="4014216"/>
              <a:chOff x="7805585" y="19373185"/>
              <a:chExt cx="9446917" cy="4014216"/>
            </a:xfrm>
          </p:grpSpPr>
          <p:pic>
            <p:nvPicPr>
              <p:cNvPr id="17" name="Content Placeholder 12" descr="A diagram of a diagram of a number&#10;&#10;Description automatically generated">
                <a:extLst>
                  <a:ext uri="{FF2B5EF4-FFF2-40B4-BE49-F238E27FC236}">
                    <a16:creationId xmlns:a16="http://schemas.microsoft.com/office/drawing/2014/main" id="{26E5344C-C94F-DC26-D2CB-75ACB80311B0}"/>
                  </a:ext>
                </a:extLst>
              </p:cNvPr>
              <p:cNvPicPr>
                <a:picLocks noChangeAspect="1"/>
              </p:cNvPicPr>
              <p:nvPr/>
            </p:nvPicPr>
            <p:blipFill>
              <a:blip r:embed="rId6"/>
              <a:stretch>
                <a:fillRect/>
              </a:stretch>
            </p:blipFill>
            <p:spPr>
              <a:xfrm>
                <a:off x="7805585" y="19373185"/>
                <a:ext cx="9446917" cy="4014216"/>
              </a:xfrm>
              <a:prstGeom prst="rect">
                <a:avLst/>
              </a:prstGeom>
            </p:spPr>
          </p:pic>
          <p:sp>
            <p:nvSpPr>
              <p:cNvPr id="18" name="Rectangle 17">
                <a:extLst>
                  <a:ext uri="{FF2B5EF4-FFF2-40B4-BE49-F238E27FC236}">
                    <a16:creationId xmlns:a16="http://schemas.microsoft.com/office/drawing/2014/main" id="{1DF4317F-FD75-A53C-E7D5-2EF6F32A7621}"/>
                  </a:ext>
                </a:extLst>
              </p:cNvPr>
              <p:cNvSpPr/>
              <p:nvPr/>
            </p:nvSpPr>
            <p:spPr>
              <a:xfrm>
                <a:off x="11724602" y="20340887"/>
                <a:ext cx="1389514" cy="13203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 name="Picture 15">
              <a:extLst>
                <a:ext uri="{FF2B5EF4-FFF2-40B4-BE49-F238E27FC236}">
                  <a16:creationId xmlns:a16="http://schemas.microsoft.com/office/drawing/2014/main" id="{7C2EEED6-A6F8-EC58-3C8D-155F5F190501}"/>
                </a:ext>
              </a:extLst>
            </p:cNvPr>
            <p:cNvPicPr>
              <a:picLocks noChangeAspect="1"/>
            </p:cNvPicPr>
            <p:nvPr/>
          </p:nvPicPr>
          <p:blipFill rotWithShape="1">
            <a:blip r:embed="rId7"/>
            <a:srcRect r="65984"/>
            <a:stretch/>
          </p:blipFill>
          <p:spPr>
            <a:xfrm>
              <a:off x="11817177" y="20107797"/>
              <a:ext cx="1036795" cy="1701800"/>
            </a:xfrm>
            <a:prstGeom prst="rect">
              <a:avLst/>
            </a:prstGeom>
          </p:spPr>
        </p:pic>
      </p:grpSp>
      <p:grpSp>
        <p:nvGrpSpPr>
          <p:cNvPr id="22" name="Group 21">
            <a:extLst>
              <a:ext uri="{FF2B5EF4-FFF2-40B4-BE49-F238E27FC236}">
                <a16:creationId xmlns:a16="http://schemas.microsoft.com/office/drawing/2014/main" id="{49064596-E41D-5EDF-D83B-E4FE1C262B8B}"/>
              </a:ext>
            </a:extLst>
          </p:cNvPr>
          <p:cNvGrpSpPr/>
          <p:nvPr/>
        </p:nvGrpSpPr>
        <p:grpSpPr>
          <a:xfrm>
            <a:off x="3189459" y="4109333"/>
            <a:ext cx="8621456" cy="2483204"/>
            <a:chOff x="283966" y="14363775"/>
            <a:chExt cx="8193094" cy="2350325"/>
          </a:xfrm>
        </p:grpSpPr>
        <p:grpSp>
          <p:nvGrpSpPr>
            <p:cNvPr id="23" name="Group 22">
              <a:extLst>
                <a:ext uri="{FF2B5EF4-FFF2-40B4-BE49-F238E27FC236}">
                  <a16:creationId xmlns:a16="http://schemas.microsoft.com/office/drawing/2014/main" id="{16FE8DF5-0236-8114-A788-2F84C5893B40}"/>
                </a:ext>
              </a:extLst>
            </p:cNvPr>
            <p:cNvGrpSpPr/>
            <p:nvPr/>
          </p:nvGrpSpPr>
          <p:grpSpPr>
            <a:xfrm>
              <a:off x="283966" y="14363775"/>
              <a:ext cx="8193094" cy="2047074"/>
              <a:chOff x="283966" y="14363775"/>
              <a:chExt cx="8193094" cy="2047074"/>
            </a:xfrm>
          </p:grpSpPr>
          <p:grpSp>
            <p:nvGrpSpPr>
              <p:cNvPr id="25" name="Group 24">
                <a:extLst>
                  <a:ext uri="{FF2B5EF4-FFF2-40B4-BE49-F238E27FC236}">
                    <a16:creationId xmlns:a16="http://schemas.microsoft.com/office/drawing/2014/main" id="{E04F8BD7-EFF5-8F43-CD9F-735B2723A7BA}"/>
                  </a:ext>
                </a:extLst>
              </p:cNvPr>
              <p:cNvGrpSpPr/>
              <p:nvPr/>
            </p:nvGrpSpPr>
            <p:grpSpPr>
              <a:xfrm>
                <a:off x="283966" y="14363775"/>
                <a:ext cx="7594668" cy="2047074"/>
                <a:chOff x="283966" y="14363775"/>
                <a:chExt cx="7594668" cy="2047074"/>
              </a:xfrm>
            </p:grpSpPr>
            <p:sp>
              <p:nvSpPr>
                <p:cNvPr id="39" name="Rectangle 38">
                  <a:extLst>
                    <a:ext uri="{FF2B5EF4-FFF2-40B4-BE49-F238E27FC236}">
                      <a16:creationId xmlns:a16="http://schemas.microsoft.com/office/drawing/2014/main" id="{E591ABF2-1E7A-BFCF-090A-EFF5ABD45E2D}"/>
                    </a:ext>
                  </a:extLst>
                </p:cNvPr>
                <p:cNvSpPr>
                  <a:spLocks noChangeAspect="1"/>
                </p:cNvSpPr>
                <p:nvPr/>
              </p:nvSpPr>
              <p:spPr>
                <a:xfrm>
                  <a:off x="283966" y="14740014"/>
                  <a:ext cx="2404871" cy="167083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n w="19050">
                      <a:solidFill>
                        <a:schemeClr val="tx1"/>
                      </a:solidFill>
                    </a:ln>
                    <a:solidFill>
                      <a:sysClr val="windowText" lastClr="000000"/>
                    </a:solidFill>
                  </a:endParaRPr>
                </a:p>
              </p:txBody>
            </p:sp>
            <p:sp>
              <p:nvSpPr>
                <p:cNvPr id="28" name="TextBox 27">
                  <a:extLst>
                    <a:ext uri="{FF2B5EF4-FFF2-40B4-BE49-F238E27FC236}">
                      <a16:creationId xmlns:a16="http://schemas.microsoft.com/office/drawing/2014/main" id="{EE5417B7-24D2-3495-FF16-33D1A913439B}"/>
                    </a:ext>
                  </a:extLst>
                </p:cNvPr>
                <p:cNvSpPr txBox="1"/>
                <p:nvPr/>
              </p:nvSpPr>
              <p:spPr>
                <a:xfrm>
                  <a:off x="2879356" y="14363775"/>
                  <a:ext cx="2404871" cy="461665"/>
                </a:xfrm>
                <a:prstGeom prst="rect">
                  <a:avLst/>
                </a:prstGeom>
                <a:noFill/>
              </p:spPr>
              <p:txBody>
                <a:bodyPr wrap="square" rtlCol="0">
                  <a:spAutoFit/>
                </a:bodyPr>
                <a:lstStyle/>
                <a:p>
                  <a:pPr algn="ctr"/>
                  <a:r>
                    <a:rPr lang="en-US" sz="2400" b="1" dirty="0"/>
                    <a:t>Repeat</a:t>
                  </a:r>
                </a:p>
              </p:txBody>
            </p:sp>
            <p:sp>
              <p:nvSpPr>
                <p:cNvPr id="29" name="TextBox 28">
                  <a:extLst>
                    <a:ext uri="{FF2B5EF4-FFF2-40B4-BE49-F238E27FC236}">
                      <a16:creationId xmlns:a16="http://schemas.microsoft.com/office/drawing/2014/main" id="{8516B713-2513-4052-F269-32B97A601EB3}"/>
                    </a:ext>
                  </a:extLst>
                </p:cNvPr>
                <p:cNvSpPr txBox="1"/>
                <p:nvPr/>
              </p:nvSpPr>
              <p:spPr>
                <a:xfrm>
                  <a:off x="5473763" y="14363776"/>
                  <a:ext cx="2404871" cy="461665"/>
                </a:xfrm>
                <a:prstGeom prst="rect">
                  <a:avLst/>
                </a:prstGeom>
                <a:noFill/>
              </p:spPr>
              <p:txBody>
                <a:bodyPr wrap="square" rtlCol="0">
                  <a:spAutoFit/>
                </a:bodyPr>
                <a:lstStyle/>
                <a:p>
                  <a:pPr algn="ctr"/>
                  <a:r>
                    <a:rPr lang="en-US" sz="2400" b="1" dirty="0"/>
                    <a:t>Switch</a:t>
                  </a:r>
                </a:p>
              </p:txBody>
            </p:sp>
          </p:grpSp>
          <p:sp>
            <p:nvSpPr>
              <p:cNvPr id="26" name="TextBox 25">
                <a:extLst>
                  <a:ext uri="{FF2B5EF4-FFF2-40B4-BE49-F238E27FC236}">
                    <a16:creationId xmlns:a16="http://schemas.microsoft.com/office/drawing/2014/main" id="{50551324-E293-4082-0CBE-1CC008F9402D}"/>
                  </a:ext>
                </a:extLst>
              </p:cNvPr>
              <p:cNvSpPr txBox="1"/>
              <p:nvPr/>
            </p:nvSpPr>
            <p:spPr>
              <a:xfrm>
                <a:off x="8086666" y="15180742"/>
                <a:ext cx="390394" cy="584775"/>
              </a:xfrm>
              <a:prstGeom prst="rect">
                <a:avLst/>
              </a:prstGeom>
              <a:noFill/>
            </p:spPr>
            <p:txBody>
              <a:bodyPr wrap="square" rtlCol="0">
                <a:spAutoFit/>
              </a:bodyPr>
              <a:lstStyle/>
              <a:p>
                <a:r>
                  <a:rPr lang="en-US" sz="3200" dirty="0"/>
                  <a:t>…</a:t>
                </a:r>
              </a:p>
            </p:txBody>
          </p:sp>
        </p:grpSp>
        <p:cxnSp>
          <p:nvCxnSpPr>
            <p:cNvPr id="24" name="Straight Arrow Connector 23">
              <a:extLst>
                <a:ext uri="{FF2B5EF4-FFF2-40B4-BE49-F238E27FC236}">
                  <a16:creationId xmlns:a16="http://schemas.microsoft.com/office/drawing/2014/main" id="{F665C998-1ABF-8296-47C4-4991E5356E5F}"/>
                </a:ext>
              </a:extLst>
            </p:cNvPr>
            <p:cNvCxnSpPr>
              <a:cxnSpLocks/>
            </p:cNvCxnSpPr>
            <p:nvPr/>
          </p:nvCxnSpPr>
          <p:spPr>
            <a:xfrm>
              <a:off x="2296310" y="16714100"/>
              <a:ext cx="382189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54" name="TextBox 53">
            <a:extLst>
              <a:ext uri="{FF2B5EF4-FFF2-40B4-BE49-F238E27FC236}">
                <a16:creationId xmlns:a16="http://schemas.microsoft.com/office/drawing/2014/main" id="{858B7DFB-73FD-D601-1982-6049593DFCDB}"/>
              </a:ext>
            </a:extLst>
          </p:cNvPr>
          <p:cNvSpPr txBox="1"/>
          <p:nvPr/>
        </p:nvSpPr>
        <p:spPr>
          <a:xfrm>
            <a:off x="201583" y="4273717"/>
            <a:ext cx="2368819" cy="1077218"/>
          </a:xfrm>
          <a:prstGeom prst="rect">
            <a:avLst/>
          </a:prstGeom>
          <a:noFill/>
        </p:spPr>
        <p:txBody>
          <a:bodyPr wrap="square" rtlCol="0">
            <a:spAutoFit/>
          </a:bodyPr>
          <a:lstStyle/>
          <a:p>
            <a:pPr algn="ctr"/>
            <a:r>
              <a:rPr lang="en-US" sz="3200" b="1" u="sng" dirty="0">
                <a:solidFill>
                  <a:srgbClr val="FF0000"/>
                </a:solidFill>
              </a:rPr>
              <a:t>Red Frame: </a:t>
            </a:r>
            <a:r>
              <a:rPr lang="en-US" sz="3200" dirty="0">
                <a:solidFill>
                  <a:srgbClr val="FF0000"/>
                </a:solidFill>
              </a:rPr>
              <a:t>Small Letter</a:t>
            </a:r>
          </a:p>
        </p:txBody>
      </p:sp>
      <p:sp>
        <p:nvSpPr>
          <p:cNvPr id="55" name="TextBox 54">
            <a:extLst>
              <a:ext uri="{FF2B5EF4-FFF2-40B4-BE49-F238E27FC236}">
                <a16:creationId xmlns:a16="http://schemas.microsoft.com/office/drawing/2014/main" id="{F621296B-845D-C10E-2307-4F1947F1C797}"/>
              </a:ext>
            </a:extLst>
          </p:cNvPr>
          <p:cNvSpPr txBox="1"/>
          <p:nvPr/>
        </p:nvSpPr>
        <p:spPr>
          <a:xfrm>
            <a:off x="63219" y="5503783"/>
            <a:ext cx="2695524" cy="1354217"/>
          </a:xfrm>
          <a:prstGeom prst="rect">
            <a:avLst/>
          </a:prstGeom>
          <a:noFill/>
        </p:spPr>
        <p:txBody>
          <a:bodyPr wrap="square" rtlCol="0">
            <a:spAutoFit/>
          </a:bodyPr>
          <a:lstStyle/>
          <a:p>
            <a:pPr algn="ctr"/>
            <a:r>
              <a:rPr lang="en-US" sz="3200" b="1" u="sng" dirty="0">
                <a:solidFill>
                  <a:schemeClr val="accent1"/>
                </a:solidFill>
              </a:rPr>
              <a:t>Blue Frame:</a:t>
            </a:r>
          </a:p>
          <a:p>
            <a:pPr algn="ctr"/>
            <a:r>
              <a:rPr lang="en-US" sz="3200" dirty="0">
                <a:solidFill>
                  <a:schemeClr val="accent1"/>
                </a:solidFill>
              </a:rPr>
              <a:t>Big Letter</a:t>
            </a:r>
          </a:p>
          <a:p>
            <a:endParaRPr lang="en-US" dirty="0"/>
          </a:p>
        </p:txBody>
      </p:sp>
      <p:pic>
        <p:nvPicPr>
          <p:cNvPr id="56" name="Picture 55">
            <a:extLst>
              <a:ext uri="{FF2B5EF4-FFF2-40B4-BE49-F238E27FC236}">
                <a16:creationId xmlns:a16="http://schemas.microsoft.com/office/drawing/2014/main" id="{E37DBE59-2783-9456-7040-60559C42B800}"/>
              </a:ext>
            </a:extLst>
          </p:cNvPr>
          <p:cNvPicPr>
            <a:picLocks noChangeAspect="1"/>
          </p:cNvPicPr>
          <p:nvPr/>
        </p:nvPicPr>
        <p:blipFill rotWithShape="1">
          <a:blip r:embed="rId7"/>
          <a:srcRect r="65984"/>
          <a:stretch/>
        </p:blipFill>
        <p:spPr>
          <a:xfrm>
            <a:off x="-4713329" y="4490108"/>
            <a:ext cx="770878" cy="1265323"/>
          </a:xfrm>
          <a:prstGeom prst="rect">
            <a:avLst/>
          </a:prstGeom>
        </p:spPr>
      </p:pic>
      <p:sp>
        <p:nvSpPr>
          <p:cNvPr id="58" name="TextBox 57">
            <a:extLst>
              <a:ext uri="{FF2B5EF4-FFF2-40B4-BE49-F238E27FC236}">
                <a16:creationId xmlns:a16="http://schemas.microsoft.com/office/drawing/2014/main" id="{1FB737D7-5DD8-3EDE-81AF-A8050C865308}"/>
              </a:ext>
            </a:extLst>
          </p:cNvPr>
          <p:cNvSpPr txBox="1"/>
          <p:nvPr/>
        </p:nvSpPr>
        <p:spPr>
          <a:xfrm>
            <a:off x="-6606647" y="615261"/>
            <a:ext cx="742513" cy="1477328"/>
          </a:xfrm>
          <a:prstGeom prst="rect">
            <a:avLst/>
          </a:prstGeom>
          <a:noFill/>
          <a:ln w="38100">
            <a:solidFill>
              <a:schemeClr val="accent1"/>
            </a:solidFill>
          </a:ln>
        </p:spPr>
        <p:txBody>
          <a:bodyPr wrap="square" rtlCol="0">
            <a:spAutoFit/>
          </a:bodyPr>
          <a:lstStyle/>
          <a:p>
            <a:r>
              <a:rPr lang="en-US" dirty="0"/>
              <a:t>S S S</a:t>
            </a:r>
          </a:p>
          <a:p>
            <a:r>
              <a:rPr lang="en-US" dirty="0"/>
              <a:t>S</a:t>
            </a:r>
          </a:p>
          <a:p>
            <a:r>
              <a:rPr lang="en-US" dirty="0"/>
              <a:t>S S S</a:t>
            </a:r>
          </a:p>
          <a:p>
            <a:r>
              <a:rPr lang="en-US" dirty="0">
                <a:solidFill>
                  <a:schemeClr val="bg1"/>
                </a:solidFill>
              </a:rPr>
              <a:t>S S </a:t>
            </a:r>
            <a:r>
              <a:rPr lang="en-US" dirty="0"/>
              <a:t>S</a:t>
            </a:r>
          </a:p>
          <a:p>
            <a:r>
              <a:rPr lang="en-US" dirty="0"/>
              <a:t>S S S</a:t>
            </a:r>
          </a:p>
        </p:txBody>
      </p:sp>
      <p:sp>
        <p:nvSpPr>
          <p:cNvPr id="59" name="TextBox 58">
            <a:extLst>
              <a:ext uri="{FF2B5EF4-FFF2-40B4-BE49-F238E27FC236}">
                <a16:creationId xmlns:a16="http://schemas.microsoft.com/office/drawing/2014/main" id="{28E6DF1C-BBA5-B276-3E74-204A0FFA6B04}"/>
              </a:ext>
            </a:extLst>
          </p:cNvPr>
          <p:cNvSpPr txBox="1"/>
          <p:nvPr/>
        </p:nvSpPr>
        <p:spPr>
          <a:xfrm>
            <a:off x="4027501" y="4650831"/>
            <a:ext cx="721140" cy="1477328"/>
          </a:xfrm>
          <a:prstGeom prst="rect">
            <a:avLst/>
          </a:prstGeom>
          <a:noFill/>
          <a:ln w="38100">
            <a:solidFill>
              <a:schemeClr val="accent1"/>
            </a:solidFill>
          </a:ln>
        </p:spPr>
        <p:txBody>
          <a:bodyPr wrap="square" rtlCol="0">
            <a:spAutoFit/>
          </a:bodyPr>
          <a:lstStyle/>
          <a:p>
            <a:pPr algn="ctr"/>
            <a:r>
              <a:rPr lang="en-US" dirty="0"/>
              <a:t>S </a:t>
            </a:r>
            <a:r>
              <a:rPr lang="en-US" dirty="0">
                <a:solidFill>
                  <a:schemeClr val="bg2"/>
                </a:solidFill>
              </a:rPr>
              <a:t>S</a:t>
            </a:r>
            <a:r>
              <a:rPr lang="en-US" dirty="0"/>
              <a:t> S</a:t>
            </a:r>
          </a:p>
          <a:p>
            <a:pPr algn="ctr"/>
            <a:r>
              <a:rPr lang="en-US" dirty="0"/>
              <a:t>S </a:t>
            </a:r>
            <a:r>
              <a:rPr lang="en-US" dirty="0">
                <a:solidFill>
                  <a:schemeClr val="bg2"/>
                </a:solidFill>
              </a:rPr>
              <a:t>S</a:t>
            </a:r>
            <a:r>
              <a:rPr lang="en-US" dirty="0"/>
              <a:t> S</a:t>
            </a:r>
          </a:p>
          <a:p>
            <a:pPr algn="ctr"/>
            <a:r>
              <a:rPr lang="en-US" dirty="0"/>
              <a:t>S S S</a:t>
            </a:r>
          </a:p>
          <a:p>
            <a:pPr algn="ctr"/>
            <a:r>
              <a:rPr lang="en-US" dirty="0"/>
              <a:t>S </a:t>
            </a:r>
            <a:r>
              <a:rPr lang="en-US" dirty="0">
                <a:solidFill>
                  <a:schemeClr val="bg2"/>
                </a:solidFill>
              </a:rPr>
              <a:t>S</a:t>
            </a:r>
            <a:r>
              <a:rPr lang="en-US" dirty="0"/>
              <a:t> S</a:t>
            </a:r>
          </a:p>
          <a:p>
            <a:pPr algn="ctr"/>
            <a:r>
              <a:rPr lang="en-US" dirty="0"/>
              <a:t>S</a:t>
            </a:r>
            <a:r>
              <a:rPr lang="en-US" dirty="0">
                <a:solidFill>
                  <a:schemeClr val="bg2"/>
                </a:solidFill>
              </a:rPr>
              <a:t> S </a:t>
            </a:r>
            <a:r>
              <a:rPr lang="en-US" dirty="0"/>
              <a:t>S</a:t>
            </a:r>
          </a:p>
        </p:txBody>
      </p:sp>
      <p:sp>
        <p:nvSpPr>
          <p:cNvPr id="60" name="TextBox 59">
            <a:extLst>
              <a:ext uri="{FF2B5EF4-FFF2-40B4-BE49-F238E27FC236}">
                <a16:creationId xmlns:a16="http://schemas.microsoft.com/office/drawing/2014/main" id="{A161A651-1192-9FD4-8240-D653DC84B1C2}"/>
              </a:ext>
            </a:extLst>
          </p:cNvPr>
          <p:cNvSpPr txBox="1"/>
          <p:nvPr/>
        </p:nvSpPr>
        <p:spPr>
          <a:xfrm>
            <a:off x="-3538872" y="1654926"/>
            <a:ext cx="721140" cy="1477328"/>
          </a:xfrm>
          <a:prstGeom prst="rect">
            <a:avLst/>
          </a:prstGeom>
          <a:noFill/>
          <a:ln w="38100">
            <a:solidFill>
              <a:schemeClr val="accent1"/>
            </a:solidFill>
          </a:ln>
        </p:spPr>
        <p:txBody>
          <a:bodyPr wrap="square" rtlCol="0">
            <a:spAutoFit/>
          </a:bodyPr>
          <a:lstStyle/>
          <a:p>
            <a:pPr algn="ctr"/>
            <a:r>
              <a:rPr lang="en-US" dirty="0"/>
              <a:t>H </a:t>
            </a:r>
            <a:r>
              <a:rPr lang="en-US" dirty="0">
                <a:solidFill>
                  <a:schemeClr val="bg1"/>
                </a:solidFill>
              </a:rPr>
              <a:t>S</a:t>
            </a:r>
            <a:r>
              <a:rPr lang="en-US" dirty="0"/>
              <a:t> H</a:t>
            </a:r>
          </a:p>
          <a:p>
            <a:pPr algn="ctr"/>
            <a:r>
              <a:rPr lang="en-US" dirty="0"/>
              <a:t>H </a:t>
            </a:r>
            <a:r>
              <a:rPr lang="en-US" dirty="0">
                <a:solidFill>
                  <a:schemeClr val="bg1"/>
                </a:solidFill>
              </a:rPr>
              <a:t>S</a:t>
            </a:r>
            <a:r>
              <a:rPr lang="en-US" dirty="0"/>
              <a:t> H</a:t>
            </a:r>
          </a:p>
          <a:p>
            <a:pPr algn="ctr"/>
            <a:r>
              <a:rPr lang="en-US" dirty="0"/>
              <a:t>H H H</a:t>
            </a:r>
          </a:p>
          <a:p>
            <a:pPr algn="ctr"/>
            <a:r>
              <a:rPr lang="en-US" dirty="0"/>
              <a:t>H </a:t>
            </a:r>
            <a:r>
              <a:rPr lang="en-US" dirty="0">
                <a:solidFill>
                  <a:schemeClr val="bg1"/>
                </a:solidFill>
              </a:rPr>
              <a:t>S</a:t>
            </a:r>
            <a:r>
              <a:rPr lang="en-US" dirty="0"/>
              <a:t> H</a:t>
            </a:r>
          </a:p>
          <a:p>
            <a:pPr algn="ctr"/>
            <a:r>
              <a:rPr lang="en-US" dirty="0"/>
              <a:t>H </a:t>
            </a:r>
            <a:r>
              <a:rPr lang="en-US" dirty="0">
                <a:solidFill>
                  <a:schemeClr val="bg1"/>
                </a:solidFill>
              </a:rPr>
              <a:t>S</a:t>
            </a:r>
            <a:r>
              <a:rPr lang="en-US" dirty="0"/>
              <a:t> H</a:t>
            </a:r>
          </a:p>
        </p:txBody>
      </p:sp>
      <p:sp>
        <p:nvSpPr>
          <p:cNvPr id="67" name="Rectangle 66">
            <a:extLst>
              <a:ext uri="{FF2B5EF4-FFF2-40B4-BE49-F238E27FC236}">
                <a16:creationId xmlns:a16="http://schemas.microsoft.com/office/drawing/2014/main" id="{C7A8D970-4E2F-B27B-3632-D0B7C5173BAE}"/>
              </a:ext>
            </a:extLst>
          </p:cNvPr>
          <p:cNvSpPr>
            <a:spLocks noChangeAspect="1"/>
          </p:cNvSpPr>
          <p:nvPr/>
        </p:nvSpPr>
        <p:spPr>
          <a:xfrm>
            <a:off x="5896269" y="4517555"/>
            <a:ext cx="2530605" cy="17652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n w="19050">
                <a:solidFill>
                  <a:schemeClr val="tx1"/>
                </a:solidFill>
              </a:ln>
              <a:solidFill>
                <a:sysClr val="windowText" lastClr="000000"/>
              </a:solidFill>
            </a:endParaRPr>
          </a:p>
        </p:txBody>
      </p:sp>
      <p:sp>
        <p:nvSpPr>
          <p:cNvPr id="57" name="TextBox 56">
            <a:extLst>
              <a:ext uri="{FF2B5EF4-FFF2-40B4-BE49-F238E27FC236}">
                <a16:creationId xmlns:a16="http://schemas.microsoft.com/office/drawing/2014/main" id="{D09225B3-01AC-0609-BD6D-BDFFCD545B81}"/>
              </a:ext>
            </a:extLst>
          </p:cNvPr>
          <p:cNvSpPr txBox="1"/>
          <p:nvPr/>
        </p:nvSpPr>
        <p:spPr>
          <a:xfrm>
            <a:off x="6824208" y="4665954"/>
            <a:ext cx="723275" cy="1477328"/>
          </a:xfrm>
          <a:prstGeom prst="rect">
            <a:avLst/>
          </a:prstGeom>
          <a:noFill/>
          <a:ln w="38100">
            <a:solidFill>
              <a:schemeClr val="accent1"/>
            </a:solidFill>
          </a:ln>
        </p:spPr>
        <p:txBody>
          <a:bodyPr wrap="none" rtlCol="0">
            <a:spAutoFit/>
          </a:bodyPr>
          <a:lstStyle/>
          <a:p>
            <a:r>
              <a:rPr lang="en-US" dirty="0"/>
              <a:t>H H H</a:t>
            </a:r>
          </a:p>
          <a:p>
            <a:r>
              <a:rPr lang="en-US" dirty="0"/>
              <a:t>H</a:t>
            </a:r>
          </a:p>
          <a:p>
            <a:r>
              <a:rPr lang="en-US" dirty="0"/>
              <a:t>H H H</a:t>
            </a:r>
          </a:p>
          <a:p>
            <a:r>
              <a:rPr lang="en-US" dirty="0">
                <a:solidFill>
                  <a:schemeClr val="bg2"/>
                </a:solidFill>
              </a:rPr>
              <a:t>HH </a:t>
            </a:r>
            <a:r>
              <a:rPr lang="en-US" dirty="0">
                <a:solidFill>
                  <a:schemeClr val="bg1"/>
                </a:solidFill>
              </a:rPr>
              <a:t> </a:t>
            </a:r>
            <a:r>
              <a:rPr lang="en-US" dirty="0"/>
              <a:t>H</a:t>
            </a:r>
          </a:p>
          <a:p>
            <a:r>
              <a:rPr lang="en-US" dirty="0"/>
              <a:t>H H H</a:t>
            </a:r>
          </a:p>
        </p:txBody>
      </p:sp>
      <p:sp>
        <p:nvSpPr>
          <p:cNvPr id="69" name="Rectangle 68">
            <a:extLst>
              <a:ext uri="{FF2B5EF4-FFF2-40B4-BE49-F238E27FC236}">
                <a16:creationId xmlns:a16="http://schemas.microsoft.com/office/drawing/2014/main" id="{9917102F-2F86-0E30-CE4C-869F15F3D432}"/>
              </a:ext>
            </a:extLst>
          </p:cNvPr>
          <p:cNvSpPr>
            <a:spLocks noChangeAspect="1"/>
          </p:cNvSpPr>
          <p:nvPr/>
        </p:nvSpPr>
        <p:spPr>
          <a:xfrm>
            <a:off x="8626321" y="4506845"/>
            <a:ext cx="2530605" cy="1765299"/>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ln w="19050">
                <a:solidFill>
                  <a:schemeClr val="tx1"/>
                </a:solidFill>
              </a:ln>
              <a:solidFill>
                <a:sysClr val="windowText" lastClr="000000"/>
              </a:solidFill>
            </a:endParaRPr>
          </a:p>
        </p:txBody>
      </p:sp>
      <p:sp>
        <p:nvSpPr>
          <p:cNvPr id="70" name="TextBox 69">
            <a:extLst>
              <a:ext uri="{FF2B5EF4-FFF2-40B4-BE49-F238E27FC236}">
                <a16:creationId xmlns:a16="http://schemas.microsoft.com/office/drawing/2014/main" id="{ADAA4E70-4C14-2645-6B01-78D6AE34694C}"/>
              </a:ext>
            </a:extLst>
          </p:cNvPr>
          <p:cNvSpPr txBox="1"/>
          <p:nvPr/>
        </p:nvSpPr>
        <p:spPr>
          <a:xfrm>
            <a:off x="9554260" y="4655244"/>
            <a:ext cx="723275" cy="1477328"/>
          </a:xfrm>
          <a:prstGeom prst="rect">
            <a:avLst/>
          </a:prstGeom>
          <a:noFill/>
          <a:ln w="38100">
            <a:solidFill>
              <a:srgbClr val="FF0000"/>
            </a:solidFill>
          </a:ln>
        </p:spPr>
        <p:txBody>
          <a:bodyPr wrap="none" rtlCol="0">
            <a:spAutoFit/>
          </a:bodyPr>
          <a:lstStyle/>
          <a:p>
            <a:r>
              <a:rPr lang="en-US" dirty="0"/>
              <a:t>H H H</a:t>
            </a:r>
          </a:p>
          <a:p>
            <a:r>
              <a:rPr lang="en-US" dirty="0"/>
              <a:t>H</a:t>
            </a:r>
          </a:p>
          <a:p>
            <a:r>
              <a:rPr lang="en-US" dirty="0"/>
              <a:t>H H H</a:t>
            </a:r>
          </a:p>
          <a:p>
            <a:r>
              <a:rPr lang="en-US" dirty="0">
                <a:solidFill>
                  <a:schemeClr val="bg2"/>
                </a:solidFill>
              </a:rPr>
              <a:t>HH </a:t>
            </a:r>
            <a:r>
              <a:rPr lang="en-US" dirty="0">
                <a:solidFill>
                  <a:schemeClr val="bg1"/>
                </a:solidFill>
              </a:rPr>
              <a:t> </a:t>
            </a:r>
            <a:r>
              <a:rPr lang="en-US" dirty="0"/>
              <a:t>H</a:t>
            </a:r>
          </a:p>
          <a:p>
            <a:r>
              <a:rPr lang="en-US" dirty="0"/>
              <a:t>H H H</a:t>
            </a:r>
          </a:p>
        </p:txBody>
      </p:sp>
      <p:sp>
        <p:nvSpPr>
          <p:cNvPr id="4" name="TextBox 3">
            <a:extLst>
              <a:ext uri="{FF2B5EF4-FFF2-40B4-BE49-F238E27FC236}">
                <a16:creationId xmlns:a16="http://schemas.microsoft.com/office/drawing/2014/main" id="{85D8C6D8-465D-C72E-D2C3-C52EC28D98FE}"/>
              </a:ext>
            </a:extLst>
          </p:cNvPr>
          <p:cNvSpPr txBox="1"/>
          <p:nvPr/>
        </p:nvSpPr>
        <p:spPr>
          <a:xfrm>
            <a:off x="6765185" y="1706095"/>
            <a:ext cx="5426815" cy="1569660"/>
          </a:xfrm>
          <a:prstGeom prst="rect">
            <a:avLst/>
          </a:prstGeom>
          <a:noFill/>
        </p:spPr>
        <p:txBody>
          <a:bodyPr wrap="square" rtlCol="0">
            <a:spAutoFit/>
          </a:bodyPr>
          <a:lstStyle/>
          <a:p>
            <a:r>
              <a:rPr lang="en-US" sz="3200" dirty="0"/>
              <a:t>Congruency Effect = </a:t>
            </a:r>
            <a:r>
              <a:rPr lang="en-US" sz="3200" dirty="0" err="1"/>
              <a:t>RT</a:t>
            </a:r>
            <a:r>
              <a:rPr lang="en-US" sz="3200" baseline="-25000" dirty="0" err="1"/>
              <a:t>inc</a:t>
            </a:r>
            <a:r>
              <a:rPr lang="en-US" sz="3200" baseline="-25000" dirty="0"/>
              <a:t> </a:t>
            </a:r>
            <a:r>
              <a:rPr lang="en-US" sz="3200" dirty="0"/>
              <a:t>– </a:t>
            </a:r>
            <a:r>
              <a:rPr lang="en-US" sz="3200" dirty="0" err="1"/>
              <a:t>RT</a:t>
            </a:r>
            <a:r>
              <a:rPr lang="en-US" sz="3200" baseline="-25000" dirty="0" err="1"/>
              <a:t>con</a:t>
            </a:r>
            <a:endParaRPr lang="en-US" sz="3200" baseline="-25000" dirty="0"/>
          </a:p>
          <a:p>
            <a:r>
              <a:rPr lang="en-US" sz="3200" dirty="0"/>
              <a:t>Switch Cost = </a:t>
            </a:r>
            <a:r>
              <a:rPr lang="en-US" sz="3200" dirty="0" err="1"/>
              <a:t>RT</a:t>
            </a:r>
            <a:r>
              <a:rPr lang="en-US" sz="3200" baseline="-25000" dirty="0" err="1"/>
              <a:t>switch</a:t>
            </a:r>
            <a:r>
              <a:rPr lang="en-US" sz="3200" baseline="-25000" dirty="0"/>
              <a:t> </a:t>
            </a:r>
            <a:r>
              <a:rPr lang="en-US" sz="3200" dirty="0"/>
              <a:t>– </a:t>
            </a:r>
            <a:r>
              <a:rPr lang="en-US" sz="3200" dirty="0" err="1"/>
              <a:t>RT</a:t>
            </a:r>
            <a:r>
              <a:rPr lang="en-US" sz="3200" baseline="-25000" dirty="0" err="1"/>
              <a:t>repeat</a:t>
            </a:r>
            <a:endParaRPr lang="en-US" sz="3200" baseline="-25000" dirty="0"/>
          </a:p>
          <a:p>
            <a:endParaRPr lang="en-US" sz="3200" dirty="0"/>
          </a:p>
        </p:txBody>
      </p:sp>
    </p:spTree>
    <p:extLst>
      <p:ext uri="{BB962C8B-B14F-4D97-AF65-F5344CB8AC3E}">
        <p14:creationId xmlns:p14="http://schemas.microsoft.com/office/powerpoint/2010/main" val="280323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8CA174F5-E271-A87A-1E3B-28BE30197810}"/>
              </a:ext>
            </a:extLst>
          </p:cNvPr>
          <p:cNvGrpSpPr/>
          <p:nvPr/>
        </p:nvGrpSpPr>
        <p:grpSpPr>
          <a:xfrm>
            <a:off x="6379141" y="1799505"/>
            <a:ext cx="4933976" cy="4754969"/>
            <a:chOff x="3200434" y="2019909"/>
            <a:chExt cx="4933976" cy="4754969"/>
          </a:xfrm>
        </p:grpSpPr>
        <p:grpSp>
          <p:nvGrpSpPr>
            <p:cNvPr id="8" name="Group 7">
              <a:extLst>
                <a:ext uri="{FF2B5EF4-FFF2-40B4-BE49-F238E27FC236}">
                  <a16:creationId xmlns:a16="http://schemas.microsoft.com/office/drawing/2014/main" id="{E95F2305-5746-0CFD-3207-5BAB35F0FF77}"/>
                </a:ext>
              </a:extLst>
            </p:cNvPr>
            <p:cNvGrpSpPr/>
            <p:nvPr/>
          </p:nvGrpSpPr>
          <p:grpSpPr>
            <a:xfrm>
              <a:off x="3200434" y="2019909"/>
              <a:ext cx="4933976" cy="4162076"/>
              <a:chOff x="-471535" y="19234454"/>
              <a:chExt cx="5048619" cy="4839147"/>
            </a:xfrm>
          </p:grpSpPr>
          <p:grpSp>
            <p:nvGrpSpPr>
              <p:cNvPr id="10" name="Group 9">
                <a:extLst>
                  <a:ext uri="{FF2B5EF4-FFF2-40B4-BE49-F238E27FC236}">
                    <a16:creationId xmlns:a16="http://schemas.microsoft.com/office/drawing/2014/main" id="{9FFE6925-8C8B-8FC2-8923-1E5CB5046A69}"/>
                  </a:ext>
                </a:extLst>
              </p:cNvPr>
              <p:cNvGrpSpPr/>
              <p:nvPr/>
            </p:nvGrpSpPr>
            <p:grpSpPr>
              <a:xfrm>
                <a:off x="-471535" y="19234454"/>
                <a:ext cx="598363" cy="4826185"/>
                <a:chOff x="-471535" y="19234454"/>
                <a:chExt cx="598363" cy="4826185"/>
              </a:xfrm>
            </p:grpSpPr>
            <p:sp>
              <p:nvSpPr>
                <p:cNvPr id="31" name="Rectangle 30">
                  <a:extLst>
                    <a:ext uri="{FF2B5EF4-FFF2-40B4-BE49-F238E27FC236}">
                      <a16:creationId xmlns:a16="http://schemas.microsoft.com/office/drawing/2014/main" id="{4A9B343E-D47D-4FFE-9D04-98D93204ECBC}"/>
                    </a:ext>
                  </a:extLst>
                </p:cNvPr>
                <p:cNvSpPr/>
                <p:nvPr/>
              </p:nvSpPr>
              <p:spPr>
                <a:xfrm>
                  <a:off x="-412955" y="19678758"/>
                  <a:ext cx="531504" cy="381006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B01509AD-3758-5EBF-A5BC-1BFF3955AFCB}"/>
                    </a:ext>
                  </a:extLst>
                </p:cNvPr>
                <p:cNvSpPr txBox="1"/>
                <p:nvPr/>
              </p:nvSpPr>
              <p:spPr>
                <a:xfrm rot="16200000">
                  <a:off x="-2585446" y="21348365"/>
                  <a:ext cx="4826185" cy="598363"/>
                </a:xfrm>
                <a:prstGeom prst="rect">
                  <a:avLst/>
                </a:prstGeom>
                <a:noFill/>
              </p:spPr>
              <p:txBody>
                <a:bodyPr wrap="square" rtlCol="0">
                  <a:spAutoFit/>
                </a:bodyPr>
                <a:lstStyle/>
                <a:p>
                  <a:pPr algn="ctr"/>
                  <a:r>
                    <a:rPr lang="en-US" sz="3200" dirty="0">
                      <a:solidFill>
                        <a:schemeClr val="accent1">
                          <a:lumMod val="75000"/>
                        </a:schemeClr>
                      </a:solidFill>
                      <a:latin typeface="Calibri" panose="020F0502020204030204" pitchFamily="34" charset="0"/>
                      <a:cs typeface="Times New Roman" panose="02020603050405020304" pitchFamily="18" charset="0"/>
                    </a:rPr>
                    <a:t>Incongruent Prop.</a:t>
                  </a:r>
                </a:p>
              </p:txBody>
            </p:sp>
          </p:grpSp>
          <p:grpSp>
            <p:nvGrpSpPr>
              <p:cNvPr id="11" name="Group 10">
                <a:extLst>
                  <a:ext uri="{FF2B5EF4-FFF2-40B4-BE49-F238E27FC236}">
                    <a16:creationId xmlns:a16="http://schemas.microsoft.com/office/drawing/2014/main" id="{CE991361-6B3E-4D77-EADC-FFDFDB555273}"/>
                  </a:ext>
                </a:extLst>
              </p:cNvPr>
              <p:cNvGrpSpPr/>
              <p:nvPr/>
            </p:nvGrpSpPr>
            <p:grpSpPr>
              <a:xfrm>
                <a:off x="118549" y="19675931"/>
                <a:ext cx="4458535" cy="4397670"/>
                <a:chOff x="118549" y="19675931"/>
                <a:chExt cx="4458535" cy="4397670"/>
              </a:xfrm>
            </p:grpSpPr>
            <p:grpSp>
              <p:nvGrpSpPr>
                <p:cNvPr id="12" name="Group 11">
                  <a:extLst>
                    <a:ext uri="{FF2B5EF4-FFF2-40B4-BE49-F238E27FC236}">
                      <a16:creationId xmlns:a16="http://schemas.microsoft.com/office/drawing/2014/main" id="{1D1B8C93-2ABD-41BF-C9F4-774BAFAEB7A2}"/>
                    </a:ext>
                  </a:extLst>
                </p:cNvPr>
                <p:cNvGrpSpPr/>
                <p:nvPr/>
              </p:nvGrpSpPr>
              <p:grpSpPr>
                <a:xfrm>
                  <a:off x="701799" y="19675931"/>
                  <a:ext cx="3875285" cy="3871651"/>
                  <a:chOff x="701799" y="19675931"/>
                  <a:chExt cx="3875285" cy="3871651"/>
                </a:xfrm>
              </p:grpSpPr>
              <p:grpSp>
                <p:nvGrpSpPr>
                  <p:cNvPr id="18" name="Group 17">
                    <a:extLst>
                      <a:ext uri="{FF2B5EF4-FFF2-40B4-BE49-F238E27FC236}">
                        <a16:creationId xmlns:a16="http://schemas.microsoft.com/office/drawing/2014/main" id="{A2840FC8-EC78-7036-8F7E-AAD99DC1ED7E}"/>
                      </a:ext>
                    </a:extLst>
                  </p:cNvPr>
                  <p:cNvGrpSpPr/>
                  <p:nvPr/>
                </p:nvGrpSpPr>
                <p:grpSpPr>
                  <a:xfrm>
                    <a:off x="701799" y="19675931"/>
                    <a:ext cx="3831862" cy="3826200"/>
                    <a:chOff x="701799" y="19675931"/>
                    <a:chExt cx="3831862" cy="3826200"/>
                  </a:xfrm>
                </p:grpSpPr>
                <p:grpSp>
                  <p:nvGrpSpPr>
                    <p:cNvPr id="22" name="Group 21">
                      <a:extLst>
                        <a:ext uri="{FF2B5EF4-FFF2-40B4-BE49-F238E27FC236}">
                          <a16:creationId xmlns:a16="http://schemas.microsoft.com/office/drawing/2014/main" id="{CB11978C-DFAF-FC3E-409D-8D6106862B69}"/>
                        </a:ext>
                      </a:extLst>
                    </p:cNvPr>
                    <p:cNvGrpSpPr/>
                    <p:nvPr/>
                  </p:nvGrpSpPr>
                  <p:grpSpPr>
                    <a:xfrm>
                      <a:off x="701799" y="19675931"/>
                      <a:ext cx="1840544" cy="1838238"/>
                      <a:chOff x="701799" y="19675931"/>
                      <a:chExt cx="1840544" cy="1838238"/>
                    </a:xfrm>
                  </p:grpSpPr>
                  <p:sp>
                    <p:nvSpPr>
                      <p:cNvPr id="29" name="Rectangle 28">
                        <a:extLst>
                          <a:ext uri="{FF2B5EF4-FFF2-40B4-BE49-F238E27FC236}">
                            <a16:creationId xmlns:a16="http://schemas.microsoft.com/office/drawing/2014/main" id="{0A922236-B154-2E47-C5F1-05A4C6F854BE}"/>
                          </a:ext>
                        </a:extLst>
                      </p:cNvPr>
                      <p:cNvSpPr>
                        <a:spLocks noChangeAspect="1"/>
                      </p:cNvSpPr>
                      <p:nvPr/>
                    </p:nvSpPr>
                    <p:spPr>
                      <a:xfrm>
                        <a:off x="701799" y="19675931"/>
                        <a:ext cx="1828800" cy="182880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TextBox 29">
                        <a:extLst>
                          <a:ext uri="{FF2B5EF4-FFF2-40B4-BE49-F238E27FC236}">
                            <a16:creationId xmlns:a16="http://schemas.microsoft.com/office/drawing/2014/main" id="{5A8B7F63-7A97-BBDA-75F3-8EDEEA9E4CB8}"/>
                          </a:ext>
                        </a:extLst>
                      </p:cNvPr>
                      <p:cNvSpPr txBox="1"/>
                      <p:nvPr/>
                    </p:nvSpPr>
                    <p:spPr>
                      <a:xfrm>
                        <a:off x="703324" y="19689162"/>
                        <a:ext cx="1839019" cy="1825007"/>
                      </a:xfrm>
                      <a:prstGeom prst="rect">
                        <a:avLst/>
                      </a:prstGeom>
                      <a:noFill/>
                    </p:spPr>
                    <p:txBody>
                      <a:bodyPr wrap="square" rtlCol="0">
                        <a:spAutoFit/>
                      </a:bodyPr>
                      <a:lstStyle/>
                      <a:p>
                        <a:pPr algn="ctr"/>
                        <a:r>
                          <a:rPr lang="en-US" sz="3200" dirty="0">
                            <a:solidFill>
                              <a:schemeClr val="accent1">
                                <a:lumMod val="75000"/>
                              </a:schemeClr>
                            </a:solidFill>
                            <a:latin typeface="Calibri" panose="020F0502020204030204" pitchFamily="34" charset="0"/>
                            <a:cs typeface="Times New Roman" panose="02020603050405020304" pitchFamily="18" charset="0"/>
                          </a:rPr>
                          <a:t>Stable and inflexible</a:t>
                        </a:r>
                      </a:p>
                    </p:txBody>
                  </p:sp>
                </p:grpSp>
                <p:grpSp>
                  <p:nvGrpSpPr>
                    <p:cNvPr id="23" name="Group 22">
                      <a:extLst>
                        <a:ext uri="{FF2B5EF4-FFF2-40B4-BE49-F238E27FC236}">
                          <a16:creationId xmlns:a16="http://schemas.microsoft.com/office/drawing/2014/main" id="{E8456D6D-B855-769A-95B6-41D83792A23F}"/>
                        </a:ext>
                      </a:extLst>
                    </p:cNvPr>
                    <p:cNvGrpSpPr/>
                    <p:nvPr/>
                  </p:nvGrpSpPr>
                  <p:grpSpPr>
                    <a:xfrm>
                      <a:off x="2704861" y="19677887"/>
                      <a:ext cx="1828800" cy="1891691"/>
                      <a:chOff x="1197637" y="19677887"/>
                      <a:chExt cx="1828800" cy="1891691"/>
                    </a:xfrm>
                  </p:grpSpPr>
                  <p:sp>
                    <p:nvSpPr>
                      <p:cNvPr id="27" name="Rectangle 26">
                        <a:extLst>
                          <a:ext uri="{FF2B5EF4-FFF2-40B4-BE49-F238E27FC236}">
                            <a16:creationId xmlns:a16="http://schemas.microsoft.com/office/drawing/2014/main" id="{E23C0EBF-CE29-121F-00B4-B52FE0AC2326}"/>
                          </a:ext>
                        </a:extLst>
                      </p:cNvPr>
                      <p:cNvSpPr>
                        <a:spLocks noChangeAspect="1"/>
                      </p:cNvSpPr>
                      <p:nvPr/>
                    </p:nvSpPr>
                    <p:spPr>
                      <a:xfrm>
                        <a:off x="1197637" y="19677887"/>
                        <a:ext cx="1828800" cy="182880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012717E-A2A1-909B-F8DE-390CB7789565}"/>
                          </a:ext>
                        </a:extLst>
                      </p:cNvPr>
                      <p:cNvSpPr txBox="1"/>
                      <p:nvPr/>
                    </p:nvSpPr>
                    <p:spPr>
                      <a:xfrm>
                        <a:off x="1205931" y="19744572"/>
                        <a:ext cx="1812211" cy="1825006"/>
                      </a:xfrm>
                      <a:prstGeom prst="rect">
                        <a:avLst/>
                      </a:prstGeom>
                      <a:noFill/>
                    </p:spPr>
                    <p:txBody>
                      <a:bodyPr wrap="square" rtlCol="0">
                        <a:spAutoFit/>
                      </a:bodyPr>
                      <a:lstStyle/>
                      <a:p>
                        <a:pPr algn="ctr"/>
                        <a:r>
                          <a:rPr lang="en-US" sz="3200" dirty="0">
                            <a:solidFill>
                              <a:schemeClr val="accent1">
                                <a:lumMod val="75000"/>
                              </a:schemeClr>
                            </a:solidFill>
                            <a:latin typeface="Calibri" panose="020F0502020204030204" pitchFamily="34" charset="0"/>
                            <a:cs typeface="Times New Roman" panose="02020603050405020304" pitchFamily="18" charset="0"/>
                          </a:rPr>
                          <a:t>Stable and flexible</a:t>
                        </a:r>
                      </a:p>
                    </p:txBody>
                  </p:sp>
                </p:grpSp>
                <p:grpSp>
                  <p:nvGrpSpPr>
                    <p:cNvPr id="24" name="Group 23">
                      <a:extLst>
                        <a:ext uri="{FF2B5EF4-FFF2-40B4-BE49-F238E27FC236}">
                          <a16:creationId xmlns:a16="http://schemas.microsoft.com/office/drawing/2014/main" id="{245842D1-55DA-413E-BCC6-A3CD9A72BFEC}"/>
                        </a:ext>
                      </a:extLst>
                    </p:cNvPr>
                    <p:cNvGrpSpPr/>
                    <p:nvPr/>
                  </p:nvGrpSpPr>
                  <p:grpSpPr>
                    <a:xfrm>
                      <a:off x="702713" y="21650859"/>
                      <a:ext cx="1839630" cy="1851272"/>
                      <a:chOff x="702714" y="20126126"/>
                      <a:chExt cx="1839630" cy="1851272"/>
                    </a:xfrm>
                  </p:grpSpPr>
                  <p:sp>
                    <p:nvSpPr>
                      <p:cNvPr id="25" name="Rectangle 24">
                        <a:extLst>
                          <a:ext uri="{FF2B5EF4-FFF2-40B4-BE49-F238E27FC236}">
                            <a16:creationId xmlns:a16="http://schemas.microsoft.com/office/drawing/2014/main" id="{3FE0F96A-E6FB-9157-C019-ED83EF3563BE}"/>
                          </a:ext>
                        </a:extLst>
                      </p:cNvPr>
                      <p:cNvSpPr>
                        <a:spLocks noChangeAspect="1"/>
                      </p:cNvSpPr>
                      <p:nvPr/>
                    </p:nvSpPr>
                    <p:spPr>
                      <a:xfrm>
                        <a:off x="702714" y="20148598"/>
                        <a:ext cx="1828800" cy="182880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557C28B-968A-BE47-950E-156247E64105}"/>
                          </a:ext>
                        </a:extLst>
                      </p:cNvPr>
                      <p:cNvSpPr txBox="1"/>
                      <p:nvPr/>
                    </p:nvSpPr>
                    <p:spPr>
                      <a:xfrm>
                        <a:off x="703325" y="20126126"/>
                        <a:ext cx="1839019" cy="1825007"/>
                      </a:xfrm>
                      <a:prstGeom prst="rect">
                        <a:avLst/>
                      </a:prstGeom>
                      <a:noFill/>
                    </p:spPr>
                    <p:txBody>
                      <a:bodyPr wrap="square" rtlCol="0">
                        <a:spAutoFit/>
                      </a:bodyPr>
                      <a:lstStyle/>
                      <a:p>
                        <a:pPr algn="ctr"/>
                        <a:r>
                          <a:rPr lang="en-US" sz="3200" dirty="0">
                            <a:solidFill>
                              <a:schemeClr val="accent1">
                                <a:lumMod val="75000"/>
                              </a:schemeClr>
                            </a:solidFill>
                            <a:latin typeface="Calibri" panose="020F0502020204030204" pitchFamily="34" charset="0"/>
                            <a:cs typeface="Times New Roman" panose="02020603050405020304" pitchFamily="18" charset="0"/>
                          </a:rPr>
                          <a:t>Unstable and inflexible</a:t>
                        </a:r>
                      </a:p>
                    </p:txBody>
                  </p:sp>
                </p:grpSp>
              </p:grpSp>
              <p:grpSp>
                <p:nvGrpSpPr>
                  <p:cNvPr id="19" name="Group 18">
                    <a:extLst>
                      <a:ext uri="{FF2B5EF4-FFF2-40B4-BE49-F238E27FC236}">
                        <a16:creationId xmlns:a16="http://schemas.microsoft.com/office/drawing/2014/main" id="{76EE3FD5-6BD2-9B8A-3E7D-497E8996CBEA}"/>
                      </a:ext>
                    </a:extLst>
                  </p:cNvPr>
                  <p:cNvGrpSpPr/>
                  <p:nvPr/>
                </p:nvGrpSpPr>
                <p:grpSpPr>
                  <a:xfrm>
                    <a:off x="2712026" y="21685025"/>
                    <a:ext cx="1865058" cy="1862557"/>
                    <a:chOff x="1197041" y="20160292"/>
                    <a:chExt cx="1865058" cy="1862557"/>
                  </a:xfrm>
                </p:grpSpPr>
                <p:sp>
                  <p:nvSpPr>
                    <p:cNvPr id="20" name="Rectangle 19">
                      <a:extLst>
                        <a:ext uri="{FF2B5EF4-FFF2-40B4-BE49-F238E27FC236}">
                          <a16:creationId xmlns:a16="http://schemas.microsoft.com/office/drawing/2014/main" id="{FB05501C-F0B6-71F8-516E-5D2B82F14C53}"/>
                        </a:ext>
                      </a:extLst>
                    </p:cNvPr>
                    <p:cNvSpPr>
                      <a:spLocks noChangeAspect="1"/>
                    </p:cNvSpPr>
                    <p:nvPr/>
                  </p:nvSpPr>
                  <p:spPr>
                    <a:xfrm>
                      <a:off x="1197041" y="20160292"/>
                      <a:ext cx="1828800" cy="182880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162E55B5-5841-D944-5FA0-3072BE8599AC}"/>
                        </a:ext>
                      </a:extLst>
                    </p:cNvPr>
                    <p:cNvSpPr txBox="1"/>
                    <p:nvPr/>
                  </p:nvSpPr>
                  <p:spPr>
                    <a:xfrm>
                      <a:off x="1224330" y="20197842"/>
                      <a:ext cx="1837769" cy="1825007"/>
                    </a:xfrm>
                    <a:prstGeom prst="rect">
                      <a:avLst/>
                    </a:prstGeom>
                    <a:noFill/>
                  </p:spPr>
                  <p:txBody>
                    <a:bodyPr wrap="square" rtlCol="0">
                      <a:spAutoFit/>
                    </a:bodyPr>
                    <a:lstStyle/>
                    <a:p>
                      <a:pPr algn="ctr"/>
                      <a:r>
                        <a:rPr lang="en-US" sz="3200" dirty="0">
                          <a:solidFill>
                            <a:schemeClr val="accent1">
                              <a:lumMod val="75000"/>
                            </a:schemeClr>
                          </a:solidFill>
                          <a:latin typeface="Calibri" panose="020F0502020204030204" pitchFamily="34" charset="0"/>
                          <a:cs typeface="Times New Roman" panose="02020603050405020304" pitchFamily="18" charset="0"/>
                        </a:rPr>
                        <a:t>Unstable and flexible</a:t>
                      </a:r>
                    </a:p>
                  </p:txBody>
                </p:sp>
              </p:grpSp>
            </p:grpSp>
            <p:sp>
              <p:nvSpPr>
                <p:cNvPr id="14" name="TextBox 13">
                  <a:extLst>
                    <a:ext uri="{FF2B5EF4-FFF2-40B4-BE49-F238E27FC236}">
                      <a16:creationId xmlns:a16="http://schemas.microsoft.com/office/drawing/2014/main" id="{49CD7205-F490-DFCB-3303-5F2CF7FEB4C9}"/>
                    </a:ext>
                  </a:extLst>
                </p:cNvPr>
                <p:cNvSpPr txBox="1"/>
                <p:nvPr/>
              </p:nvSpPr>
              <p:spPr>
                <a:xfrm>
                  <a:off x="1296837" y="23475865"/>
                  <a:ext cx="1218217" cy="584775"/>
                </a:xfrm>
                <a:prstGeom prst="rect">
                  <a:avLst/>
                </a:prstGeom>
                <a:noFill/>
              </p:spPr>
              <p:txBody>
                <a:bodyPr wrap="square" rtlCol="0">
                  <a:spAutoFit/>
                </a:bodyPr>
                <a:lstStyle/>
                <a:p>
                  <a:r>
                    <a:rPr lang="en-US" sz="3200" dirty="0">
                      <a:solidFill>
                        <a:schemeClr val="accent1">
                          <a:lumMod val="75000"/>
                        </a:schemeClr>
                      </a:solidFill>
                      <a:latin typeface="Calibri" panose="020F0502020204030204" pitchFamily="34" charset="0"/>
                      <a:cs typeface="Times New Roman" panose="02020603050405020304" pitchFamily="18" charset="0"/>
                    </a:rPr>
                    <a:t>25% </a:t>
                  </a:r>
                </a:p>
              </p:txBody>
            </p:sp>
            <p:sp>
              <p:nvSpPr>
                <p:cNvPr id="15" name="TextBox 14">
                  <a:extLst>
                    <a:ext uri="{FF2B5EF4-FFF2-40B4-BE49-F238E27FC236}">
                      <a16:creationId xmlns:a16="http://schemas.microsoft.com/office/drawing/2014/main" id="{FBAE48AC-D37C-B24D-BDD3-A9978DE83A6B}"/>
                    </a:ext>
                  </a:extLst>
                </p:cNvPr>
                <p:cNvSpPr txBox="1"/>
                <p:nvPr/>
              </p:nvSpPr>
              <p:spPr>
                <a:xfrm>
                  <a:off x="3114334" y="23488826"/>
                  <a:ext cx="1017441" cy="584775"/>
                </a:xfrm>
                <a:prstGeom prst="rect">
                  <a:avLst/>
                </a:prstGeom>
                <a:noFill/>
              </p:spPr>
              <p:txBody>
                <a:bodyPr wrap="square" rtlCol="0">
                  <a:spAutoFit/>
                </a:bodyPr>
                <a:lstStyle/>
                <a:p>
                  <a:r>
                    <a:rPr lang="en-US" sz="3200" dirty="0">
                      <a:solidFill>
                        <a:schemeClr val="accent1">
                          <a:lumMod val="75000"/>
                        </a:schemeClr>
                      </a:solidFill>
                      <a:latin typeface="Calibri" panose="020F0502020204030204" pitchFamily="34" charset="0"/>
                      <a:cs typeface="Times New Roman" panose="02020603050405020304" pitchFamily="18" charset="0"/>
                    </a:rPr>
                    <a:t>75% </a:t>
                  </a:r>
                </a:p>
              </p:txBody>
            </p:sp>
            <p:sp>
              <p:nvSpPr>
                <p:cNvPr id="16" name="TextBox 15">
                  <a:extLst>
                    <a:ext uri="{FF2B5EF4-FFF2-40B4-BE49-F238E27FC236}">
                      <a16:creationId xmlns:a16="http://schemas.microsoft.com/office/drawing/2014/main" id="{FE9F195D-A7E9-330F-2FB8-32E285922D20}"/>
                    </a:ext>
                  </a:extLst>
                </p:cNvPr>
                <p:cNvSpPr txBox="1"/>
                <p:nvPr/>
              </p:nvSpPr>
              <p:spPr>
                <a:xfrm rot="16200000">
                  <a:off x="-127673" y="22095167"/>
                  <a:ext cx="1077220" cy="584775"/>
                </a:xfrm>
                <a:prstGeom prst="rect">
                  <a:avLst/>
                </a:prstGeom>
                <a:noFill/>
              </p:spPr>
              <p:txBody>
                <a:bodyPr wrap="square" rtlCol="0">
                  <a:spAutoFit/>
                </a:bodyPr>
                <a:lstStyle/>
                <a:p>
                  <a:r>
                    <a:rPr lang="en-US" sz="3200" dirty="0">
                      <a:solidFill>
                        <a:schemeClr val="accent1">
                          <a:lumMod val="75000"/>
                        </a:schemeClr>
                      </a:solidFill>
                      <a:latin typeface="Calibri" panose="020F0502020204030204" pitchFamily="34" charset="0"/>
                      <a:cs typeface="Times New Roman" panose="02020603050405020304" pitchFamily="18" charset="0"/>
                    </a:rPr>
                    <a:t>25%</a:t>
                  </a:r>
                  <a:r>
                    <a:rPr lang="en-US" sz="3200" dirty="0"/>
                    <a:t> </a:t>
                  </a:r>
                </a:p>
              </p:txBody>
            </p:sp>
            <p:sp>
              <p:nvSpPr>
                <p:cNvPr id="17" name="TextBox 16">
                  <a:extLst>
                    <a:ext uri="{FF2B5EF4-FFF2-40B4-BE49-F238E27FC236}">
                      <a16:creationId xmlns:a16="http://schemas.microsoft.com/office/drawing/2014/main" id="{32D0B2D2-776F-49FA-374A-C587B42859D5}"/>
                    </a:ext>
                  </a:extLst>
                </p:cNvPr>
                <p:cNvSpPr txBox="1"/>
                <p:nvPr/>
              </p:nvSpPr>
              <p:spPr>
                <a:xfrm rot="16200000">
                  <a:off x="-101213" y="20280356"/>
                  <a:ext cx="1077219" cy="584775"/>
                </a:xfrm>
                <a:prstGeom prst="rect">
                  <a:avLst/>
                </a:prstGeom>
                <a:noFill/>
              </p:spPr>
              <p:txBody>
                <a:bodyPr wrap="square" rtlCol="0">
                  <a:spAutoFit/>
                </a:bodyPr>
                <a:lstStyle/>
                <a:p>
                  <a:r>
                    <a:rPr lang="en-US" sz="3200" dirty="0">
                      <a:solidFill>
                        <a:schemeClr val="accent1">
                          <a:lumMod val="75000"/>
                        </a:schemeClr>
                      </a:solidFill>
                      <a:latin typeface="Calibri" panose="020F0502020204030204" pitchFamily="34" charset="0"/>
                      <a:cs typeface="Times New Roman" panose="02020603050405020304" pitchFamily="18" charset="0"/>
                    </a:rPr>
                    <a:t>75%</a:t>
                  </a:r>
                  <a:r>
                    <a:rPr lang="en-US" sz="3200" dirty="0"/>
                    <a:t> </a:t>
                  </a:r>
                </a:p>
              </p:txBody>
            </p:sp>
          </p:grpSp>
        </p:grpSp>
        <p:sp>
          <p:nvSpPr>
            <p:cNvPr id="33" name="Rectangle 32">
              <a:extLst>
                <a:ext uri="{FF2B5EF4-FFF2-40B4-BE49-F238E27FC236}">
                  <a16:creationId xmlns:a16="http://schemas.microsoft.com/office/drawing/2014/main" id="{412756AA-22C0-5107-E8E3-32CA6B40D5C3}"/>
                </a:ext>
              </a:extLst>
            </p:cNvPr>
            <p:cNvSpPr/>
            <p:nvPr/>
          </p:nvSpPr>
          <p:spPr>
            <a:xfrm rot="5400000">
              <a:off x="5997747" y="4590591"/>
              <a:ext cx="457139" cy="375675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2CD1D81-C6C7-CAA4-E1A6-F398E693A1F2}"/>
                </a:ext>
              </a:extLst>
            </p:cNvPr>
            <p:cNvSpPr txBox="1"/>
            <p:nvPr/>
          </p:nvSpPr>
          <p:spPr>
            <a:xfrm>
              <a:off x="4586371" y="6190103"/>
              <a:ext cx="3263971" cy="584775"/>
            </a:xfrm>
            <a:prstGeom prst="rect">
              <a:avLst/>
            </a:prstGeom>
            <a:noFill/>
          </p:spPr>
          <p:txBody>
            <a:bodyPr wrap="square" rtlCol="0">
              <a:spAutoFit/>
            </a:bodyPr>
            <a:lstStyle/>
            <a:p>
              <a:pPr algn="ctr"/>
              <a:r>
                <a:rPr lang="en-US" sz="3200" dirty="0">
                  <a:solidFill>
                    <a:schemeClr val="accent1">
                      <a:lumMod val="75000"/>
                    </a:schemeClr>
                  </a:solidFill>
                  <a:latin typeface="Calibri" panose="020F0502020204030204" pitchFamily="34" charset="0"/>
                  <a:cs typeface="Times New Roman" panose="02020603050405020304" pitchFamily="18" charset="0"/>
                </a:rPr>
                <a:t>Switch Prop.</a:t>
              </a:r>
            </a:p>
          </p:txBody>
        </p:sp>
      </p:grpSp>
      <p:sp>
        <p:nvSpPr>
          <p:cNvPr id="35" name="TextBox 34">
            <a:extLst>
              <a:ext uri="{FF2B5EF4-FFF2-40B4-BE49-F238E27FC236}">
                <a16:creationId xmlns:a16="http://schemas.microsoft.com/office/drawing/2014/main" id="{9F972650-37EE-CF8E-4D43-A14C6BF6AA3D}"/>
              </a:ext>
            </a:extLst>
          </p:cNvPr>
          <p:cNvSpPr txBox="1"/>
          <p:nvPr/>
        </p:nvSpPr>
        <p:spPr>
          <a:xfrm>
            <a:off x="118079" y="79398"/>
            <a:ext cx="12073922" cy="2677656"/>
          </a:xfrm>
          <a:prstGeom prst="rect">
            <a:avLst/>
          </a:prstGeom>
          <a:noFill/>
        </p:spPr>
        <p:txBody>
          <a:bodyPr wrap="square" rtlCol="0">
            <a:spAutoFit/>
          </a:bodyPr>
          <a:lstStyle/>
          <a:p>
            <a:r>
              <a:rPr lang="en-US" sz="2800" dirty="0"/>
              <a:t>Hypothesis: Incongruent proportion affects the size of congruency effect but not switch cost</a:t>
            </a:r>
          </a:p>
          <a:p>
            <a:endParaRPr lang="en-US" sz="2800" dirty="0"/>
          </a:p>
          <a:p>
            <a:r>
              <a:rPr lang="en-US" sz="2800" dirty="0"/>
              <a:t>Hypothesis: Switch proportion affects the size of switch cost but not congruency effect</a:t>
            </a:r>
          </a:p>
          <a:p>
            <a:endParaRPr lang="en-US" sz="2800" dirty="0"/>
          </a:p>
        </p:txBody>
      </p:sp>
      <p:pic>
        <p:nvPicPr>
          <p:cNvPr id="36" name="Picture 35">
            <a:extLst>
              <a:ext uri="{FF2B5EF4-FFF2-40B4-BE49-F238E27FC236}">
                <a16:creationId xmlns:a16="http://schemas.microsoft.com/office/drawing/2014/main" id="{6346124C-FC51-54F3-7129-5939194DC130}"/>
              </a:ext>
            </a:extLst>
          </p:cNvPr>
          <p:cNvPicPr>
            <a:picLocks noChangeAspect="1"/>
          </p:cNvPicPr>
          <p:nvPr/>
        </p:nvPicPr>
        <p:blipFill>
          <a:blip r:embed="rId3"/>
          <a:stretch>
            <a:fillRect/>
          </a:stretch>
        </p:blipFill>
        <p:spPr>
          <a:xfrm>
            <a:off x="-6762108" y="-74926"/>
            <a:ext cx="5156200" cy="6629400"/>
          </a:xfrm>
          <a:prstGeom prst="rect">
            <a:avLst/>
          </a:prstGeom>
        </p:spPr>
      </p:pic>
      <p:pic>
        <p:nvPicPr>
          <p:cNvPr id="38" name="Picture 37">
            <a:extLst>
              <a:ext uri="{FF2B5EF4-FFF2-40B4-BE49-F238E27FC236}">
                <a16:creationId xmlns:a16="http://schemas.microsoft.com/office/drawing/2014/main" id="{5996EB45-7B80-D124-6AA2-DF03394B24A8}"/>
              </a:ext>
            </a:extLst>
          </p:cNvPr>
          <p:cNvPicPr>
            <a:picLocks noChangeAspect="1"/>
          </p:cNvPicPr>
          <p:nvPr/>
        </p:nvPicPr>
        <p:blipFill>
          <a:blip r:embed="rId4"/>
          <a:stretch>
            <a:fillRect/>
          </a:stretch>
        </p:blipFill>
        <p:spPr>
          <a:xfrm>
            <a:off x="13538689" y="-1194544"/>
            <a:ext cx="7200900" cy="2768600"/>
          </a:xfrm>
          <a:prstGeom prst="rect">
            <a:avLst/>
          </a:prstGeom>
        </p:spPr>
      </p:pic>
      <p:pic>
        <p:nvPicPr>
          <p:cNvPr id="40" name="Picture 39">
            <a:extLst>
              <a:ext uri="{FF2B5EF4-FFF2-40B4-BE49-F238E27FC236}">
                <a16:creationId xmlns:a16="http://schemas.microsoft.com/office/drawing/2014/main" id="{EA331BC1-460C-19DB-DACD-92F75764F558}"/>
              </a:ext>
            </a:extLst>
          </p:cNvPr>
          <p:cNvPicPr>
            <a:picLocks noChangeAspect="1"/>
          </p:cNvPicPr>
          <p:nvPr/>
        </p:nvPicPr>
        <p:blipFill>
          <a:blip r:embed="rId5"/>
          <a:stretch>
            <a:fillRect/>
          </a:stretch>
        </p:blipFill>
        <p:spPr>
          <a:xfrm>
            <a:off x="13990768" y="2277200"/>
            <a:ext cx="6858000" cy="4229100"/>
          </a:xfrm>
          <a:prstGeom prst="rect">
            <a:avLst/>
          </a:prstGeom>
        </p:spPr>
      </p:pic>
      <p:sp>
        <p:nvSpPr>
          <p:cNvPr id="41" name="TextBox 40">
            <a:extLst>
              <a:ext uri="{FF2B5EF4-FFF2-40B4-BE49-F238E27FC236}">
                <a16:creationId xmlns:a16="http://schemas.microsoft.com/office/drawing/2014/main" id="{39765B3C-9042-DFC1-FC93-4310D6158207}"/>
              </a:ext>
            </a:extLst>
          </p:cNvPr>
          <p:cNvSpPr txBox="1"/>
          <p:nvPr/>
        </p:nvSpPr>
        <p:spPr>
          <a:xfrm>
            <a:off x="97419" y="2590488"/>
            <a:ext cx="5426815" cy="1569660"/>
          </a:xfrm>
          <a:prstGeom prst="rect">
            <a:avLst/>
          </a:prstGeom>
          <a:noFill/>
        </p:spPr>
        <p:txBody>
          <a:bodyPr wrap="square" rtlCol="0">
            <a:spAutoFit/>
          </a:bodyPr>
          <a:lstStyle/>
          <a:p>
            <a:r>
              <a:rPr lang="en-US" sz="3200" dirty="0"/>
              <a:t>Congruency Effect = </a:t>
            </a:r>
            <a:r>
              <a:rPr lang="en-US" sz="3200" dirty="0" err="1"/>
              <a:t>RT</a:t>
            </a:r>
            <a:r>
              <a:rPr lang="en-US" sz="3200" baseline="-25000" dirty="0" err="1"/>
              <a:t>inc</a:t>
            </a:r>
            <a:r>
              <a:rPr lang="en-US" sz="3200" baseline="-25000" dirty="0"/>
              <a:t> </a:t>
            </a:r>
            <a:r>
              <a:rPr lang="en-US" sz="3200" dirty="0"/>
              <a:t>– </a:t>
            </a:r>
            <a:r>
              <a:rPr lang="en-US" sz="3200" dirty="0" err="1"/>
              <a:t>RT</a:t>
            </a:r>
            <a:r>
              <a:rPr lang="en-US" sz="3200" baseline="-25000" dirty="0" err="1"/>
              <a:t>con</a:t>
            </a:r>
            <a:endParaRPr lang="en-US" sz="3200" baseline="-25000" dirty="0"/>
          </a:p>
          <a:p>
            <a:r>
              <a:rPr lang="en-US" sz="3200" dirty="0"/>
              <a:t>Switch Cost = </a:t>
            </a:r>
            <a:r>
              <a:rPr lang="en-US" sz="3200" dirty="0" err="1"/>
              <a:t>RT</a:t>
            </a:r>
            <a:r>
              <a:rPr lang="en-US" sz="3200" baseline="-25000" dirty="0" err="1"/>
              <a:t>switch</a:t>
            </a:r>
            <a:r>
              <a:rPr lang="en-US" sz="3200" baseline="-25000" dirty="0"/>
              <a:t> </a:t>
            </a:r>
            <a:r>
              <a:rPr lang="en-US" sz="3200" dirty="0"/>
              <a:t>– </a:t>
            </a:r>
            <a:r>
              <a:rPr lang="en-US" sz="3200" dirty="0" err="1"/>
              <a:t>RT</a:t>
            </a:r>
            <a:r>
              <a:rPr lang="en-US" sz="3200" baseline="-25000" dirty="0" err="1"/>
              <a:t>repeat</a:t>
            </a:r>
            <a:endParaRPr lang="en-US" sz="3200" baseline="-25000" dirty="0"/>
          </a:p>
          <a:p>
            <a:endParaRPr lang="en-US" sz="3200" dirty="0"/>
          </a:p>
        </p:txBody>
      </p:sp>
      <p:grpSp>
        <p:nvGrpSpPr>
          <p:cNvPr id="2" name="Group 1">
            <a:extLst>
              <a:ext uri="{FF2B5EF4-FFF2-40B4-BE49-F238E27FC236}">
                <a16:creationId xmlns:a16="http://schemas.microsoft.com/office/drawing/2014/main" id="{564D826D-57FF-749B-5E62-4607F111F018}"/>
              </a:ext>
            </a:extLst>
          </p:cNvPr>
          <p:cNvGrpSpPr/>
          <p:nvPr/>
        </p:nvGrpSpPr>
        <p:grpSpPr>
          <a:xfrm>
            <a:off x="5491817" y="1988635"/>
            <a:ext cx="6002555" cy="5589054"/>
            <a:chOff x="7013279" y="2708911"/>
            <a:chExt cx="6002555" cy="5589054"/>
          </a:xfrm>
        </p:grpSpPr>
        <p:cxnSp>
          <p:nvCxnSpPr>
            <p:cNvPr id="3" name="Straight Arrow Connector 2">
              <a:extLst>
                <a:ext uri="{FF2B5EF4-FFF2-40B4-BE49-F238E27FC236}">
                  <a16:creationId xmlns:a16="http://schemas.microsoft.com/office/drawing/2014/main" id="{029A085C-5F11-26B5-7D40-310752786864}"/>
                </a:ext>
              </a:extLst>
            </p:cNvPr>
            <p:cNvCxnSpPr>
              <a:cxnSpLocks/>
            </p:cNvCxnSpPr>
            <p:nvPr/>
          </p:nvCxnSpPr>
          <p:spPr>
            <a:xfrm flipV="1">
              <a:off x="7658100" y="2708911"/>
              <a:ext cx="0" cy="4443505"/>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 name="Straight Arrow Connector 3">
              <a:extLst>
                <a:ext uri="{FF2B5EF4-FFF2-40B4-BE49-F238E27FC236}">
                  <a16:creationId xmlns:a16="http://schemas.microsoft.com/office/drawing/2014/main" id="{FAB20800-B3B6-5060-54D8-8EECB39D9D77}"/>
                </a:ext>
              </a:extLst>
            </p:cNvPr>
            <p:cNvCxnSpPr>
              <a:cxnSpLocks/>
            </p:cNvCxnSpPr>
            <p:nvPr/>
          </p:nvCxnSpPr>
          <p:spPr>
            <a:xfrm>
              <a:off x="8571850" y="7685962"/>
              <a:ext cx="4443984" cy="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 name="TextBox 5">
              <a:extLst>
                <a:ext uri="{FF2B5EF4-FFF2-40B4-BE49-F238E27FC236}">
                  <a16:creationId xmlns:a16="http://schemas.microsoft.com/office/drawing/2014/main" id="{C7BA8B36-BD2E-B839-E202-808FE2833342}"/>
                </a:ext>
              </a:extLst>
            </p:cNvPr>
            <p:cNvSpPr txBox="1"/>
            <p:nvPr/>
          </p:nvSpPr>
          <p:spPr>
            <a:xfrm rot="16200000">
              <a:off x="6401605" y="4228437"/>
              <a:ext cx="1685013" cy="461665"/>
            </a:xfrm>
            <a:prstGeom prst="rect">
              <a:avLst/>
            </a:prstGeom>
            <a:noFill/>
          </p:spPr>
          <p:txBody>
            <a:bodyPr wrap="none" rtlCol="0">
              <a:spAutoFit/>
            </a:bodyPr>
            <a:lstStyle/>
            <a:p>
              <a:r>
                <a:rPr lang="en-US" sz="2400" dirty="0"/>
                <a:t>More stable</a:t>
              </a:r>
            </a:p>
          </p:txBody>
        </p:sp>
        <p:sp>
          <p:nvSpPr>
            <p:cNvPr id="7" name="TextBox 6">
              <a:extLst>
                <a:ext uri="{FF2B5EF4-FFF2-40B4-BE49-F238E27FC236}">
                  <a16:creationId xmlns:a16="http://schemas.microsoft.com/office/drawing/2014/main" id="{328AC38C-8F96-0A7B-F506-8065746E3FBD}"/>
                </a:ext>
              </a:extLst>
            </p:cNvPr>
            <p:cNvSpPr txBox="1"/>
            <p:nvPr/>
          </p:nvSpPr>
          <p:spPr>
            <a:xfrm>
              <a:off x="10022469" y="7836300"/>
              <a:ext cx="1886350" cy="461665"/>
            </a:xfrm>
            <a:prstGeom prst="rect">
              <a:avLst/>
            </a:prstGeom>
            <a:noFill/>
          </p:spPr>
          <p:txBody>
            <a:bodyPr wrap="none" rtlCol="0">
              <a:spAutoFit/>
            </a:bodyPr>
            <a:lstStyle/>
            <a:p>
              <a:r>
                <a:rPr lang="en-US" sz="2400" dirty="0"/>
                <a:t>More Flexible</a:t>
              </a:r>
            </a:p>
          </p:txBody>
        </p:sp>
      </p:grpSp>
    </p:spTree>
    <p:extLst>
      <p:ext uri="{BB962C8B-B14F-4D97-AF65-F5344CB8AC3E}">
        <p14:creationId xmlns:p14="http://schemas.microsoft.com/office/powerpoint/2010/main" val="3921197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326EC-2173-1B5A-1C53-B980DC7C154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9CD50DC-C726-97B3-DAFC-343B6B79D446}"/>
              </a:ext>
            </a:extLst>
          </p:cNvPr>
          <p:cNvSpPr>
            <a:spLocks noGrp="1"/>
          </p:cNvSpPr>
          <p:nvPr>
            <p:ph type="title"/>
          </p:nvPr>
        </p:nvSpPr>
        <p:spPr>
          <a:xfrm>
            <a:off x="0" y="47927"/>
            <a:ext cx="10515600" cy="1325563"/>
          </a:xfrm>
        </p:spPr>
        <p:txBody>
          <a:bodyPr/>
          <a:lstStyle/>
          <a:p>
            <a:r>
              <a:rPr lang="en-US" dirty="0"/>
              <a:t>fMRI (N=45)</a:t>
            </a:r>
          </a:p>
        </p:txBody>
      </p:sp>
      <p:sp>
        <p:nvSpPr>
          <p:cNvPr id="25" name="TextBox 24">
            <a:extLst>
              <a:ext uri="{FF2B5EF4-FFF2-40B4-BE49-F238E27FC236}">
                <a16:creationId xmlns:a16="http://schemas.microsoft.com/office/drawing/2014/main" id="{68D9906F-AFDD-F888-384F-22DEBC0B1F30}"/>
              </a:ext>
            </a:extLst>
          </p:cNvPr>
          <p:cNvSpPr txBox="1"/>
          <p:nvPr/>
        </p:nvSpPr>
        <p:spPr>
          <a:xfrm>
            <a:off x="0" y="1373490"/>
            <a:ext cx="5478679" cy="1405513"/>
          </a:xfrm>
          <a:prstGeom prst="rect">
            <a:avLst/>
          </a:prstGeom>
          <a:noFill/>
        </p:spPr>
        <p:txBody>
          <a:bodyPr wrap="none" rtlCol="0">
            <a:spAutoFit/>
          </a:bodyPr>
          <a:lstStyle/>
          <a:p>
            <a:r>
              <a:rPr lang="en-US" sz="3200" dirty="0"/>
              <a:t>Switch Cost = </a:t>
            </a:r>
            <a:r>
              <a:rPr lang="en-US" sz="3200" dirty="0" err="1"/>
              <a:t>RT</a:t>
            </a:r>
            <a:r>
              <a:rPr lang="en-US" sz="3200" baseline="-25000" dirty="0" err="1"/>
              <a:t>switch</a:t>
            </a:r>
            <a:r>
              <a:rPr lang="en-US" sz="3200" baseline="-25000" dirty="0"/>
              <a:t> </a:t>
            </a:r>
            <a:r>
              <a:rPr lang="en-US" sz="3200" dirty="0"/>
              <a:t>– </a:t>
            </a:r>
            <a:r>
              <a:rPr lang="en-US" sz="3200" dirty="0" err="1"/>
              <a:t>RT</a:t>
            </a:r>
            <a:r>
              <a:rPr lang="en-US" sz="3200" baseline="-25000" dirty="0" err="1"/>
              <a:t>repeat</a:t>
            </a:r>
            <a:endParaRPr lang="en-US" sz="3200" baseline="-25000" dirty="0"/>
          </a:p>
          <a:p>
            <a:endParaRPr lang="en-US" sz="3200" baseline="-25000" dirty="0"/>
          </a:p>
          <a:p>
            <a:r>
              <a:rPr lang="en-US" sz="3200" dirty="0"/>
              <a:t>Congruency Effect = </a:t>
            </a:r>
            <a:r>
              <a:rPr lang="en-US" sz="3200" dirty="0" err="1"/>
              <a:t>RT</a:t>
            </a:r>
            <a:r>
              <a:rPr lang="en-US" sz="3200" baseline="-25000" dirty="0" err="1"/>
              <a:t>inc</a:t>
            </a:r>
            <a:r>
              <a:rPr lang="en-US" sz="3200" baseline="-25000" dirty="0"/>
              <a:t> </a:t>
            </a:r>
            <a:r>
              <a:rPr lang="en-US" sz="3200" dirty="0"/>
              <a:t>– </a:t>
            </a:r>
            <a:r>
              <a:rPr lang="en-US" sz="3200" dirty="0" err="1"/>
              <a:t>RT</a:t>
            </a:r>
            <a:r>
              <a:rPr lang="en-US" sz="3200" baseline="-25000" dirty="0" err="1"/>
              <a:t>con</a:t>
            </a:r>
            <a:endParaRPr lang="en-US" sz="3200" dirty="0"/>
          </a:p>
        </p:txBody>
      </p:sp>
      <p:pic>
        <p:nvPicPr>
          <p:cNvPr id="3" name="Picture 2" descr="A group of graph of different sizes&#10;&#10;AI-generated content may be incorrect.">
            <a:extLst>
              <a:ext uri="{FF2B5EF4-FFF2-40B4-BE49-F238E27FC236}">
                <a16:creationId xmlns:a16="http://schemas.microsoft.com/office/drawing/2014/main" id="{BCFA8BA6-3CA0-0B19-3B31-F50885379435}"/>
              </a:ext>
            </a:extLst>
          </p:cNvPr>
          <p:cNvPicPr>
            <a:picLocks noChangeAspect="1"/>
          </p:cNvPicPr>
          <p:nvPr/>
        </p:nvPicPr>
        <p:blipFill>
          <a:blip r:embed="rId3"/>
          <a:stretch>
            <a:fillRect/>
          </a:stretch>
        </p:blipFill>
        <p:spPr>
          <a:xfrm>
            <a:off x="6713323" y="228599"/>
            <a:ext cx="5170109" cy="6400800"/>
          </a:xfrm>
          <a:prstGeom prst="rect">
            <a:avLst/>
          </a:prstGeom>
        </p:spPr>
      </p:pic>
      <p:sp>
        <p:nvSpPr>
          <p:cNvPr id="4" name="TextBox 3">
            <a:extLst>
              <a:ext uri="{FF2B5EF4-FFF2-40B4-BE49-F238E27FC236}">
                <a16:creationId xmlns:a16="http://schemas.microsoft.com/office/drawing/2014/main" id="{866EA78E-4524-614A-2589-1F9FDC1A2D82}"/>
              </a:ext>
            </a:extLst>
          </p:cNvPr>
          <p:cNvSpPr txBox="1"/>
          <p:nvPr/>
        </p:nvSpPr>
        <p:spPr>
          <a:xfrm>
            <a:off x="1" y="3035250"/>
            <a:ext cx="5170110" cy="3970318"/>
          </a:xfrm>
          <a:prstGeom prst="rect">
            <a:avLst/>
          </a:prstGeom>
          <a:noFill/>
        </p:spPr>
        <p:txBody>
          <a:bodyPr wrap="square" rtlCol="0">
            <a:spAutoFit/>
          </a:bodyPr>
          <a:lstStyle/>
          <a:p>
            <a:r>
              <a:rPr lang="en-US" sz="2800" dirty="0"/>
              <a:t>Hypothesis: Incongruent proportion affects the size of congruency effect but not switch cost</a:t>
            </a:r>
          </a:p>
          <a:p>
            <a:endParaRPr lang="en-US" sz="2800" dirty="0"/>
          </a:p>
          <a:p>
            <a:r>
              <a:rPr lang="en-US" sz="2800" dirty="0"/>
              <a:t>Hypothesis: Switch proportion affects the size of switch cost but not congruency effect</a:t>
            </a:r>
          </a:p>
          <a:p>
            <a:endParaRPr lang="en-US" sz="2800" dirty="0"/>
          </a:p>
        </p:txBody>
      </p:sp>
    </p:spTree>
    <p:extLst>
      <p:ext uri="{BB962C8B-B14F-4D97-AF65-F5344CB8AC3E}">
        <p14:creationId xmlns:p14="http://schemas.microsoft.com/office/powerpoint/2010/main" val="2398481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collage of images of the brain&#10;&#10;Description automatically generated">
            <a:extLst>
              <a:ext uri="{FF2B5EF4-FFF2-40B4-BE49-F238E27FC236}">
                <a16:creationId xmlns:a16="http://schemas.microsoft.com/office/drawing/2014/main" id="{DB1B38DA-C50B-7D58-93F1-510A707F8CFD}"/>
              </a:ext>
            </a:extLst>
          </p:cNvPr>
          <p:cNvPicPr>
            <a:picLocks noChangeAspect="1"/>
          </p:cNvPicPr>
          <p:nvPr/>
        </p:nvPicPr>
        <p:blipFill>
          <a:blip r:embed="rId3"/>
          <a:stretch>
            <a:fillRect/>
          </a:stretch>
        </p:blipFill>
        <p:spPr>
          <a:xfrm>
            <a:off x="729077" y="1690688"/>
            <a:ext cx="5226235" cy="3657600"/>
          </a:xfrm>
          <a:prstGeom prst="rect">
            <a:avLst/>
          </a:prstGeom>
        </p:spPr>
      </p:pic>
      <p:pic>
        <p:nvPicPr>
          <p:cNvPr id="5" name="Main graphic">
            <a:extLst>
              <a:ext uri="{FF2B5EF4-FFF2-40B4-BE49-F238E27FC236}">
                <a16:creationId xmlns:a16="http://schemas.microsoft.com/office/drawing/2014/main" id="{C578A389-5D34-DFA3-70FA-C8FA4CF4833D}"/>
              </a:ext>
            </a:extLst>
          </p:cNvPr>
          <p:cNvPicPr/>
          <p:nvPr/>
        </p:nvPicPr>
        <p:blipFill>
          <a:blip r:embed="rId4"/>
          <a:stretch/>
        </p:blipFill>
        <p:spPr>
          <a:xfrm>
            <a:off x="6064435" y="1690688"/>
            <a:ext cx="5117112" cy="3657600"/>
          </a:xfrm>
          <a:prstGeom prst="rect">
            <a:avLst/>
          </a:prstGeom>
          <a:ln>
            <a:noFill/>
          </a:ln>
        </p:spPr>
      </p:pic>
      <p:sp>
        <p:nvSpPr>
          <p:cNvPr id="6" name="TextBox 5">
            <a:extLst>
              <a:ext uri="{FF2B5EF4-FFF2-40B4-BE49-F238E27FC236}">
                <a16:creationId xmlns:a16="http://schemas.microsoft.com/office/drawing/2014/main" id="{7AFC020A-AE2E-AFF7-0628-28806B12697E}"/>
              </a:ext>
            </a:extLst>
          </p:cNvPr>
          <p:cNvSpPr txBox="1"/>
          <p:nvPr/>
        </p:nvSpPr>
        <p:spPr>
          <a:xfrm>
            <a:off x="2740832" y="5348288"/>
            <a:ext cx="1202724" cy="646331"/>
          </a:xfrm>
          <a:prstGeom prst="rect">
            <a:avLst/>
          </a:prstGeom>
          <a:noFill/>
        </p:spPr>
        <p:txBody>
          <a:bodyPr wrap="square" rtlCol="0">
            <a:spAutoFit/>
          </a:bodyPr>
          <a:lstStyle/>
          <a:p>
            <a:r>
              <a:rPr lang="en-US" dirty="0" err="1"/>
              <a:t>Worringer</a:t>
            </a:r>
            <a:r>
              <a:rPr lang="en-US" dirty="0"/>
              <a:t> et al, 2019</a:t>
            </a:r>
          </a:p>
        </p:txBody>
      </p:sp>
      <p:sp>
        <p:nvSpPr>
          <p:cNvPr id="7" name="TextBox 6">
            <a:extLst>
              <a:ext uri="{FF2B5EF4-FFF2-40B4-BE49-F238E27FC236}">
                <a16:creationId xmlns:a16="http://schemas.microsoft.com/office/drawing/2014/main" id="{DCF8701F-C4FF-8A66-2BD1-348B9F72B37D}"/>
              </a:ext>
            </a:extLst>
          </p:cNvPr>
          <p:cNvSpPr txBox="1"/>
          <p:nvPr/>
        </p:nvSpPr>
        <p:spPr>
          <a:xfrm>
            <a:off x="8116356" y="5348288"/>
            <a:ext cx="1544077" cy="369332"/>
          </a:xfrm>
          <a:prstGeom prst="rect">
            <a:avLst/>
          </a:prstGeom>
          <a:noFill/>
        </p:spPr>
        <p:txBody>
          <a:bodyPr wrap="none" rtlCol="0">
            <a:spAutoFit/>
          </a:bodyPr>
          <a:lstStyle/>
          <a:p>
            <a:r>
              <a:rPr lang="en-US" dirty="0"/>
              <a:t>Wu et al, 2019</a:t>
            </a:r>
          </a:p>
        </p:txBody>
      </p:sp>
      <p:sp>
        <p:nvSpPr>
          <p:cNvPr id="8" name="TextBox 7">
            <a:extLst>
              <a:ext uri="{FF2B5EF4-FFF2-40B4-BE49-F238E27FC236}">
                <a16:creationId xmlns:a16="http://schemas.microsoft.com/office/drawing/2014/main" id="{5417A70E-D881-3280-F6DD-39BD861E3D4C}"/>
              </a:ext>
            </a:extLst>
          </p:cNvPr>
          <p:cNvSpPr txBox="1"/>
          <p:nvPr/>
        </p:nvSpPr>
        <p:spPr>
          <a:xfrm>
            <a:off x="2574355" y="770021"/>
            <a:ext cx="2614242" cy="369332"/>
          </a:xfrm>
          <a:prstGeom prst="rect">
            <a:avLst/>
          </a:prstGeom>
          <a:noFill/>
        </p:spPr>
        <p:txBody>
          <a:bodyPr wrap="none" rtlCol="0">
            <a:spAutoFit/>
          </a:bodyPr>
          <a:lstStyle/>
          <a:p>
            <a:r>
              <a:rPr lang="en-US" dirty="0"/>
              <a:t>Task Switching (Flexibility)</a:t>
            </a:r>
          </a:p>
        </p:txBody>
      </p:sp>
      <p:sp>
        <p:nvSpPr>
          <p:cNvPr id="9" name="TextBox 8">
            <a:extLst>
              <a:ext uri="{FF2B5EF4-FFF2-40B4-BE49-F238E27FC236}">
                <a16:creationId xmlns:a16="http://schemas.microsoft.com/office/drawing/2014/main" id="{9CF12860-4D38-57CE-5425-8BF8F977EF3B}"/>
              </a:ext>
            </a:extLst>
          </p:cNvPr>
          <p:cNvSpPr txBox="1"/>
          <p:nvPr/>
        </p:nvSpPr>
        <p:spPr>
          <a:xfrm>
            <a:off x="7103729" y="770021"/>
            <a:ext cx="3038524" cy="369332"/>
          </a:xfrm>
          <a:prstGeom prst="rect">
            <a:avLst/>
          </a:prstGeom>
          <a:noFill/>
        </p:spPr>
        <p:txBody>
          <a:bodyPr wrap="none" rtlCol="0">
            <a:spAutoFit/>
          </a:bodyPr>
          <a:lstStyle/>
          <a:p>
            <a:r>
              <a:rPr lang="en-US" dirty="0"/>
              <a:t>Conflict/Uncertainty (Stability)</a:t>
            </a:r>
          </a:p>
        </p:txBody>
      </p:sp>
      <p:sp>
        <p:nvSpPr>
          <p:cNvPr id="3" name="TextBox 2">
            <a:extLst>
              <a:ext uri="{FF2B5EF4-FFF2-40B4-BE49-F238E27FC236}">
                <a16:creationId xmlns:a16="http://schemas.microsoft.com/office/drawing/2014/main" id="{36DC7D7C-627B-2513-EC76-550F9D337068}"/>
              </a:ext>
            </a:extLst>
          </p:cNvPr>
          <p:cNvSpPr txBox="1"/>
          <p:nvPr/>
        </p:nvSpPr>
        <p:spPr>
          <a:xfrm>
            <a:off x="3564433" y="125022"/>
            <a:ext cx="7374500" cy="369332"/>
          </a:xfrm>
          <a:prstGeom prst="rect">
            <a:avLst/>
          </a:prstGeom>
          <a:noFill/>
        </p:spPr>
        <p:txBody>
          <a:bodyPr wrap="square">
            <a:spAutoFit/>
          </a:bodyPr>
          <a:lstStyle/>
          <a:p>
            <a:r>
              <a:rPr lang="en-US" dirty="0"/>
              <a:t>Do stability and flexibility have shared or distinct neural substrates?</a:t>
            </a:r>
          </a:p>
        </p:txBody>
      </p:sp>
    </p:spTree>
    <p:extLst>
      <p:ext uri="{BB962C8B-B14F-4D97-AF65-F5344CB8AC3E}">
        <p14:creationId xmlns:p14="http://schemas.microsoft.com/office/powerpoint/2010/main" val="185005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1B43C-1790-C73F-76DC-4EB58A6BA854}"/>
            </a:ext>
          </a:extLst>
        </p:cNvPr>
        <p:cNvGrpSpPr/>
        <p:nvPr/>
      </p:nvGrpSpPr>
      <p:grpSpPr>
        <a:xfrm>
          <a:off x="0" y="0"/>
          <a:ext cx="0" cy="0"/>
          <a:chOff x="0" y="0"/>
          <a:chExt cx="0" cy="0"/>
        </a:xfrm>
      </p:grpSpPr>
      <p:pic>
        <p:nvPicPr>
          <p:cNvPr id="4" name="Picture 3" descr="A brain with different colored spots&#10;&#10;AI-generated content may be incorrect.">
            <a:extLst>
              <a:ext uri="{FF2B5EF4-FFF2-40B4-BE49-F238E27FC236}">
                <a16:creationId xmlns:a16="http://schemas.microsoft.com/office/drawing/2014/main" id="{D0C1E704-7109-89B6-861E-42B30528B003}"/>
              </a:ext>
            </a:extLst>
          </p:cNvPr>
          <p:cNvPicPr>
            <a:picLocks noChangeAspect="1"/>
          </p:cNvPicPr>
          <p:nvPr/>
        </p:nvPicPr>
        <p:blipFill>
          <a:blip r:embed="rId3"/>
          <a:srcRect l="32495" t="19585" r="30203" b="22621"/>
          <a:stretch/>
        </p:blipFill>
        <p:spPr>
          <a:xfrm>
            <a:off x="4878234" y="0"/>
            <a:ext cx="2435527" cy="2490893"/>
          </a:xfrm>
          <a:prstGeom prst="rect">
            <a:avLst/>
          </a:prstGeom>
        </p:spPr>
      </p:pic>
      <p:sp>
        <p:nvSpPr>
          <p:cNvPr id="8" name="Title 1">
            <a:extLst>
              <a:ext uri="{FF2B5EF4-FFF2-40B4-BE49-F238E27FC236}">
                <a16:creationId xmlns:a16="http://schemas.microsoft.com/office/drawing/2014/main" id="{461A5BAB-297C-AFC7-82DC-9FDB61D35CCE}"/>
              </a:ext>
            </a:extLst>
          </p:cNvPr>
          <p:cNvSpPr>
            <a:spLocks noGrp="1"/>
          </p:cNvSpPr>
          <p:nvPr>
            <p:ph type="title"/>
          </p:nvPr>
        </p:nvSpPr>
        <p:spPr>
          <a:xfrm>
            <a:off x="21113" y="21076"/>
            <a:ext cx="5583820" cy="1241365"/>
          </a:xfrm>
        </p:spPr>
        <p:txBody>
          <a:bodyPr>
            <a:normAutofit fontScale="90000"/>
          </a:bodyPr>
          <a:lstStyle/>
          <a:p>
            <a:r>
              <a:rPr lang="en-US" dirty="0"/>
              <a:t>fMRI regions mediating flexibility (N=45)</a:t>
            </a:r>
          </a:p>
        </p:txBody>
      </p:sp>
      <p:sp>
        <p:nvSpPr>
          <p:cNvPr id="9" name="TextBox 8">
            <a:extLst>
              <a:ext uri="{FF2B5EF4-FFF2-40B4-BE49-F238E27FC236}">
                <a16:creationId xmlns:a16="http://schemas.microsoft.com/office/drawing/2014/main" id="{B9CEB033-3C8C-F36F-83CC-AC31DC7A6AB7}"/>
              </a:ext>
            </a:extLst>
          </p:cNvPr>
          <p:cNvSpPr txBox="1"/>
          <p:nvPr/>
        </p:nvSpPr>
        <p:spPr>
          <a:xfrm>
            <a:off x="21113" y="1262441"/>
            <a:ext cx="5077420" cy="830997"/>
          </a:xfrm>
          <a:prstGeom prst="rect">
            <a:avLst/>
          </a:prstGeom>
          <a:noFill/>
        </p:spPr>
        <p:txBody>
          <a:bodyPr wrap="square" rtlCol="0">
            <a:spAutoFit/>
          </a:bodyPr>
          <a:lstStyle/>
          <a:p>
            <a:r>
              <a:rPr lang="en-US" sz="2400" dirty="0"/>
              <a:t>Switch Cost = </a:t>
            </a:r>
            <a:r>
              <a:rPr lang="en-US" sz="2400" dirty="0" err="1"/>
              <a:t>Z</a:t>
            </a:r>
            <a:r>
              <a:rPr lang="en-US" sz="2400" baseline="-25000" dirty="0" err="1"/>
              <a:t>switch</a:t>
            </a:r>
            <a:r>
              <a:rPr lang="en-US" sz="2400" baseline="-25000" dirty="0"/>
              <a:t> </a:t>
            </a:r>
            <a:r>
              <a:rPr lang="en-US" sz="2400" dirty="0"/>
              <a:t>– </a:t>
            </a:r>
            <a:r>
              <a:rPr lang="en-US" sz="2400" dirty="0" err="1"/>
              <a:t>Z</a:t>
            </a:r>
            <a:r>
              <a:rPr lang="en-US" sz="2400" baseline="-25000" dirty="0" err="1"/>
              <a:t>repeat</a:t>
            </a:r>
            <a:endParaRPr lang="en-US" sz="2400" baseline="-25000" dirty="0"/>
          </a:p>
          <a:p>
            <a:r>
              <a:rPr lang="en-US" sz="2400" dirty="0"/>
              <a:t>Congruency Effect = Z</a:t>
            </a:r>
            <a:r>
              <a:rPr lang="en-US" sz="2400" baseline="-25000" dirty="0"/>
              <a:t>inc </a:t>
            </a:r>
            <a:r>
              <a:rPr lang="en-US" sz="2400" dirty="0"/>
              <a:t>– </a:t>
            </a:r>
            <a:r>
              <a:rPr lang="en-US" sz="2400" dirty="0" err="1"/>
              <a:t>Z</a:t>
            </a:r>
            <a:r>
              <a:rPr lang="en-US" sz="2400" baseline="-25000" dirty="0" err="1"/>
              <a:t>con</a:t>
            </a:r>
            <a:endParaRPr lang="en-US" sz="2400" dirty="0"/>
          </a:p>
        </p:txBody>
      </p:sp>
    </p:spTree>
    <p:extLst>
      <p:ext uri="{BB962C8B-B14F-4D97-AF65-F5344CB8AC3E}">
        <p14:creationId xmlns:p14="http://schemas.microsoft.com/office/powerpoint/2010/main" val="2206277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87D85-88AA-A457-6843-504CB59C4F63}"/>
            </a:ext>
          </a:extLst>
        </p:cNvPr>
        <p:cNvGrpSpPr/>
        <p:nvPr/>
      </p:nvGrpSpPr>
      <p:grpSpPr>
        <a:xfrm>
          <a:off x="0" y="0"/>
          <a:ext cx="0" cy="0"/>
          <a:chOff x="0" y="0"/>
          <a:chExt cx="0" cy="0"/>
        </a:xfrm>
      </p:grpSpPr>
      <p:pic>
        <p:nvPicPr>
          <p:cNvPr id="4" name="Picture 3" descr="A brain with different colored spots&#10;&#10;AI-generated content may be incorrect.">
            <a:extLst>
              <a:ext uri="{FF2B5EF4-FFF2-40B4-BE49-F238E27FC236}">
                <a16:creationId xmlns:a16="http://schemas.microsoft.com/office/drawing/2014/main" id="{EE101043-A12E-4550-7F48-8B5293501B0F}"/>
              </a:ext>
            </a:extLst>
          </p:cNvPr>
          <p:cNvPicPr>
            <a:picLocks noChangeAspect="1"/>
          </p:cNvPicPr>
          <p:nvPr/>
        </p:nvPicPr>
        <p:blipFill>
          <a:blip r:embed="rId3"/>
          <a:srcRect l="32495" t="19585" r="30203" b="22621"/>
          <a:stretch/>
        </p:blipFill>
        <p:spPr>
          <a:xfrm>
            <a:off x="4878234" y="0"/>
            <a:ext cx="2435527" cy="2490893"/>
          </a:xfrm>
          <a:prstGeom prst="rect">
            <a:avLst/>
          </a:prstGeom>
        </p:spPr>
      </p:pic>
      <p:pic>
        <p:nvPicPr>
          <p:cNvPr id="5" name="Picture 4" descr="A group of red boxes with black text&#10;&#10;AI-generated content may be incorrect.">
            <a:extLst>
              <a:ext uri="{FF2B5EF4-FFF2-40B4-BE49-F238E27FC236}">
                <a16:creationId xmlns:a16="http://schemas.microsoft.com/office/drawing/2014/main" id="{C6B21936-734C-86CE-B472-2E61267B4DA8}"/>
              </a:ext>
            </a:extLst>
          </p:cNvPr>
          <p:cNvPicPr>
            <a:picLocks noChangeAspect="1"/>
          </p:cNvPicPr>
          <p:nvPr/>
        </p:nvPicPr>
        <p:blipFill>
          <a:blip r:embed="rId4"/>
          <a:stretch>
            <a:fillRect/>
          </a:stretch>
        </p:blipFill>
        <p:spPr>
          <a:xfrm>
            <a:off x="4341855" y="2524882"/>
            <a:ext cx="3508283" cy="4343400"/>
          </a:xfrm>
          <a:prstGeom prst="rect">
            <a:avLst/>
          </a:prstGeom>
        </p:spPr>
      </p:pic>
      <p:pic>
        <p:nvPicPr>
          <p:cNvPr id="6" name="Picture 5" descr="A group of blue boxes with black text&#10;&#10;AI-generated content may be incorrect.">
            <a:extLst>
              <a:ext uri="{FF2B5EF4-FFF2-40B4-BE49-F238E27FC236}">
                <a16:creationId xmlns:a16="http://schemas.microsoft.com/office/drawing/2014/main" id="{53AC80E6-F365-90B9-DD49-97626DC9E82B}"/>
              </a:ext>
            </a:extLst>
          </p:cNvPr>
          <p:cNvPicPr>
            <a:picLocks noChangeAspect="1"/>
          </p:cNvPicPr>
          <p:nvPr/>
        </p:nvPicPr>
        <p:blipFill>
          <a:blip r:embed="rId5"/>
          <a:stretch>
            <a:fillRect/>
          </a:stretch>
        </p:blipFill>
        <p:spPr>
          <a:xfrm>
            <a:off x="297197" y="2514600"/>
            <a:ext cx="3508283" cy="4343400"/>
          </a:xfrm>
          <a:prstGeom prst="rect">
            <a:avLst/>
          </a:prstGeom>
        </p:spPr>
      </p:pic>
      <p:pic>
        <p:nvPicPr>
          <p:cNvPr id="7" name="Picture 6" descr="A group of green boxes with white text&#10;&#10;AI-generated content may be incorrect.">
            <a:extLst>
              <a:ext uri="{FF2B5EF4-FFF2-40B4-BE49-F238E27FC236}">
                <a16:creationId xmlns:a16="http://schemas.microsoft.com/office/drawing/2014/main" id="{9E69047C-39CB-720E-C97F-B31B480E23FE}"/>
              </a:ext>
            </a:extLst>
          </p:cNvPr>
          <p:cNvPicPr>
            <a:picLocks noChangeAspect="1"/>
          </p:cNvPicPr>
          <p:nvPr/>
        </p:nvPicPr>
        <p:blipFill>
          <a:blip r:embed="rId6"/>
          <a:stretch>
            <a:fillRect/>
          </a:stretch>
        </p:blipFill>
        <p:spPr>
          <a:xfrm>
            <a:off x="8512525" y="2514600"/>
            <a:ext cx="3508283" cy="4343400"/>
          </a:xfrm>
          <a:prstGeom prst="rect">
            <a:avLst/>
          </a:prstGeom>
        </p:spPr>
      </p:pic>
      <p:sp>
        <p:nvSpPr>
          <p:cNvPr id="8" name="Title 1">
            <a:extLst>
              <a:ext uri="{FF2B5EF4-FFF2-40B4-BE49-F238E27FC236}">
                <a16:creationId xmlns:a16="http://schemas.microsoft.com/office/drawing/2014/main" id="{F2877B47-29AA-52FB-8162-69C28FFEE51E}"/>
              </a:ext>
            </a:extLst>
          </p:cNvPr>
          <p:cNvSpPr>
            <a:spLocks noGrp="1"/>
          </p:cNvSpPr>
          <p:nvPr>
            <p:ph type="title"/>
          </p:nvPr>
        </p:nvSpPr>
        <p:spPr>
          <a:xfrm>
            <a:off x="21113" y="21076"/>
            <a:ext cx="5583820" cy="1241365"/>
          </a:xfrm>
        </p:spPr>
        <p:txBody>
          <a:bodyPr>
            <a:normAutofit fontScale="90000"/>
          </a:bodyPr>
          <a:lstStyle/>
          <a:p>
            <a:r>
              <a:rPr lang="en-US" dirty="0"/>
              <a:t>fMRI regions mediating flexibility (N=45)</a:t>
            </a:r>
          </a:p>
        </p:txBody>
      </p:sp>
      <p:sp>
        <p:nvSpPr>
          <p:cNvPr id="9" name="TextBox 8">
            <a:extLst>
              <a:ext uri="{FF2B5EF4-FFF2-40B4-BE49-F238E27FC236}">
                <a16:creationId xmlns:a16="http://schemas.microsoft.com/office/drawing/2014/main" id="{CEFD5F6D-8DBE-0C7B-3D5B-309A6E39D66D}"/>
              </a:ext>
            </a:extLst>
          </p:cNvPr>
          <p:cNvSpPr txBox="1"/>
          <p:nvPr/>
        </p:nvSpPr>
        <p:spPr>
          <a:xfrm>
            <a:off x="21113" y="1262441"/>
            <a:ext cx="5077420" cy="830997"/>
          </a:xfrm>
          <a:prstGeom prst="rect">
            <a:avLst/>
          </a:prstGeom>
          <a:noFill/>
        </p:spPr>
        <p:txBody>
          <a:bodyPr wrap="square" rtlCol="0">
            <a:spAutoFit/>
          </a:bodyPr>
          <a:lstStyle/>
          <a:p>
            <a:r>
              <a:rPr lang="en-US" sz="2400" dirty="0"/>
              <a:t>Switch Cost = </a:t>
            </a:r>
            <a:r>
              <a:rPr lang="en-US" sz="2400" dirty="0" err="1"/>
              <a:t>Z</a:t>
            </a:r>
            <a:r>
              <a:rPr lang="en-US" sz="2400" baseline="-25000" dirty="0" err="1"/>
              <a:t>switch</a:t>
            </a:r>
            <a:r>
              <a:rPr lang="en-US" sz="2400" baseline="-25000" dirty="0"/>
              <a:t> </a:t>
            </a:r>
            <a:r>
              <a:rPr lang="en-US" sz="2400" dirty="0"/>
              <a:t>– </a:t>
            </a:r>
            <a:r>
              <a:rPr lang="en-US" sz="2400" dirty="0" err="1"/>
              <a:t>Z</a:t>
            </a:r>
            <a:r>
              <a:rPr lang="en-US" sz="2400" baseline="-25000" dirty="0" err="1"/>
              <a:t>repeat</a:t>
            </a:r>
            <a:endParaRPr lang="en-US" sz="2400" baseline="-25000" dirty="0"/>
          </a:p>
          <a:p>
            <a:r>
              <a:rPr lang="en-US" sz="2400" dirty="0"/>
              <a:t>Congruency Effect = Z</a:t>
            </a:r>
            <a:r>
              <a:rPr lang="en-US" sz="2400" baseline="-25000" dirty="0"/>
              <a:t>inc </a:t>
            </a:r>
            <a:r>
              <a:rPr lang="en-US" sz="2400" dirty="0"/>
              <a:t>– </a:t>
            </a:r>
            <a:r>
              <a:rPr lang="en-US" sz="2400" dirty="0" err="1"/>
              <a:t>Z</a:t>
            </a:r>
            <a:r>
              <a:rPr lang="en-US" sz="2400" baseline="-25000" dirty="0" err="1"/>
              <a:t>con</a:t>
            </a:r>
            <a:endParaRPr lang="en-US" sz="2400" dirty="0"/>
          </a:p>
        </p:txBody>
      </p:sp>
    </p:spTree>
    <p:extLst>
      <p:ext uri="{BB962C8B-B14F-4D97-AF65-F5344CB8AC3E}">
        <p14:creationId xmlns:p14="http://schemas.microsoft.com/office/powerpoint/2010/main" val="1873956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72E9C-0F45-F0BD-B769-5A1B90699F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074726-4C70-6782-917B-DE7AF56A6CC0}"/>
              </a:ext>
            </a:extLst>
          </p:cNvPr>
          <p:cNvSpPr>
            <a:spLocks noGrp="1"/>
          </p:cNvSpPr>
          <p:nvPr>
            <p:ph type="title"/>
          </p:nvPr>
        </p:nvSpPr>
        <p:spPr/>
        <p:txBody>
          <a:bodyPr/>
          <a:lstStyle/>
          <a:p>
            <a:r>
              <a:rPr lang="en-US" dirty="0"/>
              <a:t>fMRI Next Steps</a:t>
            </a:r>
          </a:p>
        </p:txBody>
      </p:sp>
      <p:sp>
        <p:nvSpPr>
          <p:cNvPr id="3" name="Content Placeholder 2">
            <a:extLst>
              <a:ext uri="{FF2B5EF4-FFF2-40B4-BE49-F238E27FC236}">
                <a16:creationId xmlns:a16="http://schemas.microsoft.com/office/drawing/2014/main" id="{0B1EA0A6-9A2E-D682-A1B8-8145E8C27006}"/>
              </a:ext>
            </a:extLst>
          </p:cNvPr>
          <p:cNvSpPr>
            <a:spLocks noGrp="1"/>
          </p:cNvSpPr>
          <p:nvPr>
            <p:ph idx="1"/>
          </p:nvPr>
        </p:nvSpPr>
        <p:spPr/>
        <p:txBody>
          <a:bodyPr/>
          <a:lstStyle/>
          <a:p>
            <a:r>
              <a:rPr lang="en-US" dirty="0"/>
              <a:t>decoding</a:t>
            </a:r>
          </a:p>
        </p:txBody>
      </p:sp>
    </p:spTree>
    <p:extLst>
      <p:ext uri="{BB962C8B-B14F-4D97-AF65-F5344CB8AC3E}">
        <p14:creationId xmlns:p14="http://schemas.microsoft.com/office/powerpoint/2010/main" val="42648957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5746EB-9412-2482-4729-CB00545BBDD4}"/>
              </a:ext>
            </a:extLst>
          </p:cNvPr>
          <p:cNvSpPr>
            <a:spLocks noGrp="1"/>
          </p:cNvSpPr>
          <p:nvPr>
            <p:ph type="title"/>
          </p:nvPr>
        </p:nvSpPr>
        <p:spPr>
          <a:xfrm>
            <a:off x="0" y="47927"/>
            <a:ext cx="10515600" cy="1325563"/>
          </a:xfrm>
        </p:spPr>
        <p:txBody>
          <a:bodyPr/>
          <a:lstStyle/>
          <a:p>
            <a:r>
              <a:rPr lang="en-US" dirty="0" err="1"/>
              <a:t>iEEG</a:t>
            </a:r>
            <a:r>
              <a:rPr lang="en-US" dirty="0"/>
              <a:t> (N=14)</a:t>
            </a:r>
          </a:p>
        </p:txBody>
      </p:sp>
      <p:sp>
        <p:nvSpPr>
          <p:cNvPr id="25" name="TextBox 24">
            <a:extLst>
              <a:ext uri="{FF2B5EF4-FFF2-40B4-BE49-F238E27FC236}">
                <a16:creationId xmlns:a16="http://schemas.microsoft.com/office/drawing/2014/main" id="{1A58FFFC-01FE-5367-6EB8-E06D2A437009}"/>
              </a:ext>
            </a:extLst>
          </p:cNvPr>
          <p:cNvSpPr txBox="1"/>
          <p:nvPr/>
        </p:nvSpPr>
        <p:spPr>
          <a:xfrm>
            <a:off x="0" y="1373490"/>
            <a:ext cx="5478679" cy="1405513"/>
          </a:xfrm>
          <a:prstGeom prst="rect">
            <a:avLst/>
          </a:prstGeom>
          <a:noFill/>
        </p:spPr>
        <p:txBody>
          <a:bodyPr wrap="none" rtlCol="0">
            <a:spAutoFit/>
          </a:bodyPr>
          <a:lstStyle/>
          <a:p>
            <a:r>
              <a:rPr lang="en-US" sz="3200" dirty="0"/>
              <a:t>Switch Cost = </a:t>
            </a:r>
            <a:r>
              <a:rPr lang="en-US" sz="3200" dirty="0" err="1"/>
              <a:t>RT</a:t>
            </a:r>
            <a:r>
              <a:rPr lang="en-US" sz="3200" baseline="-25000" dirty="0" err="1"/>
              <a:t>switch</a:t>
            </a:r>
            <a:r>
              <a:rPr lang="en-US" sz="3200" baseline="-25000" dirty="0"/>
              <a:t> </a:t>
            </a:r>
            <a:r>
              <a:rPr lang="en-US" sz="3200" dirty="0"/>
              <a:t>– </a:t>
            </a:r>
            <a:r>
              <a:rPr lang="en-US" sz="3200" dirty="0" err="1"/>
              <a:t>RT</a:t>
            </a:r>
            <a:r>
              <a:rPr lang="en-US" sz="3200" baseline="-25000" dirty="0" err="1"/>
              <a:t>repeat</a:t>
            </a:r>
            <a:endParaRPr lang="en-US" sz="3200" baseline="-25000" dirty="0"/>
          </a:p>
          <a:p>
            <a:endParaRPr lang="en-US" sz="3200" baseline="-25000" dirty="0"/>
          </a:p>
          <a:p>
            <a:r>
              <a:rPr lang="en-US" sz="3200" dirty="0"/>
              <a:t>Congruency Effect = </a:t>
            </a:r>
            <a:r>
              <a:rPr lang="en-US" sz="3200" dirty="0" err="1"/>
              <a:t>RT</a:t>
            </a:r>
            <a:r>
              <a:rPr lang="en-US" sz="3200" baseline="-25000" dirty="0" err="1"/>
              <a:t>inc</a:t>
            </a:r>
            <a:r>
              <a:rPr lang="en-US" sz="3200" baseline="-25000" dirty="0"/>
              <a:t> </a:t>
            </a:r>
            <a:r>
              <a:rPr lang="en-US" sz="3200" dirty="0"/>
              <a:t>– </a:t>
            </a:r>
            <a:r>
              <a:rPr lang="en-US" sz="3200" dirty="0" err="1"/>
              <a:t>RT</a:t>
            </a:r>
            <a:r>
              <a:rPr lang="en-US" sz="3200" baseline="-25000" dirty="0" err="1"/>
              <a:t>con</a:t>
            </a:r>
            <a:endParaRPr lang="en-US" sz="3200" dirty="0"/>
          </a:p>
        </p:txBody>
      </p:sp>
      <p:pic>
        <p:nvPicPr>
          <p:cNvPr id="2" name="Picture 1" descr="A group of graph of different sizes&#10;&#10;AI-generated content may be incorrect.">
            <a:extLst>
              <a:ext uri="{FF2B5EF4-FFF2-40B4-BE49-F238E27FC236}">
                <a16:creationId xmlns:a16="http://schemas.microsoft.com/office/drawing/2014/main" id="{3F4A0185-3FF4-2F8F-0EB5-C3D1172E290B}"/>
              </a:ext>
            </a:extLst>
          </p:cNvPr>
          <p:cNvPicPr>
            <a:picLocks noChangeAspect="1"/>
          </p:cNvPicPr>
          <p:nvPr/>
        </p:nvPicPr>
        <p:blipFill>
          <a:blip r:embed="rId3"/>
          <a:stretch>
            <a:fillRect/>
          </a:stretch>
        </p:blipFill>
        <p:spPr>
          <a:xfrm>
            <a:off x="6713323" y="228599"/>
            <a:ext cx="5170109" cy="6400800"/>
          </a:xfrm>
          <a:prstGeom prst="rect">
            <a:avLst/>
          </a:prstGeom>
        </p:spPr>
      </p:pic>
      <p:sp>
        <p:nvSpPr>
          <p:cNvPr id="3" name="TextBox 2">
            <a:extLst>
              <a:ext uri="{FF2B5EF4-FFF2-40B4-BE49-F238E27FC236}">
                <a16:creationId xmlns:a16="http://schemas.microsoft.com/office/drawing/2014/main" id="{5DE65DDA-3586-5FB5-1E58-AA3FD4120034}"/>
              </a:ext>
            </a:extLst>
          </p:cNvPr>
          <p:cNvSpPr txBox="1"/>
          <p:nvPr/>
        </p:nvSpPr>
        <p:spPr>
          <a:xfrm>
            <a:off x="1" y="3035250"/>
            <a:ext cx="5170110" cy="3970318"/>
          </a:xfrm>
          <a:prstGeom prst="rect">
            <a:avLst/>
          </a:prstGeom>
          <a:noFill/>
        </p:spPr>
        <p:txBody>
          <a:bodyPr wrap="square" rtlCol="0">
            <a:spAutoFit/>
          </a:bodyPr>
          <a:lstStyle/>
          <a:p>
            <a:r>
              <a:rPr lang="en-US" sz="2800" dirty="0"/>
              <a:t>Hypothesis: Incongruent proportion affects the size of congruency effect but not switch cost</a:t>
            </a:r>
          </a:p>
          <a:p>
            <a:endParaRPr lang="en-US" sz="2800" dirty="0"/>
          </a:p>
          <a:p>
            <a:r>
              <a:rPr lang="en-US" sz="2800" dirty="0"/>
              <a:t>Hypothesis: Switch proportion affects the size of switch cost but not congruency effect</a:t>
            </a:r>
          </a:p>
          <a:p>
            <a:endParaRPr lang="en-US" sz="2800" dirty="0"/>
          </a:p>
        </p:txBody>
      </p:sp>
    </p:spTree>
    <p:extLst>
      <p:ext uri="{BB962C8B-B14F-4D97-AF65-F5344CB8AC3E}">
        <p14:creationId xmlns:p14="http://schemas.microsoft.com/office/powerpoint/2010/main" val="573276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brain with colorful dots and lines&#10;&#10;Description automatically generated">
            <a:extLst>
              <a:ext uri="{FF2B5EF4-FFF2-40B4-BE49-F238E27FC236}">
                <a16:creationId xmlns:a16="http://schemas.microsoft.com/office/drawing/2014/main" id="{54265C32-A8AC-703F-0AB8-9A22AC5C641D}"/>
              </a:ext>
            </a:extLst>
          </p:cNvPr>
          <p:cNvPicPr>
            <a:picLocks noChangeAspect="1"/>
          </p:cNvPicPr>
          <p:nvPr/>
        </p:nvPicPr>
        <p:blipFill rotWithShape="1">
          <a:blip r:embed="rId3"/>
          <a:srcRect l="28134" t="7868" r="21568" b="16379"/>
          <a:stretch/>
        </p:blipFill>
        <p:spPr>
          <a:xfrm>
            <a:off x="996595" y="4684325"/>
            <a:ext cx="2752486" cy="2077049"/>
          </a:xfrm>
          <a:prstGeom prst="rect">
            <a:avLst/>
          </a:prstGeom>
        </p:spPr>
      </p:pic>
      <p:pic>
        <p:nvPicPr>
          <p:cNvPr id="12" name="Content Placeholder 4" descr="A close-up of a brain&#10;&#10;AI-generated content may be incorrect.">
            <a:extLst>
              <a:ext uri="{FF2B5EF4-FFF2-40B4-BE49-F238E27FC236}">
                <a16:creationId xmlns:a16="http://schemas.microsoft.com/office/drawing/2014/main" id="{8217216D-BDB2-351D-C6B5-7382717B9E45}"/>
              </a:ext>
            </a:extLst>
          </p:cNvPr>
          <p:cNvPicPr>
            <a:picLocks noGrp="1" noChangeAspect="1"/>
          </p:cNvPicPr>
          <p:nvPr>
            <p:ph idx="1"/>
          </p:nvPr>
        </p:nvPicPr>
        <p:blipFill>
          <a:blip r:embed="rId4"/>
          <a:srcRect l="51085"/>
          <a:stretch/>
        </p:blipFill>
        <p:spPr>
          <a:xfrm>
            <a:off x="837669" y="1927163"/>
            <a:ext cx="2996254" cy="2263565"/>
          </a:xfrm>
        </p:spPr>
      </p:pic>
      <p:sp>
        <p:nvSpPr>
          <p:cNvPr id="13" name="TextBox 12">
            <a:extLst>
              <a:ext uri="{FF2B5EF4-FFF2-40B4-BE49-F238E27FC236}">
                <a16:creationId xmlns:a16="http://schemas.microsoft.com/office/drawing/2014/main" id="{7F4E9726-2A6D-DFCD-7822-4324EEEAF841}"/>
              </a:ext>
            </a:extLst>
          </p:cNvPr>
          <p:cNvSpPr txBox="1"/>
          <p:nvPr/>
        </p:nvSpPr>
        <p:spPr>
          <a:xfrm>
            <a:off x="1142855" y="4149279"/>
            <a:ext cx="2606226" cy="369332"/>
          </a:xfrm>
          <a:prstGeom prst="rect">
            <a:avLst/>
          </a:prstGeom>
          <a:noFill/>
        </p:spPr>
        <p:txBody>
          <a:bodyPr wrap="none" rtlCol="0">
            <a:spAutoFit/>
          </a:bodyPr>
          <a:lstStyle/>
          <a:p>
            <a:r>
              <a:rPr lang="en-US" dirty="0"/>
              <a:t>Parvizi and Kastner 2018</a:t>
            </a:r>
          </a:p>
        </p:txBody>
      </p:sp>
      <p:sp>
        <p:nvSpPr>
          <p:cNvPr id="15" name="Title 14">
            <a:extLst>
              <a:ext uri="{FF2B5EF4-FFF2-40B4-BE49-F238E27FC236}">
                <a16:creationId xmlns:a16="http://schemas.microsoft.com/office/drawing/2014/main" id="{9ED0C08F-11BD-8CD5-3BBF-C5BD6BF13093}"/>
              </a:ext>
            </a:extLst>
          </p:cNvPr>
          <p:cNvSpPr>
            <a:spLocks noGrp="1"/>
          </p:cNvSpPr>
          <p:nvPr>
            <p:ph type="title"/>
          </p:nvPr>
        </p:nvSpPr>
        <p:spPr/>
        <p:txBody>
          <a:bodyPr/>
          <a:lstStyle/>
          <a:p>
            <a:r>
              <a:rPr lang="en-US" dirty="0"/>
              <a:t>Stereo EEG and High Gamma Power</a:t>
            </a:r>
          </a:p>
        </p:txBody>
      </p:sp>
    </p:spTree>
    <p:extLst>
      <p:ext uri="{BB962C8B-B14F-4D97-AF65-F5344CB8AC3E}">
        <p14:creationId xmlns:p14="http://schemas.microsoft.com/office/powerpoint/2010/main" val="2078572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E5FA3-FC2B-626B-5929-9F13A698F86E}"/>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7884A6BE-C63C-05D2-56CF-AA9DD4086EBF}"/>
              </a:ext>
            </a:extLst>
          </p:cNvPr>
          <p:cNvGrpSpPr/>
          <p:nvPr/>
        </p:nvGrpSpPr>
        <p:grpSpPr>
          <a:xfrm>
            <a:off x="5218847" y="2018571"/>
            <a:ext cx="6624051" cy="4474304"/>
            <a:chOff x="9170063" y="24708137"/>
            <a:chExt cx="6624051" cy="4474304"/>
          </a:xfrm>
        </p:grpSpPr>
        <p:grpSp>
          <p:nvGrpSpPr>
            <p:cNvPr id="5" name="Group 4">
              <a:extLst>
                <a:ext uri="{FF2B5EF4-FFF2-40B4-BE49-F238E27FC236}">
                  <a16:creationId xmlns:a16="http://schemas.microsoft.com/office/drawing/2014/main" id="{2EAF1393-B29D-B28E-D532-E585E706F26D}"/>
                </a:ext>
              </a:extLst>
            </p:cNvPr>
            <p:cNvGrpSpPr/>
            <p:nvPr/>
          </p:nvGrpSpPr>
          <p:grpSpPr>
            <a:xfrm>
              <a:off x="9170063" y="24934268"/>
              <a:ext cx="6624051" cy="4248173"/>
              <a:chOff x="9170063" y="25020237"/>
              <a:chExt cx="6624051" cy="4248173"/>
            </a:xfrm>
          </p:grpSpPr>
          <p:sp>
            <p:nvSpPr>
              <p:cNvPr id="7" name="TextBox 6">
                <a:extLst>
                  <a:ext uri="{FF2B5EF4-FFF2-40B4-BE49-F238E27FC236}">
                    <a16:creationId xmlns:a16="http://schemas.microsoft.com/office/drawing/2014/main" id="{27CDA3EF-3A58-EFF6-549C-1F1075679547}"/>
                  </a:ext>
                </a:extLst>
              </p:cNvPr>
              <p:cNvSpPr txBox="1"/>
              <p:nvPr/>
            </p:nvSpPr>
            <p:spPr>
              <a:xfrm rot="16200000">
                <a:off x="8118461" y="26429244"/>
                <a:ext cx="2687980" cy="584775"/>
              </a:xfrm>
              <a:prstGeom prst="rect">
                <a:avLst/>
              </a:prstGeom>
              <a:noFill/>
            </p:spPr>
            <p:txBody>
              <a:bodyPr wrap="none" rtlCol="0">
                <a:spAutoFit/>
              </a:bodyPr>
              <a:lstStyle/>
              <a:p>
                <a:r>
                  <a:rPr lang="en-US" sz="3200" dirty="0">
                    <a:latin typeface="Calibri" panose="020F0502020204030204" pitchFamily="34" charset="0"/>
                    <a:cs typeface="Calibri" panose="020F0502020204030204" pitchFamily="34" charset="0"/>
                  </a:rPr>
                  <a:t>Frequency (Hz)</a:t>
                </a:r>
              </a:p>
            </p:txBody>
          </p:sp>
          <p:sp>
            <p:nvSpPr>
              <p:cNvPr id="8" name="TextBox 7">
                <a:extLst>
                  <a:ext uri="{FF2B5EF4-FFF2-40B4-BE49-F238E27FC236}">
                    <a16:creationId xmlns:a16="http://schemas.microsoft.com/office/drawing/2014/main" id="{9089F822-C4B2-6B89-362A-BEDB31372518}"/>
                  </a:ext>
                </a:extLst>
              </p:cNvPr>
              <p:cNvSpPr txBox="1"/>
              <p:nvPr/>
            </p:nvSpPr>
            <p:spPr>
              <a:xfrm>
                <a:off x="9991686" y="28683635"/>
                <a:ext cx="5026569" cy="584775"/>
              </a:xfrm>
              <a:prstGeom prst="rect">
                <a:avLst/>
              </a:prstGeom>
              <a:noFill/>
            </p:spPr>
            <p:txBody>
              <a:bodyPr wrap="none" rtlCol="0">
                <a:spAutoFit/>
              </a:bodyPr>
              <a:lstStyle/>
              <a:p>
                <a:r>
                  <a:rPr lang="en-US" sz="3200" dirty="0">
                    <a:latin typeface="Calibri" panose="020F0502020204030204" pitchFamily="34" charset="0"/>
                    <a:cs typeface="Calibri" panose="020F0502020204030204" pitchFamily="34" charset="0"/>
                  </a:rPr>
                  <a:t>Time from Stimulus Onset (s)</a:t>
                </a:r>
              </a:p>
            </p:txBody>
          </p:sp>
          <p:sp>
            <p:nvSpPr>
              <p:cNvPr id="9" name="TextBox 8">
                <a:extLst>
                  <a:ext uri="{FF2B5EF4-FFF2-40B4-BE49-F238E27FC236}">
                    <a16:creationId xmlns:a16="http://schemas.microsoft.com/office/drawing/2014/main" id="{FD59EDF3-4F3C-3BA5-2E62-DF669A4F5B18}"/>
                  </a:ext>
                </a:extLst>
              </p:cNvPr>
              <p:cNvSpPr txBox="1"/>
              <p:nvPr/>
            </p:nvSpPr>
            <p:spPr>
              <a:xfrm rot="16200000">
                <a:off x="13948256" y="26219764"/>
                <a:ext cx="3045385" cy="646331"/>
              </a:xfrm>
              <a:prstGeom prst="rect">
                <a:avLst/>
              </a:prstGeom>
              <a:noFill/>
            </p:spPr>
            <p:txBody>
              <a:bodyPr wrap="none" rtlCol="0">
                <a:spAutoFit/>
              </a:bodyPr>
              <a:lstStyle/>
              <a:p>
                <a:r>
                  <a:rPr lang="en-US" sz="3600" dirty="0">
                    <a:latin typeface="Calibri" panose="020F0502020204030204" pitchFamily="34" charset="0"/>
                    <a:cs typeface="Calibri" panose="020F0502020204030204" pitchFamily="34" charset="0"/>
                  </a:rPr>
                  <a:t>Log-Power (dB)</a:t>
                </a:r>
              </a:p>
            </p:txBody>
          </p:sp>
        </p:grpSp>
        <p:pic>
          <p:nvPicPr>
            <p:cNvPr id="6" name="Picture 5" descr="A close-up of a graph&#10;&#10;Description automatically generated">
              <a:extLst>
                <a:ext uri="{FF2B5EF4-FFF2-40B4-BE49-F238E27FC236}">
                  <a16:creationId xmlns:a16="http://schemas.microsoft.com/office/drawing/2014/main" id="{FB36F3A2-EA19-39E3-F94A-7C8E95A991CA}"/>
                </a:ext>
              </a:extLst>
            </p:cNvPr>
            <p:cNvPicPr>
              <a:picLocks noChangeAspect="1"/>
            </p:cNvPicPr>
            <p:nvPr/>
          </p:nvPicPr>
          <p:blipFill>
            <a:blip r:embed="rId3"/>
            <a:stretch>
              <a:fillRect/>
            </a:stretch>
          </p:blipFill>
          <p:spPr>
            <a:xfrm>
              <a:off x="9828401" y="24708137"/>
              <a:ext cx="5245819" cy="3889529"/>
            </a:xfrm>
            <a:prstGeom prst="rect">
              <a:avLst/>
            </a:prstGeom>
          </p:spPr>
        </p:pic>
      </p:grpSp>
      <p:pic>
        <p:nvPicPr>
          <p:cNvPr id="11" name="Picture 10" descr="A brain with colorful dots and lines&#10;&#10;Description automatically generated">
            <a:extLst>
              <a:ext uri="{FF2B5EF4-FFF2-40B4-BE49-F238E27FC236}">
                <a16:creationId xmlns:a16="http://schemas.microsoft.com/office/drawing/2014/main" id="{A5FAF45F-946C-A241-C195-B1B5D456B820}"/>
              </a:ext>
            </a:extLst>
          </p:cNvPr>
          <p:cNvPicPr>
            <a:picLocks noChangeAspect="1"/>
          </p:cNvPicPr>
          <p:nvPr/>
        </p:nvPicPr>
        <p:blipFill rotWithShape="1">
          <a:blip r:embed="rId4"/>
          <a:srcRect l="28134" t="7868" r="21568" b="16379"/>
          <a:stretch/>
        </p:blipFill>
        <p:spPr>
          <a:xfrm>
            <a:off x="996595" y="4684325"/>
            <a:ext cx="2752486" cy="2077049"/>
          </a:xfrm>
          <a:prstGeom prst="rect">
            <a:avLst/>
          </a:prstGeom>
        </p:spPr>
      </p:pic>
      <p:pic>
        <p:nvPicPr>
          <p:cNvPr id="12" name="Content Placeholder 4" descr="A close-up of a brain&#10;&#10;AI-generated content may be incorrect.">
            <a:extLst>
              <a:ext uri="{FF2B5EF4-FFF2-40B4-BE49-F238E27FC236}">
                <a16:creationId xmlns:a16="http://schemas.microsoft.com/office/drawing/2014/main" id="{2DA3993C-2A04-06BD-1429-7154ED8E0AB0}"/>
              </a:ext>
            </a:extLst>
          </p:cNvPr>
          <p:cNvPicPr>
            <a:picLocks noGrp="1" noChangeAspect="1"/>
          </p:cNvPicPr>
          <p:nvPr>
            <p:ph idx="1"/>
          </p:nvPr>
        </p:nvPicPr>
        <p:blipFill>
          <a:blip r:embed="rId5"/>
          <a:srcRect l="51085"/>
          <a:stretch/>
        </p:blipFill>
        <p:spPr>
          <a:xfrm>
            <a:off x="837669" y="1927163"/>
            <a:ext cx="2996254" cy="2263565"/>
          </a:xfrm>
        </p:spPr>
      </p:pic>
      <p:sp>
        <p:nvSpPr>
          <p:cNvPr id="13" name="TextBox 12">
            <a:extLst>
              <a:ext uri="{FF2B5EF4-FFF2-40B4-BE49-F238E27FC236}">
                <a16:creationId xmlns:a16="http://schemas.microsoft.com/office/drawing/2014/main" id="{71C03604-ED90-A78F-B69C-B2039DAB7FE3}"/>
              </a:ext>
            </a:extLst>
          </p:cNvPr>
          <p:cNvSpPr txBox="1"/>
          <p:nvPr/>
        </p:nvSpPr>
        <p:spPr>
          <a:xfrm>
            <a:off x="1142855" y="4149279"/>
            <a:ext cx="2606226" cy="369332"/>
          </a:xfrm>
          <a:prstGeom prst="rect">
            <a:avLst/>
          </a:prstGeom>
          <a:noFill/>
        </p:spPr>
        <p:txBody>
          <a:bodyPr wrap="none" rtlCol="0">
            <a:spAutoFit/>
          </a:bodyPr>
          <a:lstStyle/>
          <a:p>
            <a:r>
              <a:rPr lang="en-US" dirty="0"/>
              <a:t>Parvizi and Kastner 2018</a:t>
            </a:r>
          </a:p>
        </p:txBody>
      </p:sp>
      <p:sp>
        <p:nvSpPr>
          <p:cNvPr id="15" name="Title 14">
            <a:extLst>
              <a:ext uri="{FF2B5EF4-FFF2-40B4-BE49-F238E27FC236}">
                <a16:creationId xmlns:a16="http://schemas.microsoft.com/office/drawing/2014/main" id="{4F73E1C7-2B94-DA37-5B12-F54D9680EF2C}"/>
              </a:ext>
            </a:extLst>
          </p:cNvPr>
          <p:cNvSpPr>
            <a:spLocks noGrp="1"/>
          </p:cNvSpPr>
          <p:nvPr>
            <p:ph type="title"/>
          </p:nvPr>
        </p:nvSpPr>
        <p:spPr/>
        <p:txBody>
          <a:bodyPr/>
          <a:lstStyle/>
          <a:p>
            <a:r>
              <a:rPr lang="en-US" dirty="0"/>
              <a:t>Stereo EEG and High Gamma Power</a:t>
            </a:r>
          </a:p>
        </p:txBody>
      </p:sp>
    </p:spTree>
    <p:extLst>
      <p:ext uri="{BB962C8B-B14F-4D97-AF65-F5344CB8AC3E}">
        <p14:creationId xmlns:p14="http://schemas.microsoft.com/office/powerpoint/2010/main" val="42237924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1998B21-12B5-524D-F4A4-9236056E839F}"/>
              </a:ext>
            </a:extLst>
          </p:cNvPr>
          <p:cNvGrpSpPr/>
          <p:nvPr/>
        </p:nvGrpSpPr>
        <p:grpSpPr>
          <a:xfrm>
            <a:off x="0" y="65882"/>
            <a:ext cx="11829358" cy="6792118"/>
            <a:chOff x="12397896" y="13281806"/>
            <a:chExt cx="11829358" cy="6792118"/>
          </a:xfrm>
        </p:grpSpPr>
        <p:pic>
          <p:nvPicPr>
            <p:cNvPr id="12" name="Picture 11" descr="A grey brain with red and blue dots&#10;&#10;Description automatically generated">
              <a:extLst>
                <a:ext uri="{FF2B5EF4-FFF2-40B4-BE49-F238E27FC236}">
                  <a16:creationId xmlns:a16="http://schemas.microsoft.com/office/drawing/2014/main" id="{26722213-58C9-C923-19D1-349750423C76}"/>
                </a:ext>
              </a:extLst>
            </p:cNvPr>
            <p:cNvPicPr>
              <a:picLocks noChangeAspect="1"/>
            </p:cNvPicPr>
            <p:nvPr/>
          </p:nvPicPr>
          <p:blipFill>
            <a:blip r:embed="rId3"/>
            <a:stretch>
              <a:fillRect/>
            </a:stretch>
          </p:blipFill>
          <p:spPr>
            <a:xfrm>
              <a:off x="20753722" y="17330724"/>
              <a:ext cx="3473532" cy="2743200"/>
            </a:xfrm>
            <a:prstGeom prst="rect">
              <a:avLst/>
            </a:prstGeom>
          </p:spPr>
        </p:pic>
        <p:grpSp>
          <p:nvGrpSpPr>
            <p:cNvPr id="13" name="Group 12">
              <a:extLst>
                <a:ext uri="{FF2B5EF4-FFF2-40B4-BE49-F238E27FC236}">
                  <a16:creationId xmlns:a16="http://schemas.microsoft.com/office/drawing/2014/main" id="{AE8B302F-F3F1-C0F2-6010-9843BCCEA09F}"/>
                </a:ext>
              </a:extLst>
            </p:cNvPr>
            <p:cNvGrpSpPr/>
            <p:nvPr/>
          </p:nvGrpSpPr>
          <p:grpSpPr>
            <a:xfrm>
              <a:off x="12397896" y="13281806"/>
              <a:ext cx="11824027" cy="6792118"/>
              <a:chOff x="12397896" y="13281806"/>
              <a:chExt cx="11824027" cy="6792118"/>
            </a:xfrm>
          </p:grpSpPr>
          <p:pic>
            <p:nvPicPr>
              <p:cNvPr id="14" name="Picture 13" descr="A red and blue circles with black text&#10;&#10;Description automatically generated">
                <a:extLst>
                  <a:ext uri="{FF2B5EF4-FFF2-40B4-BE49-F238E27FC236}">
                    <a16:creationId xmlns:a16="http://schemas.microsoft.com/office/drawing/2014/main" id="{FF311373-42F7-3930-8963-AFEA94D86B3F}"/>
                  </a:ext>
                </a:extLst>
              </p:cNvPr>
              <p:cNvPicPr>
                <a:picLocks noChangeAspect="1"/>
              </p:cNvPicPr>
              <p:nvPr/>
            </p:nvPicPr>
            <p:blipFill rotWithShape="1">
              <a:blip r:embed="rId4"/>
              <a:srcRect t="37255" b="39503"/>
              <a:stretch/>
            </p:blipFill>
            <p:spPr>
              <a:xfrm>
                <a:off x="12397896" y="13281806"/>
                <a:ext cx="11824027" cy="1043349"/>
              </a:xfrm>
              <a:prstGeom prst="rect">
                <a:avLst/>
              </a:prstGeom>
            </p:spPr>
          </p:pic>
          <p:pic>
            <p:nvPicPr>
              <p:cNvPr id="15" name="Picture 14" descr="A grey and green brain&#10;&#10;Description automatically generated">
                <a:extLst>
                  <a:ext uri="{FF2B5EF4-FFF2-40B4-BE49-F238E27FC236}">
                    <a16:creationId xmlns:a16="http://schemas.microsoft.com/office/drawing/2014/main" id="{C7A9E42F-FB36-28C8-BF79-154AACD504CC}"/>
                  </a:ext>
                </a:extLst>
              </p:cNvPr>
              <p:cNvPicPr>
                <a:picLocks noChangeAspect="1"/>
              </p:cNvPicPr>
              <p:nvPr/>
            </p:nvPicPr>
            <p:blipFill>
              <a:blip r:embed="rId5"/>
              <a:stretch>
                <a:fillRect/>
              </a:stretch>
            </p:blipFill>
            <p:spPr>
              <a:xfrm>
                <a:off x="12942847" y="17242058"/>
                <a:ext cx="3437792" cy="2743200"/>
              </a:xfrm>
              <a:prstGeom prst="rect">
                <a:avLst/>
              </a:prstGeom>
            </p:spPr>
          </p:pic>
          <p:pic>
            <p:nvPicPr>
              <p:cNvPr id="16" name="Picture 15" descr="A grey and green brain&#10;&#10;Description automatically generated">
                <a:extLst>
                  <a:ext uri="{FF2B5EF4-FFF2-40B4-BE49-F238E27FC236}">
                    <a16:creationId xmlns:a16="http://schemas.microsoft.com/office/drawing/2014/main" id="{9CBC2D60-0ACB-195F-7ED8-5C28E0B4B601}"/>
                  </a:ext>
                </a:extLst>
              </p:cNvPr>
              <p:cNvPicPr>
                <a:picLocks noChangeAspect="1"/>
              </p:cNvPicPr>
              <p:nvPr/>
            </p:nvPicPr>
            <p:blipFill>
              <a:blip r:embed="rId6"/>
              <a:stretch>
                <a:fillRect/>
              </a:stretch>
            </p:blipFill>
            <p:spPr>
              <a:xfrm>
                <a:off x="12935643" y="14215412"/>
                <a:ext cx="3352800" cy="2743200"/>
              </a:xfrm>
              <a:prstGeom prst="rect">
                <a:avLst/>
              </a:prstGeom>
            </p:spPr>
          </p:pic>
          <p:pic>
            <p:nvPicPr>
              <p:cNvPr id="17" name="Picture 16" descr="A grey brain with red and blue dots&#10;&#10;Description automatically generated">
                <a:extLst>
                  <a:ext uri="{FF2B5EF4-FFF2-40B4-BE49-F238E27FC236}">
                    <a16:creationId xmlns:a16="http://schemas.microsoft.com/office/drawing/2014/main" id="{45B24B19-8008-A7B1-5FBA-A69E21A8D241}"/>
                  </a:ext>
                </a:extLst>
              </p:cNvPr>
              <p:cNvPicPr>
                <a:picLocks noChangeAspect="1"/>
              </p:cNvPicPr>
              <p:nvPr/>
            </p:nvPicPr>
            <p:blipFill>
              <a:blip r:embed="rId7"/>
              <a:stretch>
                <a:fillRect/>
              </a:stretch>
            </p:blipFill>
            <p:spPr>
              <a:xfrm>
                <a:off x="20775285" y="14380083"/>
                <a:ext cx="3431205" cy="2743200"/>
              </a:xfrm>
              <a:prstGeom prst="rect">
                <a:avLst/>
              </a:prstGeom>
            </p:spPr>
          </p:pic>
          <p:pic>
            <p:nvPicPr>
              <p:cNvPr id="18" name="Picture 17" descr="A grey and yellow brain&#10;&#10;Description automatically generated">
                <a:extLst>
                  <a:ext uri="{FF2B5EF4-FFF2-40B4-BE49-F238E27FC236}">
                    <a16:creationId xmlns:a16="http://schemas.microsoft.com/office/drawing/2014/main" id="{E05812F9-0534-39B2-7C0A-E0412AAAE40E}"/>
                  </a:ext>
                </a:extLst>
              </p:cNvPr>
              <p:cNvPicPr>
                <a:picLocks noChangeAspect="1"/>
              </p:cNvPicPr>
              <p:nvPr/>
            </p:nvPicPr>
            <p:blipFill>
              <a:blip r:embed="rId8"/>
              <a:stretch>
                <a:fillRect/>
              </a:stretch>
            </p:blipFill>
            <p:spPr>
              <a:xfrm>
                <a:off x="16825405" y="17330724"/>
                <a:ext cx="3539905" cy="2743200"/>
              </a:xfrm>
              <a:prstGeom prst="rect">
                <a:avLst/>
              </a:prstGeom>
            </p:spPr>
          </p:pic>
          <p:pic>
            <p:nvPicPr>
              <p:cNvPr id="19" name="Picture 18" descr="A grey and yellow brain&#10;&#10;Description automatically generated">
                <a:extLst>
                  <a:ext uri="{FF2B5EF4-FFF2-40B4-BE49-F238E27FC236}">
                    <a16:creationId xmlns:a16="http://schemas.microsoft.com/office/drawing/2014/main" id="{2A93B972-0775-F9CF-70E9-2C9B98EE8D0E}"/>
                  </a:ext>
                </a:extLst>
              </p:cNvPr>
              <p:cNvPicPr>
                <a:picLocks noChangeAspect="1"/>
              </p:cNvPicPr>
              <p:nvPr/>
            </p:nvPicPr>
            <p:blipFill>
              <a:blip r:embed="rId9"/>
              <a:stretch>
                <a:fillRect/>
              </a:stretch>
            </p:blipFill>
            <p:spPr>
              <a:xfrm>
                <a:off x="16784693" y="14319142"/>
                <a:ext cx="3520440" cy="2743200"/>
              </a:xfrm>
              <a:prstGeom prst="rect">
                <a:avLst/>
              </a:prstGeom>
            </p:spPr>
          </p:pic>
        </p:grpSp>
      </p:grpSp>
    </p:spTree>
    <p:extLst>
      <p:ext uri="{BB962C8B-B14F-4D97-AF65-F5344CB8AC3E}">
        <p14:creationId xmlns:p14="http://schemas.microsoft.com/office/powerpoint/2010/main" val="23946288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DD653-3721-7D16-C3EF-29940CC393DE}"/>
              </a:ext>
            </a:extLst>
          </p:cNvPr>
          <p:cNvSpPr>
            <a:spLocks noGrp="1"/>
          </p:cNvSpPr>
          <p:nvPr>
            <p:ph type="title"/>
          </p:nvPr>
        </p:nvSpPr>
        <p:spPr>
          <a:xfrm>
            <a:off x="0" y="0"/>
            <a:ext cx="5065486" cy="1325563"/>
          </a:xfrm>
        </p:spPr>
        <p:txBody>
          <a:bodyPr>
            <a:normAutofit fontScale="90000"/>
          </a:bodyPr>
          <a:lstStyle/>
          <a:p>
            <a:r>
              <a:rPr lang="en-US" dirty="0" err="1"/>
              <a:t>iEEG</a:t>
            </a:r>
            <a:r>
              <a:rPr lang="en-US" dirty="0"/>
              <a:t> Average High Gamma Power (N=14)</a:t>
            </a:r>
          </a:p>
        </p:txBody>
      </p:sp>
      <p:pic>
        <p:nvPicPr>
          <p:cNvPr id="4" name="Picture 3" descr="A grey brain with red and blue dots&#10;&#10;Description automatically generated">
            <a:extLst>
              <a:ext uri="{FF2B5EF4-FFF2-40B4-BE49-F238E27FC236}">
                <a16:creationId xmlns:a16="http://schemas.microsoft.com/office/drawing/2014/main" id="{1DBC9FEC-1E1F-5CAB-C344-0CB8D275DA8C}"/>
              </a:ext>
            </a:extLst>
          </p:cNvPr>
          <p:cNvPicPr>
            <a:picLocks noChangeAspect="1"/>
          </p:cNvPicPr>
          <p:nvPr/>
        </p:nvPicPr>
        <p:blipFill>
          <a:blip r:embed="rId3"/>
          <a:stretch>
            <a:fillRect/>
          </a:stretch>
        </p:blipFill>
        <p:spPr>
          <a:xfrm>
            <a:off x="224847" y="3232462"/>
            <a:ext cx="2902725" cy="2292409"/>
          </a:xfrm>
          <a:prstGeom prst="rect">
            <a:avLst/>
          </a:prstGeom>
        </p:spPr>
      </p:pic>
      <p:pic>
        <p:nvPicPr>
          <p:cNvPr id="6" name="Picture 5" descr="A red and blue circles with black text&#10;&#10;Description automatically generated">
            <a:extLst>
              <a:ext uri="{FF2B5EF4-FFF2-40B4-BE49-F238E27FC236}">
                <a16:creationId xmlns:a16="http://schemas.microsoft.com/office/drawing/2014/main" id="{698134B2-FFFC-30E4-35DF-7F60FD290A1C}"/>
              </a:ext>
            </a:extLst>
          </p:cNvPr>
          <p:cNvPicPr>
            <a:picLocks noChangeAspect="1"/>
          </p:cNvPicPr>
          <p:nvPr/>
        </p:nvPicPr>
        <p:blipFill rotWithShape="1">
          <a:blip r:embed="rId4"/>
          <a:srcRect l="28642" t="37255" r="38104" b="39503"/>
          <a:stretch/>
        </p:blipFill>
        <p:spPr>
          <a:xfrm>
            <a:off x="940679" y="1625639"/>
            <a:ext cx="3931920" cy="1043349"/>
          </a:xfrm>
          <a:prstGeom prst="rect">
            <a:avLst/>
          </a:prstGeom>
        </p:spPr>
      </p:pic>
      <p:pic>
        <p:nvPicPr>
          <p:cNvPr id="7" name="Picture 6" descr="A red and blue circles with black text&#10;&#10;Description automatically generated">
            <a:extLst>
              <a:ext uri="{FF2B5EF4-FFF2-40B4-BE49-F238E27FC236}">
                <a16:creationId xmlns:a16="http://schemas.microsoft.com/office/drawing/2014/main" id="{FD489240-5A74-2552-5404-0FA76AFBC52B}"/>
              </a:ext>
            </a:extLst>
          </p:cNvPr>
          <p:cNvPicPr>
            <a:picLocks noChangeAspect="1"/>
          </p:cNvPicPr>
          <p:nvPr/>
        </p:nvPicPr>
        <p:blipFill rotWithShape="1">
          <a:blip r:embed="rId4"/>
          <a:srcRect l="63049" t="40437" b="47637"/>
          <a:stretch/>
        </p:blipFill>
        <p:spPr>
          <a:xfrm>
            <a:off x="940678" y="2516974"/>
            <a:ext cx="4369105" cy="535379"/>
          </a:xfrm>
          <a:prstGeom prst="rect">
            <a:avLst/>
          </a:prstGeom>
        </p:spPr>
      </p:pic>
      <p:grpSp>
        <p:nvGrpSpPr>
          <p:cNvPr id="29" name="Group 28">
            <a:extLst>
              <a:ext uri="{FF2B5EF4-FFF2-40B4-BE49-F238E27FC236}">
                <a16:creationId xmlns:a16="http://schemas.microsoft.com/office/drawing/2014/main" id="{6FE6224F-A52D-2146-FB64-E02B8D25BF03}"/>
              </a:ext>
            </a:extLst>
          </p:cNvPr>
          <p:cNvGrpSpPr>
            <a:grpSpLocks noChangeAspect="1"/>
          </p:cNvGrpSpPr>
          <p:nvPr/>
        </p:nvGrpSpPr>
        <p:grpSpPr>
          <a:xfrm>
            <a:off x="6842649" y="396300"/>
            <a:ext cx="5272899" cy="2926080"/>
            <a:chOff x="25712710" y="8028599"/>
            <a:chExt cx="6245089" cy="3465576"/>
          </a:xfrm>
        </p:grpSpPr>
        <p:pic>
          <p:nvPicPr>
            <p:cNvPr id="31" name="Picture 30" descr="A red line graph with numbers&#10;&#10;Description automatically generated">
              <a:extLst>
                <a:ext uri="{FF2B5EF4-FFF2-40B4-BE49-F238E27FC236}">
                  <a16:creationId xmlns:a16="http://schemas.microsoft.com/office/drawing/2014/main" id="{3BE1A7AA-A1B2-D499-1021-E80AEB364731}"/>
                </a:ext>
              </a:extLst>
            </p:cNvPr>
            <p:cNvPicPr>
              <a:picLocks noChangeAspect="1"/>
            </p:cNvPicPr>
            <p:nvPr/>
          </p:nvPicPr>
          <p:blipFill>
            <a:blip r:embed="rId5"/>
            <a:stretch>
              <a:fillRect/>
            </a:stretch>
          </p:blipFill>
          <p:spPr>
            <a:xfrm>
              <a:off x="26181839" y="8028599"/>
              <a:ext cx="5775960" cy="3465576"/>
            </a:xfrm>
            <a:prstGeom prst="rect">
              <a:avLst/>
            </a:prstGeom>
          </p:spPr>
        </p:pic>
        <p:pic>
          <p:nvPicPr>
            <p:cNvPr id="32" name="Picture 31" descr="A black text on a white background&#10;&#10;Description automatically generated">
              <a:extLst>
                <a:ext uri="{FF2B5EF4-FFF2-40B4-BE49-F238E27FC236}">
                  <a16:creationId xmlns:a16="http://schemas.microsoft.com/office/drawing/2014/main" id="{FC462074-0FB8-72F0-ADD0-2B2EE0A79AA3}"/>
                </a:ext>
              </a:extLst>
            </p:cNvPr>
            <p:cNvPicPr>
              <a:picLocks noChangeAspect="1"/>
            </p:cNvPicPr>
            <p:nvPr/>
          </p:nvPicPr>
          <p:blipFill rotWithShape="1">
            <a:blip r:embed="rId6"/>
            <a:srcRect l="32281" t="42975" r="31361" b="42267"/>
            <a:stretch/>
          </p:blipFill>
          <p:spPr>
            <a:xfrm>
              <a:off x="26765158" y="8088923"/>
              <a:ext cx="2058557" cy="631313"/>
            </a:xfrm>
            <a:prstGeom prst="rect">
              <a:avLst/>
            </a:prstGeom>
          </p:spPr>
        </p:pic>
        <p:sp>
          <p:nvSpPr>
            <p:cNvPr id="33" name="TextBox 32">
              <a:extLst>
                <a:ext uri="{FF2B5EF4-FFF2-40B4-BE49-F238E27FC236}">
                  <a16:creationId xmlns:a16="http://schemas.microsoft.com/office/drawing/2014/main" id="{2C24A678-2060-6471-5936-E82BE677E3F6}"/>
                </a:ext>
              </a:extLst>
            </p:cNvPr>
            <p:cNvSpPr txBox="1"/>
            <p:nvPr/>
          </p:nvSpPr>
          <p:spPr>
            <a:xfrm rot="16200000">
              <a:off x="24477623" y="9471199"/>
              <a:ext cx="2944054" cy="473880"/>
            </a:xfrm>
            <a:prstGeom prst="rect">
              <a:avLst/>
            </a:prstGeom>
            <a:noFill/>
          </p:spPr>
          <p:txBody>
            <a:bodyPr wrap="none" rtlCol="0">
              <a:spAutoFit/>
            </a:bodyPr>
            <a:lstStyle/>
            <a:p>
              <a:r>
                <a:rPr lang="en-US" sz="2000" dirty="0">
                  <a:latin typeface="Calibri" panose="020F0502020204030204" pitchFamily="34" charset="0"/>
                  <a:cs typeface="Calibri" panose="020F0502020204030204" pitchFamily="34" charset="0"/>
                </a:rPr>
                <a:t>Z-Score From Baseline</a:t>
              </a:r>
            </a:p>
          </p:txBody>
        </p:sp>
      </p:grpSp>
      <p:grpSp>
        <p:nvGrpSpPr>
          <p:cNvPr id="42" name="Group 41">
            <a:extLst>
              <a:ext uri="{FF2B5EF4-FFF2-40B4-BE49-F238E27FC236}">
                <a16:creationId xmlns:a16="http://schemas.microsoft.com/office/drawing/2014/main" id="{47CA8343-6FD8-0887-6C42-FC0F1415E89A}"/>
              </a:ext>
            </a:extLst>
          </p:cNvPr>
          <p:cNvGrpSpPr/>
          <p:nvPr/>
        </p:nvGrpSpPr>
        <p:grpSpPr>
          <a:xfrm>
            <a:off x="6842650" y="3232462"/>
            <a:ext cx="5253413" cy="3319019"/>
            <a:chOff x="8520931" y="3538981"/>
            <a:chExt cx="5253413" cy="3319019"/>
          </a:xfrm>
        </p:grpSpPr>
        <p:grpSp>
          <p:nvGrpSpPr>
            <p:cNvPr id="23" name="Group 22">
              <a:extLst>
                <a:ext uri="{FF2B5EF4-FFF2-40B4-BE49-F238E27FC236}">
                  <a16:creationId xmlns:a16="http://schemas.microsoft.com/office/drawing/2014/main" id="{67D4C2C0-4C03-2232-E0C2-318DF3C2DB43}"/>
                </a:ext>
              </a:extLst>
            </p:cNvPr>
            <p:cNvGrpSpPr>
              <a:grpSpLocks noChangeAspect="1"/>
            </p:cNvGrpSpPr>
            <p:nvPr/>
          </p:nvGrpSpPr>
          <p:grpSpPr>
            <a:xfrm>
              <a:off x="8780954" y="3538981"/>
              <a:ext cx="4993390" cy="3319019"/>
              <a:chOff x="31933691" y="8021749"/>
              <a:chExt cx="5775960" cy="3839181"/>
            </a:xfrm>
          </p:grpSpPr>
          <p:sp>
            <p:nvSpPr>
              <p:cNvPr id="24" name="TextBox 23">
                <a:extLst>
                  <a:ext uri="{FF2B5EF4-FFF2-40B4-BE49-F238E27FC236}">
                    <a16:creationId xmlns:a16="http://schemas.microsoft.com/office/drawing/2014/main" id="{E5A7CEE4-3EDC-6E3B-7495-1078BC487B8B}"/>
                  </a:ext>
                </a:extLst>
              </p:cNvPr>
              <p:cNvSpPr txBox="1"/>
              <p:nvPr/>
            </p:nvSpPr>
            <p:spPr>
              <a:xfrm>
                <a:off x="33262574" y="11398114"/>
                <a:ext cx="3763712" cy="462816"/>
              </a:xfrm>
              <a:prstGeom prst="rect">
                <a:avLst/>
              </a:prstGeom>
              <a:noFill/>
            </p:spPr>
            <p:txBody>
              <a:bodyPr wrap="none" rtlCol="0">
                <a:spAutoFit/>
              </a:bodyPr>
              <a:lstStyle/>
              <a:p>
                <a:r>
                  <a:rPr lang="en-US" sz="2000" dirty="0">
                    <a:latin typeface="Calibri" panose="020F0502020204030204" pitchFamily="34" charset="0"/>
                    <a:cs typeface="Calibri" panose="020F0502020204030204" pitchFamily="34" charset="0"/>
                  </a:rPr>
                  <a:t>Time From Stimulus Onset (s)</a:t>
                </a:r>
              </a:p>
            </p:txBody>
          </p:sp>
          <p:pic>
            <p:nvPicPr>
              <p:cNvPr id="25" name="Picture 24" descr="A graph showing a blue line&#10;&#10;Description automatically generated">
                <a:extLst>
                  <a:ext uri="{FF2B5EF4-FFF2-40B4-BE49-F238E27FC236}">
                    <a16:creationId xmlns:a16="http://schemas.microsoft.com/office/drawing/2014/main" id="{7C1F3FCB-83A4-81EA-E365-1880DB8431BA}"/>
                  </a:ext>
                </a:extLst>
              </p:cNvPr>
              <p:cNvPicPr>
                <a:picLocks noChangeAspect="1"/>
              </p:cNvPicPr>
              <p:nvPr/>
            </p:nvPicPr>
            <p:blipFill>
              <a:blip r:embed="rId7"/>
              <a:stretch>
                <a:fillRect/>
              </a:stretch>
            </p:blipFill>
            <p:spPr>
              <a:xfrm>
                <a:off x="31933691" y="8021749"/>
                <a:ext cx="5775960" cy="3465576"/>
              </a:xfrm>
              <a:prstGeom prst="rect">
                <a:avLst/>
              </a:prstGeom>
            </p:spPr>
          </p:pic>
          <p:pic>
            <p:nvPicPr>
              <p:cNvPr id="26" name="Picture 25" descr="A blue and black text&#10;&#10;Description automatically generated">
                <a:extLst>
                  <a:ext uri="{FF2B5EF4-FFF2-40B4-BE49-F238E27FC236}">
                    <a16:creationId xmlns:a16="http://schemas.microsoft.com/office/drawing/2014/main" id="{E2DEBDE1-F312-A1D9-CF04-CC72AF37CBEA}"/>
                  </a:ext>
                </a:extLst>
              </p:cNvPr>
              <p:cNvPicPr>
                <a:picLocks noChangeAspect="1"/>
              </p:cNvPicPr>
              <p:nvPr/>
            </p:nvPicPr>
            <p:blipFill rotWithShape="1">
              <a:blip r:embed="rId8"/>
              <a:srcRect l="36828" t="43566" r="37468" b="43415"/>
              <a:stretch/>
            </p:blipFill>
            <p:spPr>
              <a:xfrm>
                <a:off x="32720589" y="8157613"/>
                <a:ext cx="1470057" cy="561799"/>
              </a:xfrm>
              <a:prstGeom prst="rect">
                <a:avLst/>
              </a:prstGeom>
            </p:spPr>
          </p:pic>
        </p:grpSp>
        <p:sp>
          <p:nvSpPr>
            <p:cNvPr id="34" name="TextBox 33">
              <a:extLst>
                <a:ext uri="{FF2B5EF4-FFF2-40B4-BE49-F238E27FC236}">
                  <a16:creationId xmlns:a16="http://schemas.microsoft.com/office/drawing/2014/main" id="{466A5630-9E6A-C916-B105-59706AA2031C}"/>
                </a:ext>
              </a:extLst>
            </p:cNvPr>
            <p:cNvSpPr txBox="1"/>
            <p:nvPr/>
          </p:nvSpPr>
          <p:spPr>
            <a:xfrm rot="16200000">
              <a:off x="7478113" y="4836942"/>
              <a:ext cx="2485745" cy="400110"/>
            </a:xfrm>
            <a:prstGeom prst="rect">
              <a:avLst/>
            </a:prstGeom>
            <a:noFill/>
          </p:spPr>
          <p:txBody>
            <a:bodyPr wrap="none" rtlCol="0">
              <a:spAutoFit/>
            </a:bodyPr>
            <a:lstStyle/>
            <a:p>
              <a:r>
                <a:rPr lang="en-US" sz="2000" dirty="0">
                  <a:latin typeface="Calibri" panose="020F0502020204030204" pitchFamily="34" charset="0"/>
                  <a:cs typeface="Calibri" panose="020F0502020204030204" pitchFamily="34" charset="0"/>
                </a:rPr>
                <a:t>Z-Score From Baseline</a:t>
              </a:r>
            </a:p>
          </p:txBody>
        </p:sp>
      </p:grpSp>
      <p:pic>
        <p:nvPicPr>
          <p:cNvPr id="43" name="Picture 42" descr="A grey brain with red and blue dots&#10;&#10;Description automatically generated">
            <a:extLst>
              <a:ext uri="{FF2B5EF4-FFF2-40B4-BE49-F238E27FC236}">
                <a16:creationId xmlns:a16="http://schemas.microsoft.com/office/drawing/2014/main" id="{F55B33E9-40A5-3306-CF38-73BDE479B4B2}"/>
              </a:ext>
            </a:extLst>
          </p:cNvPr>
          <p:cNvPicPr>
            <a:picLocks noChangeAspect="1"/>
          </p:cNvPicPr>
          <p:nvPr/>
        </p:nvPicPr>
        <p:blipFill>
          <a:blip r:embed="rId9"/>
          <a:stretch>
            <a:fillRect/>
          </a:stretch>
        </p:blipFill>
        <p:spPr>
          <a:xfrm>
            <a:off x="3213296" y="3232462"/>
            <a:ext cx="2870775" cy="2295144"/>
          </a:xfrm>
          <a:prstGeom prst="rect">
            <a:avLst/>
          </a:prstGeom>
        </p:spPr>
      </p:pic>
    </p:spTree>
    <p:extLst>
      <p:ext uri="{BB962C8B-B14F-4D97-AF65-F5344CB8AC3E}">
        <p14:creationId xmlns:p14="http://schemas.microsoft.com/office/powerpoint/2010/main" val="23672905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FB849-B0C7-2783-C152-97F5A9E317EB}"/>
              </a:ext>
            </a:extLst>
          </p:cNvPr>
          <p:cNvSpPr>
            <a:spLocks noGrp="1"/>
          </p:cNvSpPr>
          <p:nvPr>
            <p:ph type="title"/>
          </p:nvPr>
        </p:nvSpPr>
        <p:spPr/>
        <p:txBody>
          <a:bodyPr/>
          <a:lstStyle/>
          <a:p>
            <a:r>
              <a:rPr lang="en-US" dirty="0"/>
              <a:t>LPFC Decoding</a:t>
            </a:r>
          </a:p>
        </p:txBody>
      </p:sp>
      <p:grpSp>
        <p:nvGrpSpPr>
          <p:cNvPr id="4" name="Group 3">
            <a:extLst>
              <a:ext uri="{FF2B5EF4-FFF2-40B4-BE49-F238E27FC236}">
                <a16:creationId xmlns:a16="http://schemas.microsoft.com/office/drawing/2014/main" id="{C0558418-EF6E-47FE-5C42-43D6D3904D6A}"/>
              </a:ext>
            </a:extLst>
          </p:cNvPr>
          <p:cNvGrpSpPr>
            <a:grpSpLocks noChangeAspect="1"/>
          </p:cNvGrpSpPr>
          <p:nvPr/>
        </p:nvGrpSpPr>
        <p:grpSpPr>
          <a:xfrm>
            <a:off x="250759" y="1816293"/>
            <a:ext cx="6412426" cy="5029200"/>
            <a:chOff x="28068195" y="15326743"/>
            <a:chExt cx="6984308" cy="5477720"/>
          </a:xfrm>
        </p:grpSpPr>
        <p:pic>
          <p:nvPicPr>
            <p:cNvPr id="5" name="Picture 4" descr="A chart with different colored squares&#10;&#10;Description automatically generated">
              <a:extLst>
                <a:ext uri="{FF2B5EF4-FFF2-40B4-BE49-F238E27FC236}">
                  <a16:creationId xmlns:a16="http://schemas.microsoft.com/office/drawing/2014/main" id="{FFB6B943-9627-9335-21B3-6E65978EE3A9}"/>
                </a:ext>
              </a:extLst>
            </p:cNvPr>
            <p:cNvPicPr>
              <a:picLocks noChangeAspect="1"/>
            </p:cNvPicPr>
            <p:nvPr/>
          </p:nvPicPr>
          <p:blipFill>
            <a:blip r:embed="rId3"/>
            <a:srcRect l="15409" t="10574" r="10510" b="10000"/>
            <a:stretch/>
          </p:blipFill>
          <p:spPr>
            <a:xfrm>
              <a:off x="28927679" y="15326743"/>
              <a:ext cx="5797034" cy="4661401"/>
            </a:xfrm>
            <a:prstGeom prst="rect">
              <a:avLst/>
            </a:prstGeom>
          </p:spPr>
        </p:pic>
        <p:sp>
          <p:nvSpPr>
            <p:cNvPr id="6" name="TextBox 5">
              <a:extLst>
                <a:ext uri="{FF2B5EF4-FFF2-40B4-BE49-F238E27FC236}">
                  <a16:creationId xmlns:a16="http://schemas.microsoft.com/office/drawing/2014/main" id="{E38AA0AB-F7DC-F2B0-67D3-2FBB3392E968}"/>
                </a:ext>
              </a:extLst>
            </p:cNvPr>
            <p:cNvSpPr txBox="1"/>
            <p:nvPr/>
          </p:nvSpPr>
          <p:spPr>
            <a:xfrm>
              <a:off x="29942885" y="20219688"/>
              <a:ext cx="2752485" cy="584775"/>
            </a:xfrm>
            <a:prstGeom prst="rect">
              <a:avLst/>
            </a:prstGeom>
            <a:noFill/>
          </p:spPr>
          <p:txBody>
            <a:bodyPr wrap="none" rtlCol="0">
              <a:spAutoFit/>
            </a:bodyPr>
            <a:lstStyle/>
            <a:p>
              <a:r>
                <a:rPr lang="en-US" sz="3200" dirty="0">
                  <a:latin typeface="Calibri" panose="020F0502020204030204" pitchFamily="34" charset="0"/>
                  <a:cs typeface="Calibri" panose="020F0502020204030204" pitchFamily="34" charset="0"/>
                </a:rPr>
                <a:t>Predicted Label</a:t>
              </a:r>
            </a:p>
          </p:txBody>
        </p:sp>
        <p:sp>
          <p:nvSpPr>
            <p:cNvPr id="7" name="TextBox 6">
              <a:extLst>
                <a:ext uri="{FF2B5EF4-FFF2-40B4-BE49-F238E27FC236}">
                  <a16:creationId xmlns:a16="http://schemas.microsoft.com/office/drawing/2014/main" id="{EACDD870-0460-ED30-312C-1CE4F3FF8EFE}"/>
                </a:ext>
              </a:extLst>
            </p:cNvPr>
            <p:cNvSpPr txBox="1"/>
            <p:nvPr/>
          </p:nvSpPr>
          <p:spPr>
            <a:xfrm rot="16200000">
              <a:off x="27410547" y="17348848"/>
              <a:ext cx="1900072" cy="584775"/>
            </a:xfrm>
            <a:prstGeom prst="rect">
              <a:avLst/>
            </a:prstGeom>
            <a:noFill/>
          </p:spPr>
          <p:txBody>
            <a:bodyPr wrap="none" rtlCol="0">
              <a:spAutoFit/>
            </a:bodyPr>
            <a:lstStyle/>
            <a:p>
              <a:r>
                <a:rPr lang="en-US" sz="3200" dirty="0">
                  <a:latin typeface="Calibri" panose="020F0502020204030204" pitchFamily="34" charset="0"/>
                  <a:cs typeface="Calibri" panose="020F0502020204030204" pitchFamily="34" charset="0"/>
                </a:rPr>
                <a:t>True Label</a:t>
              </a:r>
            </a:p>
          </p:txBody>
        </p:sp>
        <p:sp>
          <p:nvSpPr>
            <p:cNvPr id="8" name="TextBox 7">
              <a:extLst>
                <a:ext uri="{FF2B5EF4-FFF2-40B4-BE49-F238E27FC236}">
                  <a16:creationId xmlns:a16="http://schemas.microsoft.com/office/drawing/2014/main" id="{68CD9F0C-EF11-2A93-D0A4-11BE203C6CDD}"/>
                </a:ext>
              </a:extLst>
            </p:cNvPr>
            <p:cNvSpPr txBox="1"/>
            <p:nvPr/>
          </p:nvSpPr>
          <p:spPr>
            <a:xfrm rot="16200000">
              <a:off x="28291391" y="18535679"/>
              <a:ext cx="1003865" cy="461665"/>
            </a:xfrm>
            <a:prstGeom prst="rect">
              <a:avLst/>
            </a:prstGeom>
            <a:noFill/>
          </p:spPr>
          <p:txBody>
            <a:bodyPr wrap="none" rtlCol="0">
              <a:spAutoFit/>
            </a:bodyPr>
            <a:lstStyle/>
            <a:p>
              <a:r>
                <a:rPr lang="en-US" sz="2400" dirty="0">
                  <a:latin typeface="Calibri" panose="020F0502020204030204" pitchFamily="34" charset="0"/>
                  <a:cs typeface="Calibri" panose="020F0502020204030204" pitchFamily="34" charset="0"/>
                </a:rPr>
                <a:t>Switch</a:t>
              </a:r>
            </a:p>
          </p:txBody>
        </p:sp>
        <p:sp>
          <p:nvSpPr>
            <p:cNvPr id="9" name="TextBox 8">
              <a:extLst>
                <a:ext uri="{FF2B5EF4-FFF2-40B4-BE49-F238E27FC236}">
                  <a16:creationId xmlns:a16="http://schemas.microsoft.com/office/drawing/2014/main" id="{C10109A9-CBBE-DB04-0685-0669F7AC3DEC}"/>
                </a:ext>
              </a:extLst>
            </p:cNvPr>
            <p:cNvSpPr txBox="1"/>
            <p:nvPr/>
          </p:nvSpPr>
          <p:spPr>
            <a:xfrm rot="16200000">
              <a:off x="28260364" y="16309520"/>
              <a:ext cx="1062855" cy="461665"/>
            </a:xfrm>
            <a:prstGeom prst="rect">
              <a:avLst/>
            </a:prstGeom>
            <a:noFill/>
          </p:spPr>
          <p:txBody>
            <a:bodyPr wrap="none" rtlCol="0">
              <a:spAutoFit/>
            </a:bodyPr>
            <a:lstStyle/>
            <a:p>
              <a:r>
                <a:rPr lang="en-US" sz="2400" dirty="0">
                  <a:latin typeface="Calibri" panose="020F0502020204030204" pitchFamily="34" charset="0"/>
                  <a:cs typeface="Calibri" panose="020F0502020204030204" pitchFamily="34" charset="0"/>
                </a:rPr>
                <a:t>Repeat</a:t>
              </a:r>
            </a:p>
          </p:txBody>
        </p:sp>
        <p:sp>
          <p:nvSpPr>
            <p:cNvPr id="10" name="TextBox 9">
              <a:extLst>
                <a:ext uri="{FF2B5EF4-FFF2-40B4-BE49-F238E27FC236}">
                  <a16:creationId xmlns:a16="http://schemas.microsoft.com/office/drawing/2014/main" id="{4BB532E9-7009-104B-02A4-59F95B5E03CA}"/>
                </a:ext>
              </a:extLst>
            </p:cNvPr>
            <p:cNvSpPr txBox="1"/>
            <p:nvPr/>
          </p:nvSpPr>
          <p:spPr>
            <a:xfrm>
              <a:off x="31957799" y="19890126"/>
              <a:ext cx="1003865" cy="461665"/>
            </a:xfrm>
            <a:prstGeom prst="rect">
              <a:avLst/>
            </a:prstGeom>
            <a:noFill/>
          </p:spPr>
          <p:txBody>
            <a:bodyPr wrap="none" rtlCol="0">
              <a:spAutoFit/>
            </a:bodyPr>
            <a:lstStyle/>
            <a:p>
              <a:r>
                <a:rPr lang="en-US" sz="2400" dirty="0">
                  <a:latin typeface="Calibri" panose="020F0502020204030204" pitchFamily="34" charset="0"/>
                  <a:cs typeface="Calibri" panose="020F0502020204030204" pitchFamily="34" charset="0"/>
                </a:rPr>
                <a:t>Switch</a:t>
              </a:r>
            </a:p>
          </p:txBody>
        </p:sp>
        <p:sp>
          <p:nvSpPr>
            <p:cNvPr id="11" name="TextBox 10">
              <a:extLst>
                <a:ext uri="{FF2B5EF4-FFF2-40B4-BE49-F238E27FC236}">
                  <a16:creationId xmlns:a16="http://schemas.microsoft.com/office/drawing/2014/main" id="{446473F9-5BED-8287-8F0F-4E49F0629319}"/>
                </a:ext>
              </a:extLst>
            </p:cNvPr>
            <p:cNvSpPr txBox="1"/>
            <p:nvPr/>
          </p:nvSpPr>
          <p:spPr>
            <a:xfrm>
              <a:off x="29663322" y="19857904"/>
              <a:ext cx="1062855" cy="461665"/>
            </a:xfrm>
            <a:prstGeom prst="rect">
              <a:avLst/>
            </a:prstGeom>
            <a:noFill/>
          </p:spPr>
          <p:txBody>
            <a:bodyPr wrap="none" rtlCol="0">
              <a:spAutoFit/>
            </a:bodyPr>
            <a:lstStyle/>
            <a:p>
              <a:r>
                <a:rPr lang="en-US" sz="2400" dirty="0">
                  <a:latin typeface="Calibri" panose="020F0502020204030204" pitchFamily="34" charset="0"/>
                  <a:cs typeface="Calibri" panose="020F0502020204030204" pitchFamily="34" charset="0"/>
                </a:rPr>
                <a:t>Repeat</a:t>
              </a:r>
            </a:p>
          </p:txBody>
        </p:sp>
        <p:sp>
          <p:nvSpPr>
            <p:cNvPr id="12" name="TextBox 11">
              <a:extLst>
                <a:ext uri="{FF2B5EF4-FFF2-40B4-BE49-F238E27FC236}">
                  <a16:creationId xmlns:a16="http://schemas.microsoft.com/office/drawing/2014/main" id="{D2E39407-1F6E-5921-783C-78F9F77125A1}"/>
                </a:ext>
              </a:extLst>
            </p:cNvPr>
            <p:cNvSpPr txBox="1"/>
            <p:nvPr/>
          </p:nvSpPr>
          <p:spPr>
            <a:xfrm rot="16200000">
              <a:off x="33206068" y="17477610"/>
              <a:ext cx="3231206" cy="461665"/>
            </a:xfrm>
            <a:prstGeom prst="rect">
              <a:avLst/>
            </a:prstGeom>
            <a:noFill/>
          </p:spPr>
          <p:txBody>
            <a:bodyPr wrap="none" rtlCol="0">
              <a:spAutoFit/>
            </a:bodyPr>
            <a:lstStyle/>
            <a:p>
              <a:r>
                <a:rPr lang="en-US" sz="2400" dirty="0">
                  <a:latin typeface="Calibri" panose="020F0502020204030204" pitchFamily="34" charset="0"/>
                  <a:cs typeface="Calibri" panose="020F0502020204030204" pitchFamily="34" charset="0"/>
                </a:rPr>
                <a:t>Classification Proportion</a:t>
              </a:r>
            </a:p>
          </p:txBody>
        </p:sp>
      </p:grpSp>
      <p:pic>
        <p:nvPicPr>
          <p:cNvPr id="13" name="Picture 12" descr="A chart with different colored squares&#10;&#10;Description automatically generated">
            <a:extLst>
              <a:ext uri="{FF2B5EF4-FFF2-40B4-BE49-F238E27FC236}">
                <a16:creationId xmlns:a16="http://schemas.microsoft.com/office/drawing/2014/main" id="{0998D343-0BDB-9809-7192-CECAD3688EED}"/>
              </a:ext>
            </a:extLst>
          </p:cNvPr>
          <p:cNvPicPr>
            <a:picLocks noChangeAspect="1"/>
          </p:cNvPicPr>
          <p:nvPr/>
        </p:nvPicPr>
        <p:blipFill>
          <a:blip r:embed="rId4"/>
          <a:stretch>
            <a:fillRect/>
          </a:stretch>
        </p:blipFill>
        <p:spPr>
          <a:xfrm>
            <a:off x="6891884" y="1953729"/>
            <a:ext cx="5300116" cy="3975087"/>
          </a:xfrm>
          <a:prstGeom prst="rect">
            <a:avLst/>
          </a:prstGeom>
        </p:spPr>
      </p:pic>
      <p:sp>
        <p:nvSpPr>
          <p:cNvPr id="14" name="TextBox 13">
            <a:extLst>
              <a:ext uri="{FF2B5EF4-FFF2-40B4-BE49-F238E27FC236}">
                <a16:creationId xmlns:a16="http://schemas.microsoft.com/office/drawing/2014/main" id="{5AC2DB01-C8AE-6DFD-C74D-204672F5223D}"/>
              </a:ext>
            </a:extLst>
          </p:cNvPr>
          <p:cNvSpPr txBox="1"/>
          <p:nvPr/>
        </p:nvSpPr>
        <p:spPr>
          <a:xfrm>
            <a:off x="8040602" y="1677594"/>
            <a:ext cx="3463674" cy="646331"/>
          </a:xfrm>
          <a:prstGeom prst="rect">
            <a:avLst/>
          </a:prstGeom>
          <a:noFill/>
        </p:spPr>
        <p:txBody>
          <a:bodyPr wrap="square" rtlCol="0">
            <a:spAutoFit/>
          </a:bodyPr>
          <a:lstStyle/>
          <a:p>
            <a:r>
              <a:rPr lang="en-US" dirty="0"/>
              <a:t>Congruency decoding - I will make this pretty.</a:t>
            </a:r>
          </a:p>
        </p:txBody>
      </p:sp>
      <p:sp>
        <p:nvSpPr>
          <p:cNvPr id="15" name="TextBox 14">
            <a:extLst>
              <a:ext uri="{FF2B5EF4-FFF2-40B4-BE49-F238E27FC236}">
                <a16:creationId xmlns:a16="http://schemas.microsoft.com/office/drawing/2014/main" id="{6B6ECDE4-27FF-AE11-CC90-43F24C623329}"/>
              </a:ext>
            </a:extLst>
          </p:cNvPr>
          <p:cNvSpPr txBox="1"/>
          <p:nvPr/>
        </p:nvSpPr>
        <p:spPr>
          <a:xfrm>
            <a:off x="6891884" y="6308209"/>
            <a:ext cx="5221045" cy="369332"/>
          </a:xfrm>
          <a:prstGeom prst="rect">
            <a:avLst/>
          </a:prstGeom>
          <a:noFill/>
        </p:spPr>
        <p:txBody>
          <a:bodyPr wrap="none" rtlCol="0">
            <a:spAutoFit/>
          </a:bodyPr>
          <a:lstStyle/>
          <a:p>
            <a:r>
              <a:rPr lang="en-US" dirty="0"/>
              <a:t>Will also add visual decoding and task type decoding..</a:t>
            </a:r>
          </a:p>
        </p:txBody>
      </p:sp>
    </p:spTree>
    <p:extLst>
      <p:ext uri="{BB962C8B-B14F-4D97-AF65-F5344CB8AC3E}">
        <p14:creationId xmlns:p14="http://schemas.microsoft.com/office/powerpoint/2010/main" val="113717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D2ABE-D868-BEBF-C88B-CBFF7E0EB703}"/>
              </a:ext>
            </a:extLst>
          </p:cNvPr>
          <p:cNvSpPr>
            <a:spLocks noGrp="1"/>
          </p:cNvSpPr>
          <p:nvPr>
            <p:ph type="title"/>
          </p:nvPr>
        </p:nvSpPr>
        <p:spPr/>
        <p:txBody>
          <a:bodyPr/>
          <a:lstStyle/>
          <a:p>
            <a:r>
              <a:rPr lang="en-US" dirty="0" err="1"/>
              <a:t>iEEG</a:t>
            </a:r>
            <a:r>
              <a:rPr lang="en-US" dirty="0"/>
              <a:t> Next Steps</a:t>
            </a:r>
          </a:p>
        </p:txBody>
      </p:sp>
      <p:sp>
        <p:nvSpPr>
          <p:cNvPr id="3" name="Content Placeholder 2">
            <a:extLst>
              <a:ext uri="{FF2B5EF4-FFF2-40B4-BE49-F238E27FC236}">
                <a16:creationId xmlns:a16="http://schemas.microsoft.com/office/drawing/2014/main" id="{DDB6A383-D045-90EB-B0B5-4C492AD3EE93}"/>
              </a:ext>
            </a:extLst>
          </p:cNvPr>
          <p:cNvSpPr>
            <a:spLocks noGrp="1"/>
          </p:cNvSpPr>
          <p:nvPr>
            <p:ph idx="1"/>
          </p:nvPr>
        </p:nvSpPr>
        <p:spPr/>
        <p:txBody>
          <a:bodyPr/>
          <a:lstStyle/>
          <a:p>
            <a:r>
              <a:rPr lang="en-US" dirty="0"/>
              <a:t>Generalizability of decoders</a:t>
            </a:r>
          </a:p>
          <a:p>
            <a:r>
              <a:rPr lang="en-US" dirty="0"/>
              <a:t>Compare proportion effects in </a:t>
            </a:r>
            <a:r>
              <a:rPr lang="en-US" dirty="0" err="1"/>
              <a:t>iEEG</a:t>
            </a:r>
            <a:r>
              <a:rPr lang="en-US" dirty="0"/>
              <a:t> </a:t>
            </a:r>
          </a:p>
          <a:p>
            <a:r>
              <a:rPr lang="en-US" dirty="0"/>
              <a:t>Timing of mental processes in </a:t>
            </a:r>
            <a:r>
              <a:rPr lang="en-US" dirty="0" err="1"/>
              <a:t>iEEG</a:t>
            </a:r>
            <a:endParaRPr lang="en-US" dirty="0"/>
          </a:p>
        </p:txBody>
      </p:sp>
    </p:spTree>
    <p:extLst>
      <p:ext uri="{BB962C8B-B14F-4D97-AF65-F5344CB8AC3E}">
        <p14:creationId xmlns:p14="http://schemas.microsoft.com/office/powerpoint/2010/main" val="39777559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23BBD-0271-55B8-DD24-30F0E1D94756}"/>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3EBD1ACD-83D5-46E7-0094-4DCE515B2AC0}"/>
              </a:ext>
            </a:extLst>
          </p:cNvPr>
          <p:cNvSpPr>
            <a:spLocks noGrp="1"/>
          </p:cNvSpPr>
          <p:nvPr>
            <p:ph idx="1"/>
          </p:nvPr>
        </p:nvSpPr>
        <p:spPr/>
        <p:txBody>
          <a:bodyPr/>
          <a:lstStyle/>
          <a:p>
            <a:r>
              <a:rPr lang="en-US" dirty="0"/>
              <a:t>Stability and flexibility rely on overlapping neural substrates but may be independently regulated</a:t>
            </a:r>
          </a:p>
          <a:p>
            <a:r>
              <a:rPr lang="en-US" dirty="0"/>
              <a:t>Congruency and switch type sensitive sites are interspersed in LPFC, with some sites sensitive to one process and others to both</a:t>
            </a:r>
          </a:p>
        </p:txBody>
      </p:sp>
    </p:spTree>
    <p:extLst>
      <p:ext uri="{BB962C8B-B14F-4D97-AF65-F5344CB8AC3E}">
        <p14:creationId xmlns:p14="http://schemas.microsoft.com/office/powerpoint/2010/main" val="12331627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A91AA-A9E5-D25C-0AB0-E0892C6D9C99}"/>
              </a:ext>
            </a:extLst>
          </p:cNvPr>
          <p:cNvSpPr>
            <a:spLocks noGrp="1"/>
          </p:cNvSpPr>
          <p:nvPr>
            <p:ph type="title"/>
          </p:nvPr>
        </p:nvSpPr>
        <p:spPr>
          <a:xfrm>
            <a:off x="9532" y="2286"/>
            <a:ext cx="10515600" cy="1325563"/>
          </a:xfrm>
        </p:spPr>
        <p:txBody>
          <a:bodyPr/>
          <a:lstStyle/>
          <a:p>
            <a:r>
              <a:rPr lang="en-US" dirty="0"/>
              <a:t>Thanks to my advisors and </a:t>
            </a:r>
            <a:r>
              <a:rPr lang="en-US" dirty="0" err="1"/>
              <a:t>labmates</a:t>
            </a:r>
            <a:r>
              <a:rPr lang="en-US" dirty="0"/>
              <a:t> for their support!</a:t>
            </a:r>
          </a:p>
        </p:txBody>
      </p:sp>
      <p:pic>
        <p:nvPicPr>
          <p:cNvPr id="33" name="Picture 32">
            <a:extLst>
              <a:ext uri="{FF2B5EF4-FFF2-40B4-BE49-F238E27FC236}">
                <a16:creationId xmlns:a16="http://schemas.microsoft.com/office/drawing/2014/main" id="{87BEA690-2247-563B-D956-F003DBA3AE8D}"/>
              </a:ext>
            </a:extLst>
          </p:cNvPr>
          <p:cNvPicPr>
            <a:picLocks noChangeAspect="1"/>
          </p:cNvPicPr>
          <p:nvPr/>
        </p:nvPicPr>
        <p:blipFill>
          <a:blip r:embed="rId3"/>
          <a:stretch>
            <a:fillRect/>
          </a:stretch>
        </p:blipFill>
        <p:spPr>
          <a:xfrm>
            <a:off x="2180034" y="4636355"/>
            <a:ext cx="1282699" cy="1931097"/>
          </a:xfrm>
          <a:prstGeom prst="rect">
            <a:avLst/>
          </a:prstGeom>
        </p:spPr>
      </p:pic>
      <p:pic>
        <p:nvPicPr>
          <p:cNvPr id="49" name="Picture 48" descr="A group of people sitting at a table with food&#10;&#10;AI-generated content may be incorrect.">
            <a:extLst>
              <a:ext uri="{FF2B5EF4-FFF2-40B4-BE49-F238E27FC236}">
                <a16:creationId xmlns:a16="http://schemas.microsoft.com/office/drawing/2014/main" id="{E2FC6066-D00A-3382-EA12-227EEAD78516}"/>
              </a:ext>
            </a:extLst>
          </p:cNvPr>
          <p:cNvPicPr>
            <a:picLocks noChangeAspect="1"/>
          </p:cNvPicPr>
          <p:nvPr/>
        </p:nvPicPr>
        <p:blipFill>
          <a:blip r:embed="rId4"/>
          <a:stretch>
            <a:fillRect/>
          </a:stretch>
        </p:blipFill>
        <p:spPr>
          <a:xfrm>
            <a:off x="2180034" y="1327849"/>
            <a:ext cx="3915966" cy="2948492"/>
          </a:xfrm>
          <a:prstGeom prst="rect">
            <a:avLst/>
          </a:prstGeom>
        </p:spPr>
      </p:pic>
      <p:pic>
        <p:nvPicPr>
          <p:cNvPr id="53" name="Picture 2">
            <a:extLst>
              <a:ext uri="{FF2B5EF4-FFF2-40B4-BE49-F238E27FC236}">
                <a16:creationId xmlns:a16="http://schemas.microsoft.com/office/drawing/2014/main" id="{201EC0EB-91A1-5917-8214-FBF2941712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94854" y="3989949"/>
            <a:ext cx="3338512" cy="2503884"/>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53" descr="A group of men sitting at a table&#10;&#10;AI-generated content may be incorrect.">
            <a:extLst>
              <a:ext uri="{FF2B5EF4-FFF2-40B4-BE49-F238E27FC236}">
                <a16:creationId xmlns:a16="http://schemas.microsoft.com/office/drawing/2014/main" id="{3A9CF824-0DB4-6760-E175-3CFD4EAC8882}"/>
              </a:ext>
            </a:extLst>
          </p:cNvPr>
          <p:cNvPicPr>
            <a:picLocks noChangeAspect="1"/>
          </p:cNvPicPr>
          <p:nvPr/>
        </p:nvPicPr>
        <p:blipFill>
          <a:blip r:embed="rId6"/>
          <a:stretch>
            <a:fillRect/>
          </a:stretch>
        </p:blipFill>
        <p:spPr>
          <a:xfrm>
            <a:off x="6294854" y="1327849"/>
            <a:ext cx="3338512" cy="2503884"/>
          </a:xfrm>
          <a:prstGeom prst="rect">
            <a:avLst/>
          </a:prstGeom>
        </p:spPr>
      </p:pic>
      <p:pic>
        <p:nvPicPr>
          <p:cNvPr id="3" name="Picture 2">
            <a:extLst>
              <a:ext uri="{FF2B5EF4-FFF2-40B4-BE49-F238E27FC236}">
                <a16:creationId xmlns:a16="http://schemas.microsoft.com/office/drawing/2014/main" id="{16BA7446-120E-DF06-3332-41BF29DF048F}"/>
              </a:ext>
            </a:extLst>
          </p:cNvPr>
          <p:cNvPicPr>
            <a:picLocks noChangeAspect="1"/>
          </p:cNvPicPr>
          <p:nvPr/>
        </p:nvPicPr>
        <p:blipFill>
          <a:blip r:embed="rId7"/>
          <a:srcRect l="12382" r="3723"/>
          <a:stretch/>
        </p:blipFill>
        <p:spPr>
          <a:xfrm>
            <a:off x="3656454" y="4636355"/>
            <a:ext cx="2439545" cy="1931498"/>
          </a:xfrm>
          <a:prstGeom prst="rect">
            <a:avLst/>
          </a:prstGeom>
        </p:spPr>
      </p:pic>
    </p:spTree>
    <p:extLst>
      <p:ext uri="{BB962C8B-B14F-4D97-AF65-F5344CB8AC3E}">
        <p14:creationId xmlns:p14="http://schemas.microsoft.com/office/powerpoint/2010/main" val="31663023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F9A2183-5C8D-9C09-F1A9-A467A9CCBB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393DDD-F753-E5B6-FBBC-70D36AC7714C}"/>
              </a:ext>
            </a:extLst>
          </p:cNvPr>
          <p:cNvSpPr>
            <a:spLocks noGrp="1"/>
          </p:cNvSpPr>
          <p:nvPr>
            <p:ph type="title"/>
          </p:nvPr>
        </p:nvSpPr>
        <p:spPr>
          <a:xfrm>
            <a:off x="838200" y="115743"/>
            <a:ext cx="10515600" cy="1325563"/>
          </a:xfrm>
        </p:spPr>
        <p:txBody>
          <a:bodyPr>
            <a:normAutofit fontScale="90000"/>
          </a:bodyPr>
          <a:lstStyle/>
          <a:p>
            <a:r>
              <a:rPr lang="en-US" dirty="0"/>
              <a:t>Occ visual decoding. 51 channels x 641 timepoints. This is using randomly chosen minimum number of good trials across decoding classes</a:t>
            </a:r>
          </a:p>
        </p:txBody>
      </p:sp>
      <p:sp>
        <p:nvSpPr>
          <p:cNvPr id="6" name="TextBox 5">
            <a:extLst>
              <a:ext uri="{FF2B5EF4-FFF2-40B4-BE49-F238E27FC236}">
                <a16:creationId xmlns:a16="http://schemas.microsoft.com/office/drawing/2014/main" id="{A21286A0-062E-9801-5DFD-2A54566A6EA9}"/>
              </a:ext>
            </a:extLst>
          </p:cNvPr>
          <p:cNvSpPr txBox="1"/>
          <p:nvPr/>
        </p:nvSpPr>
        <p:spPr>
          <a:xfrm>
            <a:off x="92365" y="2044512"/>
            <a:ext cx="4368798" cy="738664"/>
          </a:xfrm>
          <a:prstGeom prst="rect">
            <a:avLst/>
          </a:prstGeom>
          <a:noFill/>
        </p:spPr>
        <p:txBody>
          <a:bodyPr wrap="square" rtlCol="0">
            <a:spAutoFit/>
          </a:bodyPr>
          <a:lstStyle/>
          <a:p>
            <a:r>
              <a:rPr lang="en-US" sz="1400" dirty="0"/>
              <a:t>big letter decoding. 51 channels x 641 timepoints. 96 big letter s, 110 big letter h</a:t>
            </a:r>
          </a:p>
          <a:p>
            <a:r>
              <a:rPr lang="en-US" sz="1400" dirty="0"/>
              <a:t>5 splits, 10 repeats</a:t>
            </a:r>
          </a:p>
        </p:txBody>
      </p:sp>
      <p:sp>
        <p:nvSpPr>
          <p:cNvPr id="10" name="TextBox 9">
            <a:extLst>
              <a:ext uri="{FF2B5EF4-FFF2-40B4-BE49-F238E27FC236}">
                <a16:creationId xmlns:a16="http://schemas.microsoft.com/office/drawing/2014/main" id="{69B1F8AA-D11C-F171-42A6-14667D6CB9AD}"/>
              </a:ext>
            </a:extLst>
          </p:cNvPr>
          <p:cNvSpPr txBox="1"/>
          <p:nvPr/>
        </p:nvSpPr>
        <p:spPr>
          <a:xfrm>
            <a:off x="8326583" y="2027444"/>
            <a:ext cx="4368798" cy="738664"/>
          </a:xfrm>
          <a:prstGeom prst="rect">
            <a:avLst/>
          </a:prstGeom>
          <a:noFill/>
        </p:spPr>
        <p:txBody>
          <a:bodyPr wrap="square" rtlCol="0">
            <a:spAutoFit/>
          </a:bodyPr>
          <a:lstStyle/>
          <a:p>
            <a:r>
              <a:rPr lang="en-US" sz="1400" dirty="0"/>
              <a:t>Task decoding. 51 channels x 641 timepoints. 116 task g, 90 task l</a:t>
            </a:r>
          </a:p>
          <a:p>
            <a:r>
              <a:rPr lang="en-US" sz="1400" dirty="0"/>
              <a:t>5 splits, 10 repeats</a:t>
            </a:r>
          </a:p>
        </p:txBody>
      </p:sp>
      <p:sp>
        <p:nvSpPr>
          <p:cNvPr id="11" name="TextBox 10">
            <a:extLst>
              <a:ext uri="{FF2B5EF4-FFF2-40B4-BE49-F238E27FC236}">
                <a16:creationId xmlns:a16="http://schemas.microsoft.com/office/drawing/2014/main" id="{D25EE7A1-60D0-3437-7671-D6EBACE81631}"/>
              </a:ext>
            </a:extLst>
          </p:cNvPr>
          <p:cNvSpPr txBox="1"/>
          <p:nvPr/>
        </p:nvSpPr>
        <p:spPr>
          <a:xfrm>
            <a:off x="4359565" y="2044513"/>
            <a:ext cx="4068616" cy="738664"/>
          </a:xfrm>
          <a:prstGeom prst="rect">
            <a:avLst/>
          </a:prstGeom>
          <a:noFill/>
        </p:spPr>
        <p:txBody>
          <a:bodyPr wrap="square" rtlCol="0">
            <a:spAutoFit/>
          </a:bodyPr>
          <a:lstStyle/>
          <a:p>
            <a:r>
              <a:rPr lang="en-US" sz="1400" dirty="0"/>
              <a:t>small letter decoding. 51 channels x 641 timepoints. 105 small letter s, 101 small letter h</a:t>
            </a:r>
          </a:p>
          <a:p>
            <a:r>
              <a:rPr lang="en-US" sz="1400" dirty="0"/>
              <a:t>5 splits, 10 repeats</a:t>
            </a:r>
          </a:p>
        </p:txBody>
      </p:sp>
      <p:pic>
        <p:nvPicPr>
          <p:cNvPr id="5" name="Picture 4" descr="A chart of different colored squares&#10;&#10;Description automatically generated">
            <a:extLst>
              <a:ext uri="{FF2B5EF4-FFF2-40B4-BE49-F238E27FC236}">
                <a16:creationId xmlns:a16="http://schemas.microsoft.com/office/drawing/2014/main" id="{11F75AE4-07E6-A7EC-B369-BC06ED82487A}"/>
              </a:ext>
            </a:extLst>
          </p:cNvPr>
          <p:cNvPicPr>
            <a:picLocks noChangeAspect="1"/>
          </p:cNvPicPr>
          <p:nvPr/>
        </p:nvPicPr>
        <p:blipFill>
          <a:blip r:embed="rId3"/>
          <a:stretch>
            <a:fillRect/>
          </a:stretch>
        </p:blipFill>
        <p:spPr>
          <a:xfrm>
            <a:off x="-22678" y="2783176"/>
            <a:ext cx="4267200" cy="3200400"/>
          </a:xfrm>
          <a:prstGeom prst="rect">
            <a:avLst/>
          </a:prstGeom>
        </p:spPr>
      </p:pic>
      <p:pic>
        <p:nvPicPr>
          <p:cNvPr id="9" name="Picture 8" descr="A chart of different colored squares&#10;&#10;Description automatically generated">
            <a:extLst>
              <a:ext uri="{FF2B5EF4-FFF2-40B4-BE49-F238E27FC236}">
                <a16:creationId xmlns:a16="http://schemas.microsoft.com/office/drawing/2014/main" id="{A71FFC2F-E0DB-1693-72EB-0B2B6A24BF72}"/>
              </a:ext>
            </a:extLst>
          </p:cNvPr>
          <p:cNvPicPr>
            <a:picLocks noChangeAspect="1"/>
          </p:cNvPicPr>
          <p:nvPr/>
        </p:nvPicPr>
        <p:blipFill>
          <a:blip r:embed="rId4"/>
          <a:stretch>
            <a:fillRect/>
          </a:stretch>
        </p:blipFill>
        <p:spPr>
          <a:xfrm>
            <a:off x="3863108" y="2783176"/>
            <a:ext cx="4267200" cy="3200400"/>
          </a:xfrm>
          <a:prstGeom prst="rect">
            <a:avLst/>
          </a:prstGeom>
        </p:spPr>
      </p:pic>
      <p:pic>
        <p:nvPicPr>
          <p:cNvPr id="14" name="Picture 13" descr="A chart of a graph&#10;&#10;Description automatically generated with medium confidence">
            <a:extLst>
              <a:ext uri="{FF2B5EF4-FFF2-40B4-BE49-F238E27FC236}">
                <a16:creationId xmlns:a16="http://schemas.microsoft.com/office/drawing/2014/main" id="{8F945B6D-7553-8D7A-7B98-17467D02EC8D}"/>
              </a:ext>
            </a:extLst>
          </p:cNvPr>
          <p:cNvPicPr>
            <a:picLocks noChangeAspect="1"/>
          </p:cNvPicPr>
          <p:nvPr/>
        </p:nvPicPr>
        <p:blipFill>
          <a:blip r:embed="rId5"/>
          <a:stretch>
            <a:fillRect/>
          </a:stretch>
        </p:blipFill>
        <p:spPr>
          <a:xfrm>
            <a:off x="7832435" y="2766108"/>
            <a:ext cx="4267200" cy="3200400"/>
          </a:xfrm>
          <a:prstGeom prst="rect">
            <a:avLst/>
          </a:prstGeom>
        </p:spPr>
      </p:pic>
    </p:spTree>
    <p:extLst>
      <p:ext uri="{BB962C8B-B14F-4D97-AF65-F5344CB8AC3E}">
        <p14:creationId xmlns:p14="http://schemas.microsoft.com/office/powerpoint/2010/main" val="17201790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E51BAC6-23F3-6CA5-3117-A1B731875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FADE05-2E9B-C1F3-6864-FB0B274A6449}"/>
              </a:ext>
            </a:extLst>
          </p:cNvPr>
          <p:cNvSpPr>
            <a:spLocks noGrp="1"/>
          </p:cNvSpPr>
          <p:nvPr>
            <p:ph type="title"/>
          </p:nvPr>
        </p:nvSpPr>
        <p:spPr>
          <a:xfrm>
            <a:off x="838200" y="115743"/>
            <a:ext cx="10515600" cy="1325563"/>
          </a:xfrm>
        </p:spPr>
        <p:txBody>
          <a:bodyPr>
            <a:normAutofit fontScale="90000"/>
          </a:bodyPr>
          <a:lstStyle/>
          <a:p>
            <a:r>
              <a:rPr lang="en-US" dirty="0" err="1"/>
              <a:t>lpfc</a:t>
            </a:r>
            <a:r>
              <a:rPr lang="en-US" dirty="0"/>
              <a:t> visual decoding. 59 channels x 641 timepoints. This is using randomly chosen minimum number of good trials across decoding classes</a:t>
            </a:r>
          </a:p>
        </p:txBody>
      </p:sp>
      <p:sp>
        <p:nvSpPr>
          <p:cNvPr id="6" name="TextBox 5">
            <a:extLst>
              <a:ext uri="{FF2B5EF4-FFF2-40B4-BE49-F238E27FC236}">
                <a16:creationId xmlns:a16="http://schemas.microsoft.com/office/drawing/2014/main" id="{00F43589-E95C-BF67-8D7B-0DD0A0BD8B06}"/>
              </a:ext>
            </a:extLst>
          </p:cNvPr>
          <p:cNvSpPr txBox="1"/>
          <p:nvPr/>
        </p:nvSpPr>
        <p:spPr>
          <a:xfrm>
            <a:off x="-32327" y="2010914"/>
            <a:ext cx="4368798" cy="523220"/>
          </a:xfrm>
          <a:prstGeom prst="rect">
            <a:avLst/>
          </a:prstGeom>
          <a:noFill/>
        </p:spPr>
        <p:txBody>
          <a:bodyPr wrap="square" rtlCol="0">
            <a:spAutoFit/>
          </a:bodyPr>
          <a:lstStyle/>
          <a:p>
            <a:r>
              <a:rPr lang="en-US" sz="1400" dirty="0"/>
              <a:t>big letter decoding. 59 channels x 641 timepoints. 83 big letter s, 100 big letter h. 5 splits, 10 repeats</a:t>
            </a:r>
          </a:p>
        </p:txBody>
      </p:sp>
      <p:sp>
        <p:nvSpPr>
          <p:cNvPr id="13" name="TextBox 12">
            <a:extLst>
              <a:ext uri="{FF2B5EF4-FFF2-40B4-BE49-F238E27FC236}">
                <a16:creationId xmlns:a16="http://schemas.microsoft.com/office/drawing/2014/main" id="{200B7942-FA5B-90AA-A6A7-9B2BE7C6AA8E}"/>
              </a:ext>
            </a:extLst>
          </p:cNvPr>
          <p:cNvSpPr txBox="1"/>
          <p:nvPr/>
        </p:nvSpPr>
        <p:spPr>
          <a:xfrm>
            <a:off x="8331198" y="1934851"/>
            <a:ext cx="4368798" cy="523220"/>
          </a:xfrm>
          <a:prstGeom prst="rect">
            <a:avLst/>
          </a:prstGeom>
          <a:noFill/>
        </p:spPr>
        <p:txBody>
          <a:bodyPr wrap="square" rtlCol="0">
            <a:spAutoFit/>
          </a:bodyPr>
          <a:lstStyle/>
          <a:p>
            <a:r>
              <a:rPr lang="en-US" sz="1400" dirty="0"/>
              <a:t>Task decoding. 59 channels x 641 timepoints. 104 task g, 79 task l. 5 splits, 10 repeats</a:t>
            </a:r>
          </a:p>
        </p:txBody>
      </p:sp>
      <p:sp>
        <p:nvSpPr>
          <p:cNvPr id="14" name="TextBox 13">
            <a:extLst>
              <a:ext uri="{FF2B5EF4-FFF2-40B4-BE49-F238E27FC236}">
                <a16:creationId xmlns:a16="http://schemas.microsoft.com/office/drawing/2014/main" id="{CDDB53F5-F81C-F1D4-0E13-01BF253CD578}"/>
              </a:ext>
            </a:extLst>
          </p:cNvPr>
          <p:cNvSpPr txBox="1"/>
          <p:nvPr/>
        </p:nvSpPr>
        <p:spPr>
          <a:xfrm>
            <a:off x="4234873" y="1954618"/>
            <a:ext cx="4368798" cy="523220"/>
          </a:xfrm>
          <a:prstGeom prst="rect">
            <a:avLst/>
          </a:prstGeom>
          <a:noFill/>
        </p:spPr>
        <p:txBody>
          <a:bodyPr wrap="square" rtlCol="0">
            <a:spAutoFit/>
          </a:bodyPr>
          <a:lstStyle/>
          <a:p>
            <a:r>
              <a:rPr lang="en-US" sz="1400" dirty="0"/>
              <a:t>small letter decoding. 59 channels x 641 timepoints. 88 small letter s, 95 small letter h. 5 splits, 10 repeats</a:t>
            </a:r>
          </a:p>
        </p:txBody>
      </p:sp>
      <p:pic>
        <p:nvPicPr>
          <p:cNvPr id="5" name="Picture 4" descr="A yellow and purple squares with black text&#10;&#10;Description automatically generated">
            <a:extLst>
              <a:ext uri="{FF2B5EF4-FFF2-40B4-BE49-F238E27FC236}">
                <a16:creationId xmlns:a16="http://schemas.microsoft.com/office/drawing/2014/main" id="{9A9E494B-82F7-8979-97C0-FCAE90920276}"/>
              </a:ext>
            </a:extLst>
          </p:cNvPr>
          <p:cNvPicPr>
            <a:picLocks noChangeAspect="1"/>
          </p:cNvPicPr>
          <p:nvPr/>
        </p:nvPicPr>
        <p:blipFill>
          <a:blip r:embed="rId3"/>
          <a:stretch>
            <a:fillRect/>
          </a:stretch>
        </p:blipFill>
        <p:spPr>
          <a:xfrm>
            <a:off x="8042565" y="2700669"/>
            <a:ext cx="4267200" cy="3200400"/>
          </a:xfrm>
          <a:prstGeom prst="rect">
            <a:avLst/>
          </a:prstGeom>
        </p:spPr>
      </p:pic>
      <p:pic>
        <p:nvPicPr>
          <p:cNvPr id="9" name="Picture 8" descr="A chart of a number of colored squares&#10;&#10;Description automatically generated with medium confidence">
            <a:extLst>
              <a:ext uri="{FF2B5EF4-FFF2-40B4-BE49-F238E27FC236}">
                <a16:creationId xmlns:a16="http://schemas.microsoft.com/office/drawing/2014/main" id="{2E404060-294B-ABE8-22C2-74A621EC0220}"/>
              </a:ext>
            </a:extLst>
          </p:cNvPr>
          <p:cNvPicPr>
            <a:picLocks noChangeAspect="1"/>
          </p:cNvPicPr>
          <p:nvPr/>
        </p:nvPicPr>
        <p:blipFill>
          <a:blip r:embed="rId4"/>
          <a:stretch>
            <a:fillRect/>
          </a:stretch>
        </p:blipFill>
        <p:spPr>
          <a:xfrm>
            <a:off x="4063998" y="2693845"/>
            <a:ext cx="4267200" cy="3200400"/>
          </a:xfrm>
          <a:prstGeom prst="rect">
            <a:avLst/>
          </a:prstGeom>
        </p:spPr>
      </p:pic>
      <p:pic>
        <p:nvPicPr>
          <p:cNvPr id="11" name="Picture 10" descr="A chart of different colored squares&#10;&#10;Description automatically generated">
            <a:extLst>
              <a:ext uri="{FF2B5EF4-FFF2-40B4-BE49-F238E27FC236}">
                <a16:creationId xmlns:a16="http://schemas.microsoft.com/office/drawing/2014/main" id="{2CE74B2A-38A0-A865-05E1-7011C7BD9D5F}"/>
              </a:ext>
            </a:extLst>
          </p:cNvPr>
          <p:cNvPicPr>
            <a:picLocks noChangeAspect="1"/>
          </p:cNvPicPr>
          <p:nvPr/>
        </p:nvPicPr>
        <p:blipFill>
          <a:blip r:embed="rId5"/>
          <a:stretch>
            <a:fillRect/>
          </a:stretch>
        </p:blipFill>
        <p:spPr>
          <a:xfrm>
            <a:off x="-117763" y="2687021"/>
            <a:ext cx="4267200" cy="3200400"/>
          </a:xfrm>
          <a:prstGeom prst="rect">
            <a:avLst/>
          </a:prstGeom>
        </p:spPr>
      </p:pic>
    </p:spTree>
    <p:extLst>
      <p:ext uri="{BB962C8B-B14F-4D97-AF65-F5344CB8AC3E}">
        <p14:creationId xmlns:p14="http://schemas.microsoft.com/office/powerpoint/2010/main" val="4285762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31D2928-3D63-4F5B-DA5B-5B2416E00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60436-12F8-A1B0-C71B-5A413D09A2FD}"/>
              </a:ext>
            </a:extLst>
          </p:cNvPr>
          <p:cNvSpPr>
            <a:spLocks noGrp="1"/>
          </p:cNvSpPr>
          <p:nvPr>
            <p:ph type="title"/>
          </p:nvPr>
        </p:nvSpPr>
        <p:spPr>
          <a:xfrm>
            <a:off x="838200" y="115743"/>
            <a:ext cx="11353800" cy="1325563"/>
          </a:xfrm>
        </p:spPr>
        <p:txBody>
          <a:bodyPr>
            <a:normAutofit fontScale="90000"/>
          </a:bodyPr>
          <a:lstStyle/>
          <a:p>
            <a:r>
              <a:rPr lang="en-US" dirty="0"/>
              <a:t>Occ cognitive control decoding. 51 channels x 641 timepoints. This is using randomly chosen minimum number of good trials across decoding classes</a:t>
            </a:r>
          </a:p>
        </p:txBody>
      </p:sp>
      <p:sp>
        <p:nvSpPr>
          <p:cNvPr id="6" name="TextBox 5">
            <a:extLst>
              <a:ext uri="{FF2B5EF4-FFF2-40B4-BE49-F238E27FC236}">
                <a16:creationId xmlns:a16="http://schemas.microsoft.com/office/drawing/2014/main" id="{44692E2E-F9DC-5FC5-B03C-612E7CBB2655}"/>
              </a:ext>
            </a:extLst>
          </p:cNvPr>
          <p:cNvSpPr txBox="1"/>
          <p:nvPr/>
        </p:nvSpPr>
        <p:spPr>
          <a:xfrm>
            <a:off x="92365" y="2044512"/>
            <a:ext cx="4368798" cy="523220"/>
          </a:xfrm>
          <a:prstGeom prst="rect">
            <a:avLst/>
          </a:prstGeom>
          <a:noFill/>
        </p:spPr>
        <p:txBody>
          <a:bodyPr wrap="square" rtlCol="0">
            <a:spAutoFit/>
          </a:bodyPr>
          <a:lstStyle/>
          <a:p>
            <a:r>
              <a:rPr lang="en-US" sz="1400" dirty="0"/>
              <a:t>Switch type decoding. 51 channels x 641 timepoints. 106 repeat, 98 switch trials. 5 splits, 10 repeats</a:t>
            </a:r>
          </a:p>
        </p:txBody>
      </p:sp>
      <p:sp>
        <p:nvSpPr>
          <p:cNvPr id="11" name="TextBox 10">
            <a:extLst>
              <a:ext uri="{FF2B5EF4-FFF2-40B4-BE49-F238E27FC236}">
                <a16:creationId xmlns:a16="http://schemas.microsoft.com/office/drawing/2014/main" id="{230572FD-6A44-8AF4-4C4F-82FC0E488F62}"/>
              </a:ext>
            </a:extLst>
          </p:cNvPr>
          <p:cNvSpPr txBox="1"/>
          <p:nvPr/>
        </p:nvSpPr>
        <p:spPr>
          <a:xfrm>
            <a:off x="4359565" y="2044513"/>
            <a:ext cx="4068616" cy="738664"/>
          </a:xfrm>
          <a:prstGeom prst="rect">
            <a:avLst/>
          </a:prstGeom>
          <a:noFill/>
        </p:spPr>
        <p:txBody>
          <a:bodyPr wrap="square" rtlCol="0">
            <a:spAutoFit/>
          </a:bodyPr>
          <a:lstStyle/>
          <a:p>
            <a:r>
              <a:rPr lang="en-US" sz="1400" dirty="0"/>
              <a:t>Congruency decoding. 51 channels x 641 timepoints. 120 congruent, 84 incongruent trials. 5 splits, 10 repeats</a:t>
            </a:r>
          </a:p>
        </p:txBody>
      </p:sp>
      <p:pic>
        <p:nvPicPr>
          <p:cNvPr id="4" name="Picture 3">
            <a:extLst>
              <a:ext uri="{FF2B5EF4-FFF2-40B4-BE49-F238E27FC236}">
                <a16:creationId xmlns:a16="http://schemas.microsoft.com/office/drawing/2014/main" id="{27CC3D71-A31B-0C7C-E7C2-18B768DB213F}"/>
              </a:ext>
            </a:extLst>
          </p:cNvPr>
          <p:cNvPicPr>
            <a:picLocks noChangeAspect="1"/>
          </p:cNvPicPr>
          <p:nvPr/>
        </p:nvPicPr>
        <p:blipFill>
          <a:blip r:embed="rId2"/>
          <a:stretch>
            <a:fillRect/>
          </a:stretch>
        </p:blipFill>
        <p:spPr>
          <a:xfrm>
            <a:off x="0" y="2783175"/>
            <a:ext cx="4267200" cy="3200400"/>
          </a:xfrm>
          <a:prstGeom prst="rect">
            <a:avLst/>
          </a:prstGeom>
        </p:spPr>
      </p:pic>
      <p:pic>
        <p:nvPicPr>
          <p:cNvPr id="8" name="Picture 7" descr="A chart of a colorful box&#10;&#10;Description automatically generated with medium confidence">
            <a:extLst>
              <a:ext uri="{FF2B5EF4-FFF2-40B4-BE49-F238E27FC236}">
                <a16:creationId xmlns:a16="http://schemas.microsoft.com/office/drawing/2014/main" id="{A6C1467C-CC2E-0230-99A8-8E7B3A015FD9}"/>
              </a:ext>
            </a:extLst>
          </p:cNvPr>
          <p:cNvPicPr>
            <a:picLocks noChangeAspect="1"/>
          </p:cNvPicPr>
          <p:nvPr/>
        </p:nvPicPr>
        <p:blipFill>
          <a:blip r:embed="rId3"/>
          <a:stretch>
            <a:fillRect/>
          </a:stretch>
        </p:blipFill>
        <p:spPr>
          <a:xfrm>
            <a:off x="4267200" y="2783175"/>
            <a:ext cx="4267200" cy="3200400"/>
          </a:xfrm>
          <a:prstGeom prst="rect">
            <a:avLst/>
          </a:prstGeom>
        </p:spPr>
      </p:pic>
    </p:spTree>
    <p:extLst>
      <p:ext uri="{BB962C8B-B14F-4D97-AF65-F5344CB8AC3E}">
        <p14:creationId xmlns:p14="http://schemas.microsoft.com/office/powerpoint/2010/main" val="17996806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54692EB-F8E1-2F1A-D6A6-96BD12A13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0CA0D-D75F-957D-BE24-840DB9A25B48}"/>
              </a:ext>
            </a:extLst>
          </p:cNvPr>
          <p:cNvSpPr>
            <a:spLocks noGrp="1"/>
          </p:cNvSpPr>
          <p:nvPr>
            <p:ph type="title"/>
          </p:nvPr>
        </p:nvSpPr>
        <p:spPr>
          <a:xfrm>
            <a:off x="0" y="115743"/>
            <a:ext cx="11353800" cy="1325563"/>
          </a:xfrm>
        </p:spPr>
        <p:txBody>
          <a:bodyPr>
            <a:normAutofit fontScale="90000"/>
          </a:bodyPr>
          <a:lstStyle/>
          <a:p>
            <a:r>
              <a:rPr lang="en-US" dirty="0" err="1"/>
              <a:t>lpfc</a:t>
            </a:r>
            <a:r>
              <a:rPr lang="en-US" dirty="0"/>
              <a:t> cognitive control decoding. 59 channels x 641 timepoints. This is using randomly chosen minimum number of good trials across decoding classes</a:t>
            </a:r>
          </a:p>
        </p:txBody>
      </p:sp>
      <p:sp>
        <p:nvSpPr>
          <p:cNvPr id="6" name="TextBox 5">
            <a:extLst>
              <a:ext uri="{FF2B5EF4-FFF2-40B4-BE49-F238E27FC236}">
                <a16:creationId xmlns:a16="http://schemas.microsoft.com/office/drawing/2014/main" id="{62AA7AE2-8F93-5A1C-0B8E-BADC52B002A2}"/>
              </a:ext>
            </a:extLst>
          </p:cNvPr>
          <p:cNvSpPr txBox="1"/>
          <p:nvPr/>
        </p:nvSpPr>
        <p:spPr>
          <a:xfrm>
            <a:off x="-32327" y="2010914"/>
            <a:ext cx="4368798" cy="523220"/>
          </a:xfrm>
          <a:prstGeom prst="rect">
            <a:avLst/>
          </a:prstGeom>
          <a:noFill/>
        </p:spPr>
        <p:txBody>
          <a:bodyPr wrap="square" rtlCol="0">
            <a:spAutoFit/>
          </a:bodyPr>
          <a:lstStyle/>
          <a:p>
            <a:r>
              <a:rPr lang="en-US" sz="1400" dirty="0"/>
              <a:t>Switch type decoding. 59 channels x 641 timepoints. 111 repeat, 92 switch trials.  5 splits, 10 repeats</a:t>
            </a:r>
          </a:p>
        </p:txBody>
      </p:sp>
      <p:sp>
        <p:nvSpPr>
          <p:cNvPr id="14" name="TextBox 13">
            <a:extLst>
              <a:ext uri="{FF2B5EF4-FFF2-40B4-BE49-F238E27FC236}">
                <a16:creationId xmlns:a16="http://schemas.microsoft.com/office/drawing/2014/main" id="{1D397A41-07AD-02D6-291D-2DE39030AD4B}"/>
              </a:ext>
            </a:extLst>
          </p:cNvPr>
          <p:cNvSpPr txBox="1"/>
          <p:nvPr/>
        </p:nvSpPr>
        <p:spPr>
          <a:xfrm>
            <a:off x="4234873" y="1954618"/>
            <a:ext cx="4368798" cy="523220"/>
          </a:xfrm>
          <a:prstGeom prst="rect">
            <a:avLst/>
          </a:prstGeom>
          <a:noFill/>
        </p:spPr>
        <p:txBody>
          <a:bodyPr wrap="square" rtlCol="0">
            <a:spAutoFit/>
          </a:bodyPr>
          <a:lstStyle/>
          <a:p>
            <a:r>
              <a:rPr lang="en-US" sz="1400" dirty="0"/>
              <a:t>Congruency decoding. 59 channels x 641 timepoints. 131 congruent, 72 incongruent trials. 5 splits, 10 repeats</a:t>
            </a:r>
          </a:p>
        </p:txBody>
      </p:sp>
      <p:pic>
        <p:nvPicPr>
          <p:cNvPr id="7" name="Picture 6" descr="A chart with different colored squares&#10;&#10;Description automatically generated">
            <a:extLst>
              <a:ext uri="{FF2B5EF4-FFF2-40B4-BE49-F238E27FC236}">
                <a16:creationId xmlns:a16="http://schemas.microsoft.com/office/drawing/2014/main" id="{3556E24D-970B-5D11-FDA0-46F7ECACC0CD}"/>
              </a:ext>
            </a:extLst>
          </p:cNvPr>
          <p:cNvPicPr>
            <a:picLocks noChangeAspect="1"/>
          </p:cNvPicPr>
          <p:nvPr/>
        </p:nvPicPr>
        <p:blipFill>
          <a:blip r:embed="rId3"/>
          <a:stretch>
            <a:fillRect/>
          </a:stretch>
        </p:blipFill>
        <p:spPr>
          <a:xfrm>
            <a:off x="0" y="2590430"/>
            <a:ext cx="4267200" cy="3200400"/>
          </a:xfrm>
          <a:prstGeom prst="rect">
            <a:avLst/>
          </a:prstGeom>
        </p:spPr>
      </p:pic>
      <p:pic>
        <p:nvPicPr>
          <p:cNvPr id="10" name="Picture 9" descr="A chart with different colored squares&#10;&#10;Description automatically generated">
            <a:extLst>
              <a:ext uri="{FF2B5EF4-FFF2-40B4-BE49-F238E27FC236}">
                <a16:creationId xmlns:a16="http://schemas.microsoft.com/office/drawing/2014/main" id="{D00A1CCB-4AB0-98A6-087D-E5DD993E8D04}"/>
              </a:ext>
            </a:extLst>
          </p:cNvPr>
          <p:cNvPicPr>
            <a:picLocks noChangeAspect="1"/>
          </p:cNvPicPr>
          <p:nvPr/>
        </p:nvPicPr>
        <p:blipFill>
          <a:blip r:embed="rId4"/>
          <a:stretch>
            <a:fillRect/>
          </a:stretch>
        </p:blipFill>
        <p:spPr>
          <a:xfrm>
            <a:off x="4114104" y="2590430"/>
            <a:ext cx="4267200" cy="3200400"/>
          </a:xfrm>
          <a:prstGeom prst="rect">
            <a:avLst/>
          </a:prstGeom>
        </p:spPr>
      </p:pic>
    </p:spTree>
    <p:extLst>
      <p:ext uri="{BB962C8B-B14F-4D97-AF65-F5344CB8AC3E}">
        <p14:creationId xmlns:p14="http://schemas.microsoft.com/office/powerpoint/2010/main" val="1821624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F54FF-A25C-C13B-4EE7-AF5C5388380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87220AF-338A-2A66-D3B7-BD5A69434FE8}"/>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ABCC5037-4945-A997-B36B-BD05B0B557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671" y="681037"/>
            <a:ext cx="12028658" cy="5495925"/>
          </a:xfrm>
          <a:prstGeom prst="rect">
            <a:avLst/>
          </a:prstGeom>
        </p:spPr>
      </p:pic>
    </p:spTree>
    <p:extLst>
      <p:ext uri="{BB962C8B-B14F-4D97-AF65-F5344CB8AC3E}">
        <p14:creationId xmlns:p14="http://schemas.microsoft.com/office/powerpoint/2010/main" val="24327388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DA2E6-94FC-9F01-259A-5C343C65A68D}"/>
              </a:ext>
            </a:extLst>
          </p:cNvPr>
          <p:cNvSpPr>
            <a:spLocks noGrp="1"/>
          </p:cNvSpPr>
          <p:nvPr>
            <p:ph type="title"/>
          </p:nvPr>
        </p:nvSpPr>
        <p:spPr/>
        <p:txBody>
          <a:bodyPr/>
          <a:lstStyle/>
          <a:p>
            <a:endParaRPr lang="en-US" dirty="0"/>
          </a:p>
        </p:txBody>
      </p:sp>
      <p:pic>
        <p:nvPicPr>
          <p:cNvPr id="5" name="Content Placeholder 4" descr="A diagram of different types of graphs&#10;&#10;Description automatically generated with medium confidence">
            <a:extLst>
              <a:ext uri="{FF2B5EF4-FFF2-40B4-BE49-F238E27FC236}">
                <a16:creationId xmlns:a16="http://schemas.microsoft.com/office/drawing/2014/main" id="{B57D6461-F75B-0627-594A-FE34785BEBB4}"/>
              </a:ext>
            </a:extLst>
          </p:cNvPr>
          <p:cNvPicPr>
            <a:picLocks noGrp="1" noChangeAspect="1"/>
          </p:cNvPicPr>
          <p:nvPr>
            <p:ph idx="1"/>
          </p:nvPr>
        </p:nvPicPr>
        <p:blipFill rotWithShape="1">
          <a:blip r:embed="rId3"/>
          <a:srcRect t="1619"/>
          <a:stretch/>
        </p:blipFill>
        <p:spPr>
          <a:xfrm>
            <a:off x="1685588" y="0"/>
            <a:ext cx="8820824" cy="6857999"/>
          </a:xfrm>
        </p:spPr>
      </p:pic>
      <p:sp>
        <p:nvSpPr>
          <p:cNvPr id="6" name="TextBox 5">
            <a:extLst>
              <a:ext uri="{FF2B5EF4-FFF2-40B4-BE49-F238E27FC236}">
                <a16:creationId xmlns:a16="http://schemas.microsoft.com/office/drawing/2014/main" id="{CCAED40E-0624-2596-104E-6B88D7495DBC}"/>
              </a:ext>
            </a:extLst>
          </p:cNvPr>
          <p:cNvSpPr txBox="1"/>
          <p:nvPr/>
        </p:nvSpPr>
        <p:spPr>
          <a:xfrm>
            <a:off x="-20252" y="0"/>
            <a:ext cx="1282146" cy="369332"/>
          </a:xfrm>
          <a:prstGeom prst="rect">
            <a:avLst/>
          </a:prstGeom>
          <a:noFill/>
        </p:spPr>
        <p:txBody>
          <a:bodyPr wrap="none" rtlCol="0">
            <a:spAutoFit/>
          </a:bodyPr>
          <a:lstStyle/>
          <a:p>
            <a:r>
              <a:rPr lang="en-US" dirty="0" err="1"/>
              <a:t>Egner</a:t>
            </a:r>
            <a:r>
              <a:rPr lang="en-US" dirty="0"/>
              <a:t>, 2023</a:t>
            </a:r>
          </a:p>
        </p:txBody>
      </p:sp>
    </p:spTree>
    <p:extLst>
      <p:ext uri="{BB962C8B-B14F-4D97-AF65-F5344CB8AC3E}">
        <p14:creationId xmlns:p14="http://schemas.microsoft.com/office/powerpoint/2010/main" val="15050896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B2117-8898-44A0-BEE5-58A970D54377}"/>
              </a:ext>
            </a:extLst>
          </p:cNvPr>
          <p:cNvSpPr>
            <a:spLocks noGrp="1"/>
          </p:cNvSpPr>
          <p:nvPr>
            <p:ph type="title"/>
          </p:nvPr>
        </p:nvSpPr>
        <p:spPr/>
        <p:txBody>
          <a:bodyPr/>
          <a:lstStyle/>
          <a:p>
            <a:r>
              <a:rPr lang="en-US" dirty="0"/>
              <a:t>Occ visual decoding over time (200 </a:t>
            </a:r>
            <a:r>
              <a:rPr lang="en-US" dirty="0" err="1"/>
              <a:t>ms</a:t>
            </a:r>
            <a:r>
              <a:rPr lang="en-US" dirty="0"/>
              <a:t> bins, dots at bin centers)</a:t>
            </a:r>
          </a:p>
        </p:txBody>
      </p:sp>
      <p:pic>
        <p:nvPicPr>
          <p:cNvPr id="9" name="Picture 8">
            <a:extLst>
              <a:ext uri="{FF2B5EF4-FFF2-40B4-BE49-F238E27FC236}">
                <a16:creationId xmlns:a16="http://schemas.microsoft.com/office/drawing/2014/main" id="{F62BC95F-B36D-4C90-A4FD-5FFDDD22F126}"/>
              </a:ext>
            </a:extLst>
          </p:cNvPr>
          <p:cNvPicPr>
            <a:picLocks noChangeAspect="1"/>
          </p:cNvPicPr>
          <p:nvPr/>
        </p:nvPicPr>
        <p:blipFill>
          <a:blip r:embed="rId2"/>
          <a:stretch>
            <a:fillRect/>
          </a:stretch>
        </p:blipFill>
        <p:spPr>
          <a:xfrm>
            <a:off x="8408885" y="1900517"/>
            <a:ext cx="4572000" cy="2743200"/>
          </a:xfrm>
          <a:prstGeom prst="rect">
            <a:avLst/>
          </a:prstGeom>
        </p:spPr>
      </p:pic>
      <p:pic>
        <p:nvPicPr>
          <p:cNvPr id="11" name="Picture 10">
            <a:extLst>
              <a:ext uri="{FF2B5EF4-FFF2-40B4-BE49-F238E27FC236}">
                <a16:creationId xmlns:a16="http://schemas.microsoft.com/office/drawing/2014/main" id="{0043B455-D9E3-4FD2-8244-5DADE01E9440}"/>
              </a:ext>
            </a:extLst>
          </p:cNvPr>
          <p:cNvPicPr>
            <a:picLocks noChangeAspect="1"/>
          </p:cNvPicPr>
          <p:nvPr/>
        </p:nvPicPr>
        <p:blipFill>
          <a:blip r:embed="rId3"/>
          <a:stretch>
            <a:fillRect/>
          </a:stretch>
        </p:blipFill>
        <p:spPr>
          <a:xfrm>
            <a:off x="-80692" y="1900517"/>
            <a:ext cx="4572000" cy="2743200"/>
          </a:xfrm>
          <a:prstGeom prst="rect">
            <a:avLst/>
          </a:prstGeom>
        </p:spPr>
      </p:pic>
      <p:pic>
        <p:nvPicPr>
          <p:cNvPr id="15" name="Picture 14">
            <a:extLst>
              <a:ext uri="{FF2B5EF4-FFF2-40B4-BE49-F238E27FC236}">
                <a16:creationId xmlns:a16="http://schemas.microsoft.com/office/drawing/2014/main" id="{CD437574-8B36-473A-9920-E2AB294B954A}"/>
              </a:ext>
            </a:extLst>
          </p:cNvPr>
          <p:cNvPicPr>
            <a:picLocks noChangeAspect="1"/>
          </p:cNvPicPr>
          <p:nvPr/>
        </p:nvPicPr>
        <p:blipFill>
          <a:blip r:embed="rId4"/>
          <a:stretch>
            <a:fillRect/>
          </a:stretch>
        </p:blipFill>
        <p:spPr>
          <a:xfrm>
            <a:off x="4123755" y="1900517"/>
            <a:ext cx="4572000" cy="2743200"/>
          </a:xfrm>
          <a:prstGeom prst="rect">
            <a:avLst/>
          </a:prstGeom>
        </p:spPr>
      </p:pic>
    </p:spTree>
    <p:extLst>
      <p:ext uri="{BB962C8B-B14F-4D97-AF65-F5344CB8AC3E}">
        <p14:creationId xmlns:p14="http://schemas.microsoft.com/office/powerpoint/2010/main" val="37831420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B2117-8898-44A0-BEE5-58A970D54377}"/>
              </a:ext>
            </a:extLst>
          </p:cNvPr>
          <p:cNvSpPr>
            <a:spLocks noGrp="1"/>
          </p:cNvSpPr>
          <p:nvPr>
            <p:ph type="title"/>
          </p:nvPr>
        </p:nvSpPr>
        <p:spPr/>
        <p:txBody>
          <a:bodyPr/>
          <a:lstStyle/>
          <a:p>
            <a:r>
              <a:rPr lang="en-US" dirty="0"/>
              <a:t>Occ best filtered visual decoding over time</a:t>
            </a:r>
          </a:p>
        </p:txBody>
      </p:sp>
      <p:pic>
        <p:nvPicPr>
          <p:cNvPr id="4" name="Picture 3">
            <a:extLst>
              <a:ext uri="{FF2B5EF4-FFF2-40B4-BE49-F238E27FC236}">
                <a16:creationId xmlns:a16="http://schemas.microsoft.com/office/drawing/2014/main" id="{F68A19D0-A050-47FA-9CF6-3BE848297FB1}"/>
              </a:ext>
            </a:extLst>
          </p:cNvPr>
          <p:cNvPicPr>
            <a:picLocks noChangeAspect="1"/>
          </p:cNvPicPr>
          <p:nvPr/>
        </p:nvPicPr>
        <p:blipFill>
          <a:blip r:embed="rId2"/>
          <a:stretch>
            <a:fillRect/>
          </a:stretch>
        </p:blipFill>
        <p:spPr>
          <a:xfrm>
            <a:off x="4164097" y="1900517"/>
            <a:ext cx="4572000" cy="2743200"/>
          </a:xfrm>
          <a:prstGeom prst="rect">
            <a:avLst/>
          </a:prstGeom>
        </p:spPr>
      </p:pic>
      <p:pic>
        <p:nvPicPr>
          <p:cNvPr id="6" name="Picture 5">
            <a:extLst>
              <a:ext uri="{FF2B5EF4-FFF2-40B4-BE49-F238E27FC236}">
                <a16:creationId xmlns:a16="http://schemas.microsoft.com/office/drawing/2014/main" id="{5AE01425-05F7-4442-9C34-4FA5004971A3}"/>
              </a:ext>
            </a:extLst>
          </p:cNvPr>
          <p:cNvPicPr>
            <a:picLocks noChangeAspect="1"/>
          </p:cNvPicPr>
          <p:nvPr/>
        </p:nvPicPr>
        <p:blipFill>
          <a:blip r:embed="rId3"/>
          <a:stretch>
            <a:fillRect/>
          </a:stretch>
        </p:blipFill>
        <p:spPr>
          <a:xfrm>
            <a:off x="0" y="1900517"/>
            <a:ext cx="4572000" cy="2743200"/>
          </a:xfrm>
          <a:prstGeom prst="rect">
            <a:avLst/>
          </a:prstGeom>
        </p:spPr>
      </p:pic>
      <p:pic>
        <p:nvPicPr>
          <p:cNvPr id="8" name="Picture 7">
            <a:extLst>
              <a:ext uri="{FF2B5EF4-FFF2-40B4-BE49-F238E27FC236}">
                <a16:creationId xmlns:a16="http://schemas.microsoft.com/office/drawing/2014/main" id="{9BCBB613-9BA1-464E-9BFF-0E1C9F0FB43A}"/>
              </a:ext>
            </a:extLst>
          </p:cNvPr>
          <p:cNvPicPr>
            <a:picLocks noChangeAspect="1"/>
          </p:cNvPicPr>
          <p:nvPr/>
        </p:nvPicPr>
        <p:blipFill>
          <a:blip r:embed="rId4"/>
          <a:stretch>
            <a:fillRect/>
          </a:stretch>
        </p:blipFill>
        <p:spPr>
          <a:xfrm>
            <a:off x="8328194" y="1900517"/>
            <a:ext cx="4572000" cy="2743200"/>
          </a:xfrm>
          <a:prstGeom prst="rect">
            <a:avLst/>
          </a:prstGeom>
        </p:spPr>
      </p:pic>
    </p:spTree>
    <p:extLst>
      <p:ext uri="{BB962C8B-B14F-4D97-AF65-F5344CB8AC3E}">
        <p14:creationId xmlns:p14="http://schemas.microsoft.com/office/powerpoint/2010/main" val="4565132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B2117-8898-44A0-BEE5-58A970D54377}"/>
              </a:ext>
            </a:extLst>
          </p:cNvPr>
          <p:cNvSpPr>
            <a:spLocks noGrp="1"/>
          </p:cNvSpPr>
          <p:nvPr>
            <p:ph type="title"/>
          </p:nvPr>
        </p:nvSpPr>
        <p:spPr/>
        <p:txBody>
          <a:bodyPr/>
          <a:lstStyle/>
          <a:p>
            <a:r>
              <a:rPr lang="en-US" dirty="0" err="1"/>
              <a:t>lpfc</a:t>
            </a:r>
            <a:r>
              <a:rPr lang="en-US" dirty="0"/>
              <a:t> visual decoding over time</a:t>
            </a:r>
          </a:p>
        </p:txBody>
      </p:sp>
      <p:pic>
        <p:nvPicPr>
          <p:cNvPr id="4" name="Picture 3">
            <a:extLst>
              <a:ext uri="{FF2B5EF4-FFF2-40B4-BE49-F238E27FC236}">
                <a16:creationId xmlns:a16="http://schemas.microsoft.com/office/drawing/2014/main" id="{F727989E-7C1A-46B7-B1B9-B6424505F6E8}"/>
              </a:ext>
            </a:extLst>
          </p:cNvPr>
          <p:cNvPicPr>
            <a:picLocks noChangeAspect="1"/>
          </p:cNvPicPr>
          <p:nvPr/>
        </p:nvPicPr>
        <p:blipFill>
          <a:blip r:embed="rId2"/>
          <a:stretch>
            <a:fillRect/>
          </a:stretch>
        </p:blipFill>
        <p:spPr>
          <a:xfrm>
            <a:off x="-161375" y="1896029"/>
            <a:ext cx="4572000" cy="2743200"/>
          </a:xfrm>
          <a:prstGeom prst="rect">
            <a:avLst/>
          </a:prstGeom>
        </p:spPr>
      </p:pic>
      <p:pic>
        <p:nvPicPr>
          <p:cNvPr id="6" name="Picture 5">
            <a:extLst>
              <a:ext uri="{FF2B5EF4-FFF2-40B4-BE49-F238E27FC236}">
                <a16:creationId xmlns:a16="http://schemas.microsoft.com/office/drawing/2014/main" id="{4EB84A6D-C281-452F-8085-06FE9B3C9B32}"/>
              </a:ext>
            </a:extLst>
          </p:cNvPr>
          <p:cNvPicPr>
            <a:picLocks noChangeAspect="1"/>
          </p:cNvPicPr>
          <p:nvPr/>
        </p:nvPicPr>
        <p:blipFill>
          <a:blip r:embed="rId3"/>
          <a:stretch>
            <a:fillRect/>
          </a:stretch>
        </p:blipFill>
        <p:spPr>
          <a:xfrm>
            <a:off x="8265451" y="1896029"/>
            <a:ext cx="4572000" cy="2743200"/>
          </a:xfrm>
          <a:prstGeom prst="rect">
            <a:avLst/>
          </a:prstGeom>
        </p:spPr>
      </p:pic>
      <p:pic>
        <p:nvPicPr>
          <p:cNvPr id="8" name="Picture 7">
            <a:extLst>
              <a:ext uri="{FF2B5EF4-FFF2-40B4-BE49-F238E27FC236}">
                <a16:creationId xmlns:a16="http://schemas.microsoft.com/office/drawing/2014/main" id="{EFE2D6A6-EBEB-44A4-B761-73C9A08AE880}"/>
              </a:ext>
            </a:extLst>
          </p:cNvPr>
          <p:cNvPicPr>
            <a:picLocks noChangeAspect="1"/>
          </p:cNvPicPr>
          <p:nvPr/>
        </p:nvPicPr>
        <p:blipFill>
          <a:blip r:embed="rId4"/>
          <a:stretch>
            <a:fillRect/>
          </a:stretch>
        </p:blipFill>
        <p:spPr>
          <a:xfrm>
            <a:off x="4052038" y="1896029"/>
            <a:ext cx="4572000" cy="2743200"/>
          </a:xfrm>
          <a:prstGeom prst="rect">
            <a:avLst/>
          </a:prstGeom>
        </p:spPr>
      </p:pic>
    </p:spTree>
    <p:extLst>
      <p:ext uri="{BB962C8B-B14F-4D97-AF65-F5344CB8AC3E}">
        <p14:creationId xmlns:p14="http://schemas.microsoft.com/office/powerpoint/2010/main" val="36514319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F0CF1-A6E8-5E89-2222-4DFDE2FEB43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513769A-3700-619F-5315-98CD099E08A7}"/>
              </a:ext>
            </a:extLst>
          </p:cNvPr>
          <p:cNvSpPr>
            <a:spLocks noGrp="1"/>
          </p:cNvSpPr>
          <p:nvPr>
            <p:ph idx="1"/>
          </p:nvPr>
        </p:nvSpPr>
        <p:spPr/>
        <p:txBody>
          <a:bodyPr/>
          <a:lstStyle/>
          <a:p>
            <a:endParaRPr lang="en-US"/>
          </a:p>
        </p:txBody>
      </p:sp>
      <p:pic>
        <p:nvPicPr>
          <p:cNvPr id="4" name="Picture 3" descr="A squirrel eating a piece of food&#10;&#10;AI-generated content may be incorrect.">
            <a:extLst>
              <a:ext uri="{FF2B5EF4-FFF2-40B4-BE49-F238E27FC236}">
                <a16:creationId xmlns:a16="http://schemas.microsoft.com/office/drawing/2014/main" id="{72076749-A989-2769-EBAE-9C1DA10F1688}"/>
              </a:ext>
            </a:extLst>
          </p:cNvPr>
          <p:cNvPicPr>
            <a:picLocks noChangeAspect="1"/>
          </p:cNvPicPr>
          <p:nvPr/>
        </p:nvPicPr>
        <p:blipFill>
          <a:blip r:embed="rId2"/>
          <a:stretch>
            <a:fillRect/>
          </a:stretch>
        </p:blipFill>
        <p:spPr>
          <a:xfrm>
            <a:off x="4075436" y="0"/>
            <a:ext cx="3163564" cy="6858000"/>
          </a:xfrm>
          <a:prstGeom prst="rect">
            <a:avLst/>
          </a:prstGeom>
        </p:spPr>
      </p:pic>
    </p:spTree>
    <p:extLst>
      <p:ext uri="{BB962C8B-B14F-4D97-AF65-F5344CB8AC3E}">
        <p14:creationId xmlns:p14="http://schemas.microsoft.com/office/powerpoint/2010/main" val="17772122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1163EF44-4202-729F-67D8-401EB3D02E23}"/>
              </a:ext>
            </a:extLst>
          </p:cNvPr>
          <p:cNvGrpSpPr>
            <a:grpSpLocks noChangeAspect="1"/>
          </p:cNvGrpSpPr>
          <p:nvPr/>
        </p:nvGrpSpPr>
        <p:grpSpPr>
          <a:xfrm>
            <a:off x="1423109" y="61070"/>
            <a:ext cx="6698711" cy="2542492"/>
            <a:chOff x="300653" y="850851"/>
            <a:chExt cx="10779331" cy="3804988"/>
          </a:xfrm>
        </p:grpSpPr>
        <p:grpSp>
          <p:nvGrpSpPr>
            <p:cNvPr id="5" name="Group 4">
              <a:extLst>
                <a:ext uri="{FF2B5EF4-FFF2-40B4-BE49-F238E27FC236}">
                  <a16:creationId xmlns:a16="http://schemas.microsoft.com/office/drawing/2014/main" id="{DB0DE86B-530D-BC67-BCB7-F93DEAA0938F}"/>
                </a:ext>
              </a:extLst>
            </p:cNvPr>
            <p:cNvGrpSpPr/>
            <p:nvPr/>
          </p:nvGrpSpPr>
          <p:grpSpPr>
            <a:xfrm>
              <a:off x="300653" y="1451028"/>
              <a:ext cx="3144253" cy="1791121"/>
              <a:chOff x="1652336" y="2510590"/>
              <a:chExt cx="3144253" cy="1791121"/>
            </a:xfrm>
          </p:grpSpPr>
          <p:sp>
            <p:nvSpPr>
              <p:cNvPr id="6" name="Rectangle 5">
                <a:extLst>
                  <a:ext uri="{FF2B5EF4-FFF2-40B4-BE49-F238E27FC236}">
                    <a16:creationId xmlns:a16="http://schemas.microsoft.com/office/drawing/2014/main" id="{B4EE3BB4-F8BE-4D21-7D06-E34605F44C64}"/>
                  </a:ext>
                </a:extLst>
              </p:cNvPr>
              <p:cNvSpPr/>
              <p:nvPr/>
            </p:nvSpPr>
            <p:spPr>
              <a:xfrm>
                <a:off x="1652336" y="2510590"/>
                <a:ext cx="3144253" cy="1791121"/>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3E0021F-E3A6-7400-F59E-AD7926962F2D}"/>
                  </a:ext>
                </a:extLst>
              </p:cNvPr>
              <p:cNvSpPr/>
              <p:nvPr/>
            </p:nvSpPr>
            <p:spPr>
              <a:xfrm>
                <a:off x="2783972" y="2971800"/>
                <a:ext cx="914400" cy="9144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55EBFAF2-8611-7D14-930F-FD5C0B0FB8DC}"/>
                  </a:ext>
                </a:extLst>
              </p:cNvPr>
              <p:cNvSpPr txBox="1"/>
              <p:nvPr/>
            </p:nvSpPr>
            <p:spPr>
              <a:xfrm>
                <a:off x="2979312" y="3031728"/>
                <a:ext cx="367408" cy="523220"/>
              </a:xfrm>
              <a:prstGeom prst="rect">
                <a:avLst/>
              </a:prstGeom>
              <a:noFill/>
            </p:spPr>
            <p:txBody>
              <a:bodyPr wrap="none" rtlCol="0">
                <a:spAutoFit/>
              </a:bodyPr>
              <a:lstStyle/>
              <a:p>
                <a:r>
                  <a:rPr lang="en-US" sz="2800" b="1" dirty="0"/>
                  <a:t>4</a:t>
                </a:r>
                <a:endParaRPr lang="en-US" sz="3600" b="1" dirty="0"/>
              </a:p>
            </p:txBody>
          </p:sp>
        </p:grpSp>
        <p:grpSp>
          <p:nvGrpSpPr>
            <p:cNvPr id="13" name="Group 12">
              <a:extLst>
                <a:ext uri="{FF2B5EF4-FFF2-40B4-BE49-F238E27FC236}">
                  <a16:creationId xmlns:a16="http://schemas.microsoft.com/office/drawing/2014/main" id="{A723BDFE-6A34-02EC-2E92-87B9E0288BA0}"/>
                </a:ext>
              </a:extLst>
            </p:cNvPr>
            <p:cNvGrpSpPr/>
            <p:nvPr/>
          </p:nvGrpSpPr>
          <p:grpSpPr>
            <a:xfrm>
              <a:off x="2826614" y="1923459"/>
              <a:ext cx="3144253" cy="1791121"/>
              <a:chOff x="1652336" y="2510590"/>
              <a:chExt cx="3144253" cy="1791121"/>
            </a:xfrm>
            <a:solidFill>
              <a:schemeClr val="bg1"/>
            </a:solidFill>
          </p:grpSpPr>
          <p:sp>
            <p:nvSpPr>
              <p:cNvPr id="14" name="Rectangle 13">
                <a:extLst>
                  <a:ext uri="{FF2B5EF4-FFF2-40B4-BE49-F238E27FC236}">
                    <a16:creationId xmlns:a16="http://schemas.microsoft.com/office/drawing/2014/main" id="{D5043942-B063-1CEA-9489-16FA67C409F9}"/>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593C1A-9DA3-3F2B-69D2-BB4A873133AB}"/>
                  </a:ext>
                </a:extLst>
              </p:cNvPr>
              <p:cNvSpPr/>
              <p:nvPr/>
            </p:nvSpPr>
            <p:spPr>
              <a:xfrm>
                <a:off x="2783971" y="2971800"/>
                <a:ext cx="914400" cy="914399"/>
              </a:xfrm>
              <a:prstGeom prst="rect">
                <a:avLst/>
              </a:prstGeom>
              <a:grp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A562B4E-94F2-7CF4-D8C7-6452337B243B}"/>
                  </a:ext>
                </a:extLst>
              </p:cNvPr>
              <p:cNvSpPr txBox="1"/>
              <p:nvPr/>
            </p:nvSpPr>
            <p:spPr>
              <a:xfrm>
                <a:off x="2974734" y="3082516"/>
                <a:ext cx="367408" cy="523220"/>
              </a:xfrm>
              <a:prstGeom prst="rect">
                <a:avLst/>
              </a:prstGeom>
              <a:grpFill/>
            </p:spPr>
            <p:txBody>
              <a:bodyPr wrap="none" rtlCol="0">
                <a:spAutoFit/>
              </a:bodyPr>
              <a:lstStyle/>
              <a:p>
                <a:r>
                  <a:rPr lang="en-US" sz="2800" b="1" dirty="0"/>
                  <a:t>2</a:t>
                </a:r>
                <a:endParaRPr lang="en-US" sz="3600" b="1" dirty="0"/>
              </a:p>
            </p:txBody>
          </p:sp>
        </p:grpSp>
        <p:grpSp>
          <p:nvGrpSpPr>
            <p:cNvPr id="17" name="Group 16">
              <a:extLst>
                <a:ext uri="{FF2B5EF4-FFF2-40B4-BE49-F238E27FC236}">
                  <a16:creationId xmlns:a16="http://schemas.microsoft.com/office/drawing/2014/main" id="{B219E40F-4CCD-60E1-CCF3-55730809CD55}"/>
                </a:ext>
              </a:extLst>
            </p:cNvPr>
            <p:cNvGrpSpPr/>
            <p:nvPr/>
          </p:nvGrpSpPr>
          <p:grpSpPr>
            <a:xfrm>
              <a:off x="5364463" y="2403508"/>
              <a:ext cx="3144253" cy="1791121"/>
              <a:chOff x="1652336" y="2510590"/>
              <a:chExt cx="3144253" cy="1791121"/>
            </a:xfrm>
            <a:solidFill>
              <a:schemeClr val="bg1"/>
            </a:solidFill>
          </p:grpSpPr>
          <p:sp>
            <p:nvSpPr>
              <p:cNvPr id="18" name="Rectangle 17">
                <a:extLst>
                  <a:ext uri="{FF2B5EF4-FFF2-40B4-BE49-F238E27FC236}">
                    <a16:creationId xmlns:a16="http://schemas.microsoft.com/office/drawing/2014/main" id="{78C12A86-B236-DE2D-91D9-2201EDD14A82}"/>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8882392-AF2F-A30C-1ECB-8B0A33F4B130}"/>
                  </a:ext>
                </a:extLst>
              </p:cNvPr>
              <p:cNvSpPr/>
              <p:nvPr/>
            </p:nvSpPr>
            <p:spPr>
              <a:xfrm>
                <a:off x="2783972" y="2971800"/>
                <a:ext cx="914400" cy="914400"/>
              </a:xfrm>
              <a:prstGeom prst="rect">
                <a:avLst/>
              </a:prstGeom>
              <a:grp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20" name="TextBox 19">
                <a:extLst>
                  <a:ext uri="{FF2B5EF4-FFF2-40B4-BE49-F238E27FC236}">
                    <a16:creationId xmlns:a16="http://schemas.microsoft.com/office/drawing/2014/main" id="{4D13C27B-6C22-7C06-4976-934DD5A659D4}"/>
                  </a:ext>
                </a:extLst>
              </p:cNvPr>
              <p:cNvSpPr txBox="1"/>
              <p:nvPr/>
            </p:nvSpPr>
            <p:spPr>
              <a:xfrm>
                <a:off x="2976552" y="3048744"/>
                <a:ext cx="367408" cy="523220"/>
              </a:xfrm>
              <a:prstGeom prst="rect">
                <a:avLst/>
              </a:prstGeom>
              <a:grpFill/>
            </p:spPr>
            <p:txBody>
              <a:bodyPr wrap="none" rtlCol="0">
                <a:spAutoFit/>
              </a:bodyPr>
              <a:lstStyle/>
              <a:p>
                <a:r>
                  <a:rPr lang="en-US" sz="2800" b="1" dirty="0"/>
                  <a:t>9</a:t>
                </a:r>
                <a:endParaRPr lang="en-US" sz="3600" b="1" dirty="0"/>
              </a:p>
            </p:txBody>
          </p:sp>
        </p:grpSp>
        <p:grpSp>
          <p:nvGrpSpPr>
            <p:cNvPr id="21" name="Group 20">
              <a:extLst>
                <a:ext uri="{FF2B5EF4-FFF2-40B4-BE49-F238E27FC236}">
                  <a16:creationId xmlns:a16="http://schemas.microsoft.com/office/drawing/2014/main" id="{282693A1-5681-FF60-D4EC-A6017B16F735}"/>
                </a:ext>
              </a:extLst>
            </p:cNvPr>
            <p:cNvGrpSpPr/>
            <p:nvPr/>
          </p:nvGrpSpPr>
          <p:grpSpPr>
            <a:xfrm>
              <a:off x="7935731" y="2864718"/>
              <a:ext cx="3144253" cy="1791121"/>
              <a:chOff x="1652336" y="2510590"/>
              <a:chExt cx="3144253" cy="1791121"/>
            </a:xfrm>
            <a:solidFill>
              <a:schemeClr val="bg1"/>
            </a:solidFill>
          </p:grpSpPr>
          <p:sp>
            <p:nvSpPr>
              <p:cNvPr id="22" name="Rectangle 21">
                <a:extLst>
                  <a:ext uri="{FF2B5EF4-FFF2-40B4-BE49-F238E27FC236}">
                    <a16:creationId xmlns:a16="http://schemas.microsoft.com/office/drawing/2014/main" id="{DE2153AA-E783-E1EA-37AA-FB73E666F8DD}"/>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868103F-FCD5-E621-3945-F69B2160386A}"/>
                  </a:ext>
                </a:extLst>
              </p:cNvPr>
              <p:cNvSpPr/>
              <p:nvPr/>
            </p:nvSpPr>
            <p:spPr>
              <a:xfrm>
                <a:off x="2783971" y="2971800"/>
                <a:ext cx="914400" cy="914399"/>
              </a:xfrm>
              <a:prstGeom prst="rect">
                <a:avLst/>
              </a:prstGeom>
              <a:grp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826D3BA3-DD38-F7DD-6689-B485BC79A30D}"/>
                  </a:ext>
                </a:extLst>
              </p:cNvPr>
              <p:cNvSpPr txBox="1"/>
              <p:nvPr/>
            </p:nvSpPr>
            <p:spPr>
              <a:xfrm>
                <a:off x="2989547" y="3046118"/>
                <a:ext cx="367408" cy="523220"/>
              </a:xfrm>
              <a:prstGeom prst="rect">
                <a:avLst/>
              </a:prstGeom>
              <a:grpFill/>
            </p:spPr>
            <p:txBody>
              <a:bodyPr wrap="none" rtlCol="0">
                <a:spAutoFit/>
              </a:bodyPr>
              <a:lstStyle/>
              <a:p>
                <a:r>
                  <a:rPr lang="en-US" sz="2800" b="1" dirty="0"/>
                  <a:t>1</a:t>
                </a:r>
                <a:endParaRPr lang="en-US" sz="3600" b="1" dirty="0"/>
              </a:p>
            </p:txBody>
          </p:sp>
        </p:grpSp>
        <p:sp>
          <p:nvSpPr>
            <p:cNvPr id="25" name="TextBox 24">
              <a:extLst>
                <a:ext uri="{FF2B5EF4-FFF2-40B4-BE49-F238E27FC236}">
                  <a16:creationId xmlns:a16="http://schemas.microsoft.com/office/drawing/2014/main" id="{47907E08-6CC6-700D-3D79-22590D46F1F3}"/>
                </a:ext>
              </a:extLst>
            </p:cNvPr>
            <p:cNvSpPr txBox="1"/>
            <p:nvPr/>
          </p:nvSpPr>
          <p:spPr>
            <a:xfrm>
              <a:off x="964242" y="850851"/>
              <a:ext cx="1326773" cy="369332"/>
            </a:xfrm>
            <a:prstGeom prst="rect">
              <a:avLst/>
            </a:prstGeom>
            <a:noFill/>
          </p:spPr>
          <p:txBody>
            <a:bodyPr wrap="none" rtlCol="0">
              <a:spAutoFit/>
            </a:bodyPr>
            <a:lstStyle/>
            <a:p>
              <a:r>
                <a:rPr lang="en-US" dirty="0"/>
                <a:t>Incongruent</a:t>
              </a:r>
            </a:p>
          </p:txBody>
        </p:sp>
        <p:sp>
          <p:nvSpPr>
            <p:cNvPr id="26" name="TextBox 25">
              <a:extLst>
                <a:ext uri="{FF2B5EF4-FFF2-40B4-BE49-F238E27FC236}">
                  <a16:creationId xmlns:a16="http://schemas.microsoft.com/office/drawing/2014/main" id="{33D05802-9CC4-129A-F075-B9AF5EB218CB}"/>
                </a:ext>
              </a:extLst>
            </p:cNvPr>
            <p:cNvSpPr txBox="1"/>
            <p:nvPr/>
          </p:nvSpPr>
          <p:spPr>
            <a:xfrm>
              <a:off x="3545876" y="1327482"/>
              <a:ext cx="1326773" cy="369332"/>
            </a:xfrm>
            <a:prstGeom prst="rect">
              <a:avLst/>
            </a:prstGeom>
            <a:noFill/>
          </p:spPr>
          <p:txBody>
            <a:bodyPr wrap="none" rtlCol="0">
              <a:spAutoFit/>
            </a:bodyPr>
            <a:lstStyle/>
            <a:p>
              <a:r>
                <a:rPr lang="en-US" dirty="0"/>
                <a:t>Incongruent</a:t>
              </a:r>
            </a:p>
          </p:txBody>
        </p:sp>
        <p:sp>
          <p:nvSpPr>
            <p:cNvPr id="27" name="TextBox 26">
              <a:extLst>
                <a:ext uri="{FF2B5EF4-FFF2-40B4-BE49-F238E27FC236}">
                  <a16:creationId xmlns:a16="http://schemas.microsoft.com/office/drawing/2014/main" id="{32ADC69B-F187-BB23-3077-D367B0592CB6}"/>
                </a:ext>
              </a:extLst>
            </p:cNvPr>
            <p:cNvSpPr txBox="1"/>
            <p:nvPr/>
          </p:nvSpPr>
          <p:spPr>
            <a:xfrm>
              <a:off x="6025291" y="1803330"/>
              <a:ext cx="1326773" cy="369332"/>
            </a:xfrm>
            <a:prstGeom prst="rect">
              <a:avLst/>
            </a:prstGeom>
            <a:noFill/>
          </p:spPr>
          <p:txBody>
            <a:bodyPr wrap="none" rtlCol="0">
              <a:spAutoFit/>
            </a:bodyPr>
            <a:lstStyle/>
            <a:p>
              <a:r>
                <a:rPr lang="en-US" dirty="0"/>
                <a:t>Incongruent</a:t>
              </a:r>
            </a:p>
          </p:txBody>
        </p:sp>
        <p:sp>
          <p:nvSpPr>
            <p:cNvPr id="28" name="TextBox 27">
              <a:extLst>
                <a:ext uri="{FF2B5EF4-FFF2-40B4-BE49-F238E27FC236}">
                  <a16:creationId xmlns:a16="http://schemas.microsoft.com/office/drawing/2014/main" id="{A04CE84A-5071-A4DA-81F6-47683151569E}"/>
                </a:ext>
              </a:extLst>
            </p:cNvPr>
            <p:cNvSpPr txBox="1"/>
            <p:nvPr/>
          </p:nvSpPr>
          <p:spPr>
            <a:xfrm>
              <a:off x="8685537" y="2277517"/>
              <a:ext cx="1174810" cy="369332"/>
            </a:xfrm>
            <a:prstGeom prst="rect">
              <a:avLst/>
            </a:prstGeom>
            <a:noFill/>
          </p:spPr>
          <p:txBody>
            <a:bodyPr wrap="none" rtlCol="0">
              <a:spAutoFit/>
            </a:bodyPr>
            <a:lstStyle/>
            <a:p>
              <a:r>
                <a:rPr lang="en-US" dirty="0"/>
                <a:t>Congruent</a:t>
              </a:r>
            </a:p>
          </p:txBody>
        </p:sp>
      </p:grpSp>
      <p:sp>
        <p:nvSpPr>
          <p:cNvPr id="30" name="TextBox 29">
            <a:extLst>
              <a:ext uri="{FF2B5EF4-FFF2-40B4-BE49-F238E27FC236}">
                <a16:creationId xmlns:a16="http://schemas.microsoft.com/office/drawing/2014/main" id="{65F2B070-3992-D7AF-C84A-37AADDDFBBB4}"/>
              </a:ext>
            </a:extLst>
          </p:cNvPr>
          <p:cNvSpPr txBox="1"/>
          <p:nvPr/>
        </p:nvSpPr>
        <p:spPr>
          <a:xfrm>
            <a:off x="-20252" y="0"/>
            <a:ext cx="1447999" cy="369332"/>
          </a:xfrm>
          <a:prstGeom prst="rect">
            <a:avLst/>
          </a:prstGeom>
          <a:noFill/>
        </p:spPr>
        <p:txBody>
          <a:bodyPr wrap="square" rtlCol="0">
            <a:spAutoFit/>
          </a:bodyPr>
          <a:lstStyle/>
          <a:p>
            <a:r>
              <a:rPr lang="en-US" dirty="0" err="1"/>
              <a:t>Egner</a:t>
            </a:r>
            <a:r>
              <a:rPr lang="en-US" dirty="0"/>
              <a:t>, 2023</a:t>
            </a:r>
          </a:p>
        </p:txBody>
      </p:sp>
      <p:pic>
        <p:nvPicPr>
          <p:cNvPr id="31" name="Picture 30" descr="A person wearing a yellow garment&#10;&#10;Description automatically generated">
            <a:extLst>
              <a:ext uri="{FF2B5EF4-FFF2-40B4-BE49-F238E27FC236}">
                <a16:creationId xmlns:a16="http://schemas.microsoft.com/office/drawing/2014/main" id="{BCFCC661-CFD9-E752-BFC8-85DDBF809300}"/>
              </a:ext>
            </a:extLst>
          </p:cNvPr>
          <p:cNvPicPr>
            <a:picLocks noChangeAspect="1"/>
          </p:cNvPicPr>
          <p:nvPr/>
        </p:nvPicPr>
        <p:blipFill rotWithShape="1">
          <a:blip r:embed="rId3"/>
          <a:srcRect t="18750"/>
          <a:stretch/>
        </p:blipFill>
        <p:spPr>
          <a:xfrm>
            <a:off x="85660" y="365125"/>
            <a:ext cx="969670" cy="786511"/>
          </a:xfrm>
          <a:prstGeom prst="rect">
            <a:avLst/>
          </a:prstGeom>
        </p:spPr>
      </p:pic>
      <p:grpSp>
        <p:nvGrpSpPr>
          <p:cNvPr id="34" name="Group 33">
            <a:extLst>
              <a:ext uri="{FF2B5EF4-FFF2-40B4-BE49-F238E27FC236}">
                <a16:creationId xmlns:a16="http://schemas.microsoft.com/office/drawing/2014/main" id="{75DA90FC-DF3F-C20D-E11F-0966206CF059}"/>
              </a:ext>
            </a:extLst>
          </p:cNvPr>
          <p:cNvGrpSpPr>
            <a:grpSpLocks noChangeAspect="1"/>
          </p:cNvGrpSpPr>
          <p:nvPr/>
        </p:nvGrpSpPr>
        <p:grpSpPr>
          <a:xfrm>
            <a:off x="1414859" y="3796735"/>
            <a:ext cx="6702552" cy="2278372"/>
            <a:chOff x="300653" y="1248076"/>
            <a:chExt cx="10779331" cy="3407763"/>
          </a:xfrm>
        </p:grpSpPr>
        <p:grpSp>
          <p:nvGrpSpPr>
            <p:cNvPr id="35" name="Group 34">
              <a:extLst>
                <a:ext uri="{FF2B5EF4-FFF2-40B4-BE49-F238E27FC236}">
                  <a16:creationId xmlns:a16="http://schemas.microsoft.com/office/drawing/2014/main" id="{B9E893E0-C782-5B47-9385-1EA11A3974B1}"/>
                </a:ext>
              </a:extLst>
            </p:cNvPr>
            <p:cNvGrpSpPr/>
            <p:nvPr/>
          </p:nvGrpSpPr>
          <p:grpSpPr>
            <a:xfrm>
              <a:off x="300653" y="1451028"/>
              <a:ext cx="3144253" cy="1791121"/>
              <a:chOff x="1652336" y="2510590"/>
              <a:chExt cx="3144253" cy="1791121"/>
            </a:xfrm>
          </p:grpSpPr>
          <p:sp>
            <p:nvSpPr>
              <p:cNvPr id="51" name="Rectangle 50">
                <a:extLst>
                  <a:ext uri="{FF2B5EF4-FFF2-40B4-BE49-F238E27FC236}">
                    <a16:creationId xmlns:a16="http://schemas.microsoft.com/office/drawing/2014/main" id="{CA21277C-BF12-A239-17C5-421726A3DA91}"/>
                  </a:ext>
                </a:extLst>
              </p:cNvPr>
              <p:cNvSpPr/>
              <p:nvPr/>
            </p:nvSpPr>
            <p:spPr>
              <a:xfrm>
                <a:off x="1652336" y="2510590"/>
                <a:ext cx="3144253" cy="1791121"/>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83B6A7F8-6690-1EF4-952C-54079D2B5590}"/>
                  </a:ext>
                </a:extLst>
              </p:cNvPr>
              <p:cNvSpPr/>
              <p:nvPr/>
            </p:nvSpPr>
            <p:spPr>
              <a:xfrm>
                <a:off x="2783972" y="2971800"/>
                <a:ext cx="914400" cy="9144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790E8D16-1512-6EE9-06CE-5F3816ACC8CE}"/>
                  </a:ext>
                </a:extLst>
              </p:cNvPr>
              <p:cNvSpPr txBox="1"/>
              <p:nvPr/>
            </p:nvSpPr>
            <p:spPr>
              <a:xfrm>
                <a:off x="2979312" y="3031728"/>
                <a:ext cx="367408" cy="523220"/>
              </a:xfrm>
              <a:prstGeom prst="rect">
                <a:avLst/>
              </a:prstGeom>
              <a:noFill/>
            </p:spPr>
            <p:txBody>
              <a:bodyPr wrap="none" rtlCol="0">
                <a:spAutoFit/>
              </a:bodyPr>
              <a:lstStyle/>
              <a:p>
                <a:r>
                  <a:rPr lang="en-US" sz="2800" b="1" dirty="0"/>
                  <a:t>4</a:t>
                </a:r>
                <a:endParaRPr lang="en-US" sz="3600" b="1" dirty="0"/>
              </a:p>
            </p:txBody>
          </p:sp>
        </p:grpSp>
        <p:grpSp>
          <p:nvGrpSpPr>
            <p:cNvPr id="36" name="Group 35">
              <a:extLst>
                <a:ext uri="{FF2B5EF4-FFF2-40B4-BE49-F238E27FC236}">
                  <a16:creationId xmlns:a16="http://schemas.microsoft.com/office/drawing/2014/main" id="{B2E01524-6546-C4F9-2E83-B1F3412F7FF6}"/>
                </a:ext>
              </a:extLst>
            </p:cNvPr>
            <p:cNvGrpSpPr/>
            <p:nvPr/>
          </p:nvGrpSpPr>
          <p:grpSpPr>
            <a:xfrm>
              <a:off x="2826614" y="1923459"/>
              <a:ext cx="3144253" cy="1791121"/>
              <a:chOff x="1652336" y="2510590"/>
              <a:chExt cx="3144253" cy="1791121"/>
            </a:xfrm>
            <a:solidFill>
              <a:schemeClr val="bg1"/>
            </a:solidFill>
          </p:grpSpPr>
          <p:sp>
            <p:nvSpPr>
              <p:cNvPr id="48" name="Rectangle 47">
                <a:extLst>
                  <a:ext uri="{FF2B5EF4-FFF2-40B4-BE49-F238E27FC236}">
                    <a16:creationId xmlns:a16="http://schemas.microsoft.com/office/drawing/2014/main" id="{99FA1F79-C59E-59E2-4978-E3FF18F67046}"/>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1FA5DAF2-369A-74B5-C58C-52333978C427}"/>
                  </a:ext>
                </a:extLst>
              </p:cNvPr>
              <p:cNvSpPr/>
              <p:nvPr/>
            </p:nvSpPr>
            <p:spPr>
              <a:xfrm>
                <a:off x="2783971" y="2971800"/>
                <a:ext cx="914400" cy="914399"/>
              </a:xfrm>
              <a:prstGeom prst="rect">
                <a:avLst/>
              </a:prstGeom>
              <a:grp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00E37408-CB2B-2FE3-F50C-D34BDC1CBD25}"/>
                  </a:ext>
                </a:extLst>
              </p:cNvPr>
              <p:cNvSpPr txBox="1"/>
              <p:nvPr/>
            </p:nvSpPr>
            <p:spPr>
              <a:xfrm>
                <a:off x="2974734" y="3082516"/>
                <a:ext cx="367408" cy="523220"/>
              </a:xfrm>
              <a:prstGeom prst="rect">
                <a:avLst/>
              </a:prstGeom>
              <a:grpFill/>
            </p:spPr>
            <p:txBody>
              <a:bodyPr wrap="none" rtlCol="0">
                <a:spAutoFit/>
              </a:bodyPr>
              <a:lstStyle/>
              <a:p>
                <a:r>
                  <a:rPr lang="en-US" sz="2800" b="1" dirty="0"/>
                  <a:t>2</a:t>
                </a:r>
                <a:endParaRPr lang="en-US" sz="3600" b="1" dirty="0"/>
              </a:p>
            </p:txBody>
          </p:sp>
        </p:grpSp>
        <p:grpSp>
          <p:nvGrpSpPr>
            <p:cNvPr id="37" name="Group 36">
              <a:extLst>
                <a:ext uri="{FF2B5EF4-FFF2-40B4-BE49-F238E27FC236}">
                  <a16:creationId xmlns:a16="http://schemas.microsoft.com/office/drawing/2014/main" id="{82BE7EFE-EF6C-3F85-D63C-D5FA213CB120}"/>
                </a:ext>
              </a:extLst>
            </p:cNvPr>
            <p:cNvGrpSpPr/>
            <p:nvPr/>
          </p:nvGrpSpPr>
          <p:grpSpPr>
            <a:xfrm>
              <a:off x="5364463" y="2403508"/>
              <a:ext cx="3144253" cy="1791121"/>
              <a:chOff x="1652336" y="2510590"/>
              <a:chExt cx="3144253" cy="1791121"/>
            </a:xfrm>
            <a:solidFill>
              <a:schemeClr val="bg1"/>
            </a:solidFill>
          </p:grpSpPr>
          <p:sp>
            <p:nvSpPr>
              <p:cNvPr id="45" name="Rectangle 44">
                <a:extLst>
                  <a:ext uri="{FF2B5EF4-FFF2-40B4-BE49-F238E27FC236}">
                    <a16:creationId xmlns:a16="http://schemas.microsoft.com/office/drawing/2014/main" id="{34BD95CF-A574-FF12-4E3D-428ED5F8254E}"/>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9409109-E4F9-711A-244F-EA160A274A34}"/>
                  </a:ext>
                </a:extLst>
              </p:cNvPr>
              <p:cNvSpPr/>
              <p:nvPr/>
            </p:nvSpPr>
            <p:spPr>
              <a:xfrm>
                <a:off x="2783972" y="2971800"/>
                <a:ext cx="914400" cy="914400"/>
              </a:xfrm>
              <a:prstGeom prst="rect">
                <a:avLst/>
              </a:prstGeom>
              <a:grp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47" name="TextBox 46">
                <a:extLst>
                  <a:ext uri="{FF2B5EF4-FFF2-40B4-BE49-F238E27FC236}">
                    <a16:creationId xmlns:a16="http://schemas.microsoft.com/office/drawing/2014/main" id="{FDEE21ED-3EDC-9A1B-7D8F-429F1E0B0CCD}"/>
                  </a:ext>
                </a:extLst>
              </p:cNvPr>
              <p:cNvSpPr txBox="1"/>
              <p:nvPr/>
            </p:nvSpPr>
            <p:spPr>
              <a:xfrm>
                <a:off x="2976552" y="3048744"/>
                <a:ext cx="367408" cy="523220"/>
              </a:xfrm>
              <a:prstGeom prst="rect">
                <a:avLst/>
              </a:prstGeom>
              <a:grpFill/>
            </p:spPr>
            <p:txBody>
              <a:bodyPr wrap="none" rtlCol="0">
                <a:spAutoFit/>
              </a:bodyPr>
              <a:lstStyle/>
              <a:p>
                <a:r>
                  <a:rPr lang="en-US" sz="2800" b="1" dirty="0"/>
                  <a:t>9</a:t>
                </a:r>
                <a:endParaRPr lang="en-US" sz="3600" b="1" dirty="0"/>
              </a:p>
            </p:txBody>
          </p:sp>
        </p:grpSp>
        <p:grpSp>
          <p:nvGrpSpPr>
            <p:cNvPr id="38" name="Group 37">
              <a:extLst>
                <a:ext uri="{FF2B5EF4-FFF2-40B4-BE49-F238E27FC236}">
                  <a16:creationId xmlns:a16="http://schemas.microsoft.com/office/drawing/2014/main" id="{90796E3E-D919-A8C4-2DC4-BE02301DB323}"/>
                </a:ext>
              </a:extLst>
            </p:cNvPr>
            <p:cNvGrpSpPr/>
            <p:nvPr/>
          </p:nvGrpSpPr>
          <p:grpSpPr>
            <a:xfrm>
              <a:off x="7935731" y="2864718"/>
              <a:ext cx="3144253" cy="1791121"/>
              <a:chOff x="1652336" y="2510590"/>
              <a:chExt cx="3144253" cy="1791121"/>
            </a:xfrm>
            <a:solidFill>
              <a:schemeClr val="bg1"/>
            </a:solidFill>
          </p:grpSpPr>
          <p:sp>
            <p:nvSpPr>
              <p:cNvPr id="42" name="Rectangle 41">
                <a:extLst>
                  <a:ext uri="{FF2B5EF4-FFF2-40B4-BE49-F238E27FC236}">
                    <a16:creationId xmlns:a16="http://schemas.microsoft.com/office/drawing/2014/main" id="{19DA8C38-9224-897E-C2C8-56446A1FA5E2}"/>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73118863-E1DD-E922-4F58-B0D9C4841043}"/>
                  </a:ext>
                </a:extLst>
              </p:cNvPr>
              <p:cNvSpPr/>
              <p:nvPr/>
            </p:nvSpPr>
            <p:spPr>
              <a:xfrm>
                <a:off x="2783971" y="2971800"/>
                <a:ext cx="914400" cy="914399"/>
              </a:xfrm>
              <a:prstGeom prst="rect">
                <a:avLst/>
              </a:prstGeom>
              <a:grp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BF941567-1682-F276-47B7-69DE0A3320AC}"/>
                  </a:ext>
                </a:extLst>
              </p:cNvPr>
              <p:cNvSpPr txBox="1"/>
              <p:nvPr/>
            </p:nvSpPr>
            <p:spPr>
              <a:xfrm>
                <a:off x="2989547" y="3046118"/>
                <a:ext cx="367408" cy="523220"/>
              </a:xfrm>
              <a:prstGeom prst="rect">
                <a:avLst/>
              </a:prstGeom>
              <a:grpFill/>
            </p:spPr>
            <p:txBody>
              <a:bodyPr wrap="none" rtlCol="0">
                <a:spAutoFit/>
              </a:bodyPr>
              <a:lstStyle/>
              <a:p>
                <a:r>
                  <a:rPr lang="en-US" sz="2800" b="1" dirty="0"/>
                  <a:t>1</a:t>
                </a:r>
                <a:endParaRPr lang="en-US" sz="3600" b="1" dirty="0"/>
              </a:p>
            </p:txBody>
          </p:sp>
        </p:grpSp>
        <p:sp>
          <p:nvSpPr>
            <p:cNvPr id="39" name="TextBox 38">
              <a:extLst>
                <a:ext uri="{FF2B5EF4-FFF2-40B4-BE49-F238E27FC236}">
                  <a16:creationId xmlns:a16="http://schemas.microsoft.com/office/drawing/2014/main" id="{BF11F9CE-C5B4-5877-DAA2-E58445A97EEA}"/>
                </a:ext>
              </a:extLst>
            </p:cNvPr>
            <p:cNvSpPr txBox="1"/>
            <p:nvPr/>
          </p:nvSpPr>
          <p:spPr>
            <a:xfrm>
              <a:off x="3760382" y="1248076"/>
              <a:ext cx="1276716" cy="519741"/>
            </a:xfrm>
            <a:prstGeom prst="rect">
              <a:avLst/>
            </a:prstGeom>
            <a:noFill/>
          </p:spPr>
          <p:txBody>
            <a:bodyPr wrap="none" rtlCol="0">
              <a:spAutoFit/>
            </a:bodyPr>
            <a:lstStyle/>
            <a:p>
              <a:r>
                <a:rPr lang="en-US" dirty="0"/>
                <a:t>Repeat</a:t>
              </a:r>
            </a:p>
          </p:txBody>
        </p:sp>
        <p:sp>
          <p:nvSpPr>
            <p:cNvPr id="40" name="TextBox 39">
              <a:extLst>
                <a:ext uri="{FF2B5EF4-FFF2-40B4-BE49-F238E27FC236}">
                  <a16:creationId xmlns:a16="http://schemas.microsoft.com/office/drawing/2014/main" id="{7919F6C1-C545-B3DF-B32F-4463C8AF67B5}"/>
                </a:ext>
              </a:extLst>
            </p:cNvPr>
            <p:cNvSpPr txBox="1"/>
            <p:nvPr/>
          </p:nvSpPr>
          <p:spPr>
            <a:xfrm>
              <a:off x="6331121" y="1826847"/>
              <a:ext cx="1210936" cy="519741"/>
            </a:xfrm>
            <a:prstGeom prst="rect">
              <a:avLst/>
            </a:prstGeom>
            <a:noFill/>
          </p:spPr>
          <p:txBody>
            <a:bodyPr wrap="none" rtlCol="0">
              <a:spAutoFit/>
            </a:bodyPr>
            <a:lstStyle/>
            <a:p>
              <a:r>
                <a:rPr lang="en-US" dirty="0"/>
                <a:t>Switch</a:t>
              </a:r>
            </a:p>
          </p:txBody>
        </p:sp>
        <p:sp>
          <p:nvSpPr>
            <p:cNvPr id="41" name="TextBox 40">
              <a:extLst>
                <a:ext uri="{FF2B5EF4-FFF2-40B4-BE49-F238E27FC236}">
                  <a16:creationId xmlns:a16="http://schemas.microsoft.com/office/drawing/2014/main" id="{EA083A1B-A8AC-64E7-1A40-97BACD09BB5C}"/>
                </a:ext>
              </a:extLst>
            </p:cNvPr>
            <p:cNvSpPr txBox="1"/>
            <p:nvPr/>
          </p:nvSpPr>
          <p:spPr>
            <a:xfrm>
              <a:off x="8902390" y="2241208"/>
              <a:ext cx="1210936" cy="519741"/>
            </a:xfrm>
            <a:prstGeom prst="rect">
              <a:avLst/>
            </a:prstGeom>
            <a:noFill/>
          </p:spPr>
          <p:txBody>
            <a:bodyPr wrap="none" rtlCol="0">
              <a:spAutoFit/>
            </a:bodyPr>
            <a:lstStyle/>
            <a:p>
              <a:r>
                <a:rPr lang="en-US" dirty="0"/>
                <a:t>Switch</a:t>
              </a:r>
            </a:p>
          </p:txBody>
        </p:sp>
      </p:grpSp>
      <p:sp>
        <p:nvSpPr>
          <p:cNvPr id="55" name="TextBox 54">
            <a:extLst>
              <a:ext uri="{FF2B5EF4-FFF2-40B4-BE49-F238E27FC236}">
                <a16:creationId xmlns:a16="http://schemas.microsoft.com/office/drawing/2014/main" id="{A3A0CA38-CA07-1C29-CED7-E2A41C2E2B2D}"/>
              </a:ext>
            </a:extLst>
          </p:cNvPr>
          <p:cNvSpPr txBox="1"/>
          <p:nvPr/>
        </p:nvSpPr>
        <p:spPr>
          <a:xfrm>
            <a:off x="1312728" y="-82110"/>
            <a:ext cx="336952" cy="461665"/>
          </a:xfrm>
          <a:prstGeom prst="rect">
            <a:avLst/>
          </a:prstGeom>
          <a:noFill/>
        </p:spPr>
        <p:txBody>
          <a:bodyPr wrap="none" rtlCol="0">
            <a:spAutoFit/>
          </a:bodyPr>
          <a:lstStyle/>
          <a:p>
            <a:r>
              <a:rPr lang="en-US" sz="2400" b="1" dirty="0"/>
              <a:t>a</a:t>
            </a:r>
          </a:p>
        </p:txBody>
      </p:sp>
      <p:sp>
        <p:nvSpPr>
          <p:cNvPr id="56" name="TextBox 55">
            <a:extLst>
              <a:ext uri="{FF2B5EF4-FFF2-40B4-BE49-F238E27FC236}">
                <a16:creationId xmlns:a16="http://schemas.microsoft.com/office/drawing/2014/main" id="{6B4B4A7F-BC58-F3CF-B446-62819DA1699F}"/>
              </a:ext>
            </a:extLst>
          </p:cNvPr>
          <p:cNvSpPr txBox="1"/>
          <p:nvPr/>
        </p:nvSpPr>
        <p:spPr>
          <a:xfrm>
            <a:off x="1352266" y="3424481"/>
            <a:ext cx="312906" cy="461665"/>
          </a:xfrm>
          <a:prstGeom prst="rect">
            <a:avLst/>
          </a:prstGeom>
          <a:noFill/>
        </p:spPr>
        <p:txBody>
          <a:bodyPr wrap="none" rtlCol="0">
            <a:spAutoFit/>
          </a:bodyPr>
          <a:lstStyle/>
          <a:p>
            <a:r>
              <a:rPr lang="en-US" sz="2400" b="1" dirty="0"/>
              <a:t>c</a:t>
            </a:r>
          </a:p>
        </p:txBody>
      </p:sp>
      <p:sp>
        <p:nvSpPr>
          <p:cNvPr id="58" name="Rectangle 57">
            <a:extLst>
              <a:ext uri="{FF2B5EF4-FFF2-40B4-BE49-F238E27FC236}">
                <a16:creationId xmlns:a16="http://schemas.microsoft.com/office/drawing/2014/main" id="{5B2C5539-811E-9A78-DB55-26A848D84E61}"/>
              </a:ext>
            </a:extLst>
          </p:cNvPr>
          <p:cNvSpPr/>
          <p:nvPr/>
        </p:nvSpPr>
        <p:spPr>
          <a:xfrm>
            <a:off x="902931" y="3288632"/>
            <a:ext cx="11289070" cy="35093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7D55A778-EFE3-9F57-EC4B-DFFED868D64F}"/>
              </a:ext>
            </a:extLst>
          </p:cNvPr>
          <p:cNvSpPr/>
          <p:nvPr/>
        </p:nvSpPr>
        <p:spPr>
          <a:xfrm>
            <a:off x="10285107" y="697516"/>
            <a:ext cx="1906893" cy="59278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23CD8A07-87B3-A147-C456-7E34D7BC2CE9}"/>
              </a:ext>
            </a:extLst>
          </p:cNvPr>
          <p:cNvSpPr txBox="1"/>
          <p:nvPr/>
        </p:nvSpPr>
        <p:spPr>
          <a:xfrm>
            <a:off x="11594198" y="612575"/>
            <a:ext cx="733480" cy="430887"/>
          </a:xfrm>
          <a:prstGeom prst="rect">
            <a:avLst/>
          </a:prstGeom>
          <a:noFill/>
        </p:spPr>
        <p:txBody>
          <a:bodyPr wrap="square" rtlCol="0">
            <a:spAutoFit/>
          </a:bodyPr>
          <a:lstStyle/>
          <a:p>
            <a:r>
              <a:rPr lang="en-US" sz="1050" dirty="0">
                <a:solidFill>
                  <a:srgbClr val="7030A0"/>
                </a:solidFill>
              </a:rPr>
              <a:t>Con. Effect</a:t>
            </a:r>
          </a:p>
        </p:txBody>
      </p:sp>
      <p:sp>
        <p:nvSpPr>
          <p:cNvPr id="54" name="Right Bracket 53">
            <a:extLst>
              <a:ext uri="{FF2B5EF4-FFF2-40B4-BE49-F238E27FC236}">
                <a16:creationId xmlns:a16="http://schemas.microsoft.com/office/drawing/2014/main" id="{236FBD7C-6349-8E2F-5DE8-64F225BE3747}"/>
              </a:ext>
            </a:extLst>
          </p:cNvPr>
          <p:cNvSpPr/>
          <p:nvPr/>
        </p:nvSpPr>
        <p:spPr>
          <a:xfrm rot="10800000" flipH="1">
            <a:off x="10000087" y="3932425"/>
            <a:ext cx="126174" cy="777240"/>
          </a:xfrm>
          <a:prstGeom prst="rightBracket">
            <a:avLst/>
          </a:pr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C000"/>
              </a:solidFill>
            </a:endParaRPr>
          </a:p>
        </p:txBody>
      </p:sp>
      <p:sp>
        <p:nvSpPr>
          <p:cNvPr id="59" name="TextBox 58">
            <a:extLst>
              <a:ext uri="{FF2B5EF4-FFF2-40B4-BE49-F238E27FC236}">
                <a16:creationId xmlns:a16="http://schemas.microsoft.com/office/drawing/2014/main" id="{82096F74-D58A-E89C-E911-74233E062DC7}"/>
              </a:ext>
            </a:extLst>
          </p:cNvPr>
          <p:cNvSpPr txBox="1"/>
          <p:nvPr/>
        </p:nvSpPr>
        <p:spPr>
          <a:xfrm>
            <a:off x="10100982" y="3986675"/>
            <a:ext cx="730393" cy="523220"/>
          </a:xfrm>
          <a:prstGeom prst="rect">
            <a:avLst/>
          </a:prstGeom>
          <a:noFill/>
          <a:ln>
            <a:noFill/>
          </a:ln>
        </p:spPr>
        <p:txBody>
          <a:bodyPr wrap="square" rtlCol="0">
            <a:spAutoFit/>
          </a:bodyPr>
          <a:lstStyle/>
          <a:p>
            <a:r>
              <a:rPr lang="en-US" sz="1400" dirty="0">
                <a:solidFill>
                  <a:srgbClr val="FFC000"/>
                </a:solidFill>
              </a:rPr>
              <a:t>Switch Cost</a:t>
            </a:r>
          </a:p>
        </p:txBody>
      </p:sp>
      <p:sp>
        <p:nvSpPr>
          <p:cNvPr id="60" name="Right Bracket 59">
            <a:extLst>
              <a:ext uri="{FF2B5EF4-FFF2-40B4-BE49-F238E27FC236}">
                <a16:creationId xmlns:a16="http://schemas.microsoft.com/office/drawing/2014/main" id="{A12F995B-9D3F-51A8-5874-61A864B6AE1A}"/>
              </a:ext>
            </a:extLst>
          </p:cNvPr>
          <p:cNvSpPr/>
          <p:nvPr/>
        </p:nvSpPr>
        <p:spPr>
          <a:xfrm rot="10800000" flipH="1">
            <a:off x="11587051" y="4269966"/>
            <a:ext cx="45719" cy="261007"/>
          </a:xfrm>
          <a:prstGeom prst="rightBracket">
            <a:avLst/>
          </a:pr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TextBox 60">
            <a:extLst>
              <a:ext uri="{FF2B5EF4-FFF2-40B4-BE49-F238E27FC236}">
                <a16:creationId xmlns:a16="http://schemas.microsoft.com/office/drawing/2014/main" id="{3C6E4F42-9D7C-1E91-71C5-151A61D52BA4}"/>
              </a:ext>
            </a:extLst>
          </p:cNvPr>
          <p:cNvSpPr txBox="1"/>
          <p:nvPr/>
        </p:nvSpPr>
        <p:spPr>
          <a:xfrm>
            <a:off x="11604349" y="4192720"/>
            <a:ext cx="733480" cy="415498"/>
          </a:xfrm>
          <a:prstGeom prst="rect">
            <a:avLst/>
          </a:prstGeom>
          <a:noFill/>
        </p:spPr>
        <p:txBody>
          <a:bodyPr wrap="square" rtlCol="0">
            <a:spAutoFit/>
          </a:bodyPr>
          <a:lstStyle/>
          <a:p>
            <a:r>
              <a:rPr lang="en-US" sz="1050" dirty="0">
                <a:solidFill>
                  <a:srgbClr val="FFC000"/>
                </a:solidFill>
              </a:rPr>
              <a:t>Switch Cost</a:t>
            </a:r>
          </a:p>
        </p:txBody>
      </p:sp>
      <p:sp>
        <p:nvSpPr>
          <p:cNvPr id="62" name="Rectangle 61">
            <a:extLst>
              <a:ext uri="{FF2B5EF4-FFF2-40B4-BE49-F238E27FC236}">
                <a16:creationId xmlns:a16="http://schemas.microsoft.com/office/drawing/2014/main" id="{17E49F9F-1146-CC6B-C3A6-07FF16F7B164}"/>
              </a:ext>
            </a:extLst>
          </p:cNvPr>
          <p:cNvSpPr/>
          <p:nvPr/>
        </p:nvSpPr>
        <p:spPr>
          <a:xfrm>
            <a:off x="-20252" y="3504070"/>
            <a:ext cx="12212253" cy="33088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1072B28E-3277-974E-45B2-293722616CEE}"/>
              </a:ext>
            </a:extLst>
          </p:cNvPr>
          <p:cNvSpPr/>
          <p:nvPr/>
        </p:nvSpPr>
        <p:spPr>
          <a:xfrm>
            <a:off x="10652080" y="520222"/>
            <a:ext cx="1534783" cy="6337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3FB287B0-E1AE-C372-50B6-C9C87DB36CA4}"/>
              </a:ext>
            </a:extLst>
          </p:cNvPr>
          <p:cNvSpPr/>
          <p:nvPr/>
        </p:nvSpPr>
        <p:spPr>
          <a:xfrm>
            <a:off x="10339575" y="2479539"/>
            <a:ext cx="1534783" cy="43513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7" name="Content Placeholder 4" descr="A diagram of different types of graphs&#10;&#10;Description automatically generated with medium confidence">
            <a:extLst>
              <a:ext uri="{FF2B5EF4-FFF2-40B4-BE49-F238E27FC236}">
                <a16:creationId xmlns:a16="http://schemas.microsoft.com/office/drawing/2014/main" id="{B43D571A-C846-C361-425A-540DE9CA22BF}"/>
              </a:ext>
            </a:extLst>
          </p:cNvPr>
          <p:cNvPicPr>
            <a:picLocks noChangeAspect="1"/>
          </p:cNvPicPr>
          <p:nvPr/>
        </p:nvPicPr>
        <p:blipFill rotWithShape="1">
          <a:blip r:embed="rId4"/>
          <a:srcRect l="58070" t="1619"/>
          <a:stretch/>
        </p:blipFill>
        <p:spPr>
          <a:xfrm>
            <a:off x="8493440" y="-4519"/>
            <a:ext cx="3698561" cy="6858000"/>
          </a:xfrm>
          <a:prstGeom prst="rect">
            <a:avLst/>
          </a:prstGeom>
          <a:ln>
            <a:solidFill>
              <a:srgbClr val="92D050"/>
            </a:solidFill>
          </a:ln>
        </p:spPr>
      </p:pic>
      <p:sp>
        <p:nvSpPr>
          <p:cNvPr id="78" name="Right Bracket 77">
            <a:extLst>
              <a:ext uri="{FF2B5EF4-FFF2-40B4-BE49-F238E27FC236}">
                <a16:creationId xmlns:a16="http://schemas.microsoft.com/office/drawing/2014/main" id="{74D2E90F-1D6B-C395-85A7-5983B3AC56BC}"/>
              </a:ext>
            </a:extLst>
          </p:cNvPr>
          <p:cNvSpPr/>
          <p:nvPr/>
        </p:nvSpPr>
        <p:spPr>
          <a:xfrm rot="10800000" flipH="1">
            <a:off x="9971597" y="382707"/>
            <a:ext cx="126174" cy="777240"/>
          </a:xfrm>
          <a:prstGeom prst="rightBracket">
            <a:avLst/>
          </a:prstGeom>
          <a:ln w="127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solidFill>
                <a:srgbClr val="7030A0"/>
              </a:solidFill>
            </a:endParaRPr>
          </a:p>
        </p:txBody>
      </p:sp>
      <p:sp>
        <p:nvSpPr>
          <p:cNvPr id="79" name="Right Bracket 78">
            <a:extLst>
              <a:ext uri="{FF2B5EF4-FFF2-40B4-BE49-F238E27FC236}">
                <a16:creationId xmlns:a16="http://schemas.microsoft.com/office/drawing/2014/main" id="{39917CCC-0C5C-937A-1F8B-07015C075CAA}"/>
              </a:ext>
            </a:extLst>
          </p:cNvPr>
          <p:cNvSpPr/>
          <p:nvPr/>
        </p:nvSpPr>
        <p:spPr>
          <a:xfrm rot="10800000" flipH="1">
            <a:off x="11558630" y="697516"/>
            <a:ext cx="45719" cy="261007"/>
          </a:xfrm>
          <a:prstGeom prst="rightBracket">
            <a:avLst/>
          </a:prstGeom>
          <a:ln w="127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7030A0"/>
              </a:solidFill>
            </a:endParaRPr>
          </a:p>
        </p:txBody>
      </p:sp>
      <p:sp>
        <p:nvSpPr>
          <p:cNvPr id="81" name="TextBox 80">
            <a:extLst>
              <a:ext uri="{FF2B5EF4-FFF2-40B4-BE49-F238E27FC236}">
                <a16:creationId xmlns:a16="http://schemas.microsoft.com/office/drawing/2014/main" id="{57967348-5768-CA73-3AEB-B838E8E9E766}"/>
              </a:ext>
            </a:extLst>
          </p:cNvPr>
          <p:cNvSpPr txBox="1"/>
          <p:nvPr/>
        </p:nvSpPr>
        <p:spPr>
          <a:xfrm>
            <a:off x="11594198" y="612575"/>
            <a:ext cx="733480" cy="430887"/>
          </a:xfrm>
          <a:prstGeom prst="rect">
            <a:avLst/>
          </a:prstGeom>
          <a:noFill/>
        </p:spPr>
        <p:txBody>
          <a:bodyPr wrap="square" rtlCol="0">
            <a:spAutoFit/>
          </a:bodyPr>
          <a:lstStyle/>
          <a:p>
            <a:r>
              <a:rPr lang="en-US" sz="1050" dirty="0">
                <a:solidFill>
                  <a:srgbClr val="7030A0"/>
                </a:solidFill>
              </a:rPr>
              <a:t>Con. Effect</a:t>
            </a:r>
          </a:p>
        </p:txBody>
      </p:sp>
      <p:sp>
        <p:nvSpPr>
          <p:cNvPr id="82" name="Right Bracket 81">
            <a:extLst>
              <a:ext uri="{FF2B5EF4-FFF2-40B4-BE49-F238E27FC236}">
                <a16:creationId xmlns:a16="http://schemas.microsoft.com/office/drawing/2014/main" id="{66391EA7-C2B7-91C3-612A-3870839F95C9}"/>
              </a:ext>
            </a:extLst>
          </p:cNvPr>
          <p:cNvSpPr/>
          <p:nvPr/>
        </p:nvSpPr>
        <p:spPr>
          <a:xfrm rot="10800000" flipH="1">
            <a:off x="10000087" y="3932425"/>
            <a:ext cx="126174" cy="777240"/>
          </a:xfrm>
          <a:prstGeom prst="rightBracket">
            <a:avLst/>
          </a:pr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C000"/>
              </a:solidFill>
            </a:endParaRPr>
          </a:p>
        </p:txBody>
      </p:sp>
      <p:sp>
        <p:nvSpPr>
          <p:cNvPr id="83" name="TextBox 82">
            <a:extLst>
              <a:ext uri="{FF2B5EF4-FFF2-40B4-BE49-F238E27FC236}">
                <a16:creationId xmlns:a16="http://schemas.microsoft.com/office/drawing/2014/main" id="{9308FFBE-23DF-966E-F560-31E6E89319F9}"/>
              </a:ext>
            </a:extLst>
          </p:cNvPr>
          <p:cNvSpPr txBox="1"/>
          <p:nvPr/>
        </p:nvSpPr>
        <p:spPr>
          <a:xfrm>
            <a:off x="10100982" y="3986675"/>
            <a:ext cx="730393" cy="523220"/>
          </a:xfrm>
          <a:prstGeom prst="rect">
            <a:avLst/>
          </a:prstGeom>
          <a:noFill/>
          <a:ln>
            <a:noFill/>
          </a:ln>
        </p:spPr>
        <p:txBody>
          <a:bodyPr wrap="square" rtlCol="0">
            <a:spAutoFit/>
          </a:bodyPr>
          <a:lstStyle/>
          <a:p>
            <a:r>
              <a:rPr lang="en-US" sz="1400" dirty="0">
                <a:solidFill>
                  <a:srgbClr val="FFC000"/>
                </a:solidFill>
              </a:rPr>
              <a:t>Switch Cost</a:t>
            </a:r>
          </a:p>
        </p:txBody>
      </p:sp>
      <p:sp>
        <p:nvSpPr>
          <p:cNvPr id="84" name="Right Bracket 83">
            <a:extLst>
              <a:ext uri="{FF2B5EF4-FFF2-40B4-BE49-F238E27FC236}">
                <a16:creationId xmlns:a16="http://schemas.microsoft.com/office/drawing/2014/main" id="{3A5072D7-6500-EEA0-587A-8B063A63C2DE}"/>
              </a:ext>
            </a:extLst>
          </p:cNvPr>
          <p:cNvSpPr/>
          <p:nvPr/>
        </p:nvSpPr>
        <p:spPr>
          <a:xfrm rot="10800000" flipH="1">
            <a:off x="11587051" y="4269966"/>
            <a:ext cx="45719" cy="261007"/>
          </a:xfrm>
          <a:prstGeom prst="rightBracket">
            <a:avLst/>
          </a:pr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5" name="TextBox 84">
            <a:extLst>
              <a:ext uri="{FF2B5EF4-FFF2-40B4-BE49-F238E27FC236}">
                <a16:creationId xmlns:a16="http://schemas.microsoft.com/office/drawing/2014/main" id="{35726950-1E32-AB87-EE5E-F5B3F2BDE075}"/>
              </a:ext>
            </a:extLst>
          </p:cNvPr>
          <p:cNvSpPr txBox="1"/>
          <p:nvPr/>
        </p:nvSpPr>
        <p:spPr>
          <a:xfrm>
            <a:off x="11604349" y="4192720"/>
            <a:ext cx="733480" cy="415498"/>
          </a:xfrm>
          <a:prstGeom prst="rect">
            <a:avLst/>
          </a:prstGeom>
          <a:noFill/>
        </p:spPr>
        <p:txBody>
          <a:bodyPr wrap="square" rtlCol="0">
            <a:spAutoFit/>
          </a:bodyPr>
          <a:lstStyle/>
          <a:p>
            <a:r>
              <a:rPr lang="en-US" sz="1050" dirty="0">
                <a:solidFill>
                  <a:srgbClr val="FFC000"/>
                </a:solidFill>
              </a:rPr>
              <a:t>Switch Cost</a:t>
            </a:r>
          </a:p>
        </p:txBody>
      </p:sp>
      <p:sp>
        <p:nvSpPr>
          <p:cNvPr id="86" name="Rectangle 85">
            <a:extLst>
              <a:ext uri="{FF2B5EF4-FFF2-40B4-BE49-F238E27FC236}">
                <a16:creationId xmlns:a16="http://schemas.microsoft.com/office/drawing/2014/main" id="{4E511E5F-A04E-3838-1985-8B51666BC0D6}"/>
              </a:ext>
            </a:extLst>
          </p:cNvPr>
          <p:cNvSpPr/>
          <p:nvPr/>
        </p:nvSpPr>
        <p:spPr>
          <a:xfrm>
            <a:off x="9251372" y="1177224"/>
            <a:ext cx="271494" cy="133168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87" name="Rectangle 86">
            <a:extLst>
              <a:ext uri="{FF2B5EF4-FFF2-40B4-BE49-F238E27FC236}">
                <a16:creationId xmlns:a16="http://schemas.microsoft.com/office/drawing/2014/main" id="{5637AB07-F0BF-D229-C175-2089DE2E770D}"/>
              </a:ext>
            </a:extLst>
          </p:cNvPr>
          <p:cNvSpPr/>
          <p:nvPr/>
        </p:nvSpPr>
        <p:spPr>
          <a:xfrm>
            <a:off x="10868134" y="887724"/>
            <a:ext cx="246888" cy="161848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88" name="Rectangle 87">
            <a:extLst>
              <a:ext uri="{FF2B5EF4-FFF2-40B4-BE49-F238E27FC236}">
                <a16:creationId xmlns:a16="http://schemas.microsoft.com/office/drawing/2014/main" id="{6018041E-F0C3-31AE-EE72-7739B5513DD7}"/>
              </a:ext>
            </a:extLst>
          </p:cNvPr>
          <p:cNvSpPr/>
          <p:nvPr/>
        </p:nvSpPr>
        <p:spPr>
          <a:xfrm>
            <a:off x="9609269" y="379556"/>
            <a:ext cx="271494" cy="212935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89" name="Rectangle 88">
            <a:extLst>
              <a:ext uri="{FF2B5EF4-FFF2-40B4-BE49-F238E27FC236}">
                <a16:creationId xmlns:a16="http://schemas.microsoft.com/office/drawing/2014/main" id="{E4BC4C78-B5B4-2542-CA9B-D86268D32821}"/>
              </a:ext>
            </a:extLst>
          </p:cNvPr>
          <p:cNvSpPr/>
          <p:nvPr/>
        </p:nvSpPr>
        <p:spPr>
          <a:xfrm>
            <a:off x="11237867" y="697515"/>
            <a:ext cx="251697" cy="182530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90" name="Rectangle 89">
            <a:extLst>
              <a:ext uri="{FF2B5EF4-FFF2-40B4-BE49-F238E27FC236}">
                <a16:creationId xmlns:a16="http://schemas.microsoft.com/office/drawing/2014/main" id="{0654C71E-4CD4-128E-45EB-891D9415772A}"/>
              </a:ext>
            </a:extLst>
          </p:cNvPr>
          <p:cNvSpPr/>
          <p:nvPr/>
        </p:nvSpPr>
        <p:spPr>
          <a:xfrm>
            <a:off x="10466178" y="266362"/>
            <a:ext cx="137160" cy="13716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91" name="Rectangle 90">
            <a:extLst>
              <a:ext uri="{FF2B5EF4-FFF2-40B4-BE49-F238E27FC236}">
                <a16:creationId xmlns:a16="http://schemas.microsoft.com/office/drawing/2014/main" id="{AC8E85D1-CB2E-BB60-1C58-717B0592F878}"/>
              </a:ext>
            </a:extLst>
          </p:cNvPr>
          <p:cNvSpPr/>
          <p:nvPr/>
        </p:nvSpPr>
        <p:spPr>
          <a:xfrm>
            <a:off x="10466178" y="7965"/>
            <a:ext cx="137160" cy="13716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92" name="Rectangle 91">
            <a:extLst>
              <a:ext uri="{FF2B5EF4-FFF2-40B4-BE49-F238E27FC236}">
                <a16:creationId xmlns:a16="http://schemas.microsoft.com/office/drawing/2014/main" id="{AF9BEB8A-0302-5073-B96A-70B6C84E9C8F}"/>
              </a:ext>
            </a:extLst>
          </p:cNvPr>
          <p:cNvSpPr/>
          <p:nvPr/>
        </p:nvSpPr>
        <p:spPr>
          <a:xfrm>
            <a:off x="8493440" y="3288632"/>
            <a:ext cx="3698560" cy="35422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BF1F50C4-3D93-2B8D-056A-2CFD85E14E37}"/>
              </a:ext>
            </a:extLst>
          </p:cNvPr>
          <p:cNvSpPr/>
          <p:nvPr/>
        </p:nvSpPr>
        <p:spPr>
          <a:xfrm>
            <a:off x="10339575" y="572288"/>
            <a:ext cx="1847288" cy="30508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C006123-7B99-D6A5-CD75-C5CF19CCD1CF}"/>
              </a:ext>
            </a:extLst>
          </p:cNvPr>
          <p:cNvSpPr txBox="1"/>
          <p:nvPr/>
        </p:nvSpPr>
        <p:spPr>
          <a:xfrm>
            <a:off x="10094768" y="387176"/>
            <a:ext cx="1136057" cy="738664"/>
          </a:xfrm>
          <a:prstGeom prst="rect">
            <a:avLst/>
          </a:prstGeom>
          <a:noFill/>
        </p:spPr>
        <p:txBody>
          <a:bodyPr wrap="square" rtlCol="0">
            <a:spAutoFit/>
          </a:bodyPr>
          <a:lstStyle/>
          <a:p>
            <a:r>
              <a:rPr lang="en-US" sz="1400" dirty="0">
                <a:solidFill>
                  <a:srgbClr val="7030A0"/>
                </a:solidFill>
              </a:rPr>
              <a:t>Con. </a:t>
            </a:r>
          </a:p>
          <a:p>
            <a:r>
              <a:rPr lang="en-US" sz="1400" dirty="0">
                <a:solidFill>
                  <a:srgbClr val="7030A0"/>
                </a:solidFill>
              </a:rPr>
              <a:t>Effect</a:t>
            </a:r>
          </a:p>
          <a:p>
            <a:r>
              <a:rPr lang="en-US" sz="1400" dirty="0">
                <a:solidFill>
                  <a:srgbClr val="7030A0"/>
                </a:solidFill>
              </a:rPr>
              <a:t>(</a:t>
            </a:r>
            <a:r>
              <a:rPr lang="en-US" sz="1400" dirty="0" err="1">
                <a:solidFill>
                  <a:srgbClr val="7030A0"/>
                </a:solidFill>
              </a:rPr>
              <a:t>RT</a:t>
            </a:r>
            <a:r>
              <a:rPr lang="en-US" sz="1400" baseline="-25000" dirty="0" err="1">
                <a:solidFill>
                  <a:srgbClr val="7030A0"/>
                </a:solidFill>
              </a:rPr>
              <a:t>inc</a:t>
            </a:r>
            <a:r>
              <a:rPr lang="en-US" sz="1400" dirty="0">
                <a:solidFill>
                  <a:srgbClr val="7030A0"/>
                </a:solidFill>
              </a:rPr>
              <a:t> – </a:t>
            </a:r>
            <a:r>
              <a:rPr lang="en-US" sz="1400" dirty="0" err="1">
                <a:solidFill>
                  <a:srgbClr val="7030A0"/>
                </a:solidFill>
              </a:rPr>
              <a:t>RT</a:t>
            </a:r>
            <a:r>
              <a:rPr lang="en-US" sz="1400" baseline="-25000" dirty="0" err="1">
                <a:solidFill>
                  <a:srgbClr val="7030A0"/>
                </a:solidFill>
              </a:rPr>
              <a:t>con</a:t>
            </a:r>
            <a:r>
              <a:rPr lang="en-US" sz="1400" dirty="0">
                <a:solidFill>
                  <a:srgbClr val="7030A0"/>
                </a:solidFill>
              </a:rPr>
              <a:t>)</a:t>
            </a:r>
          </a:p>
        </p:txBody>
      </p:sp>
    </p:spTree>
    <p:extLst>
      <p:ext uri="{BB962C8B-B14F-4D97-AF65-F5344CB8AC3E}">
        <p14:creationId xmlns:p14="http://schemas.microsoft.com/office/powerpoint/2010/main" val="7443323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1163EF44-4202-729F-67D8-401EB3D02E23}"/>
              </a:ext>
            </a:extLst>
          </p:cNvPr>
          <p:cNvGrpSpPr>
            <a:grpSpLocks noChangeAspect="1"/>
          </p:cNvGrpSpPr>
          <p:nvPr/>
        </p:nvGrpSpPr>
        <p:grpSpPr>
          <a:xfrm>
            <a:off x="1423109" y="61070"/>
            <a:ext cx="6698711" cy="2542492"/>
            <a:chOff x="300653" y="850851"/>
            <a:chExt cx="10779331" cy="3804988"/>
          </a:xfrm>
        </p:grpSpPr>
        <p:grpSp>
          <p:nvGrpSpPr>
            <p:cNvPr id="5" name="Group 4">
              <a:extLst>
                <a:ext uri="{FF2B5EF4-FFF2-40B4-BE49-F238E27FC236}">
                  <a16:creationId xmlns:a16="http://schemas.microsoft.com/office/drawing/2014/main" id="{DB0DE86B-530D-BC67-BCB7-F93DEAA0938F}"/>
                </a:ext>
              </a:extLst>
            </p:cNvPr>
            <p:cNvGrpSpPr/>
            <p:nvPr/>
          </p:nvGrpSpPr>
          <p:grpSpPr>
            <a:xfrm>
              <a:off x="300653" y="1451028"/>
              <a:ext cx="3144253" cy="1791121"/>
              <a:chOff x="1652336" y="2510590"/>
              <a:chExt cx="3144253" cy="1791121"/>
            </a:xfrm>
          </p:grpSpPr>
          <p:sp>
            <p:nvSpPr>
              <p:cNvPr id="6" name="Rectangle 5">
                <a:extLst>
                  <a:ext uri="{FF2B5EF4-FFF2-40B4-BE49-F238E27FC236}">
                    <a16:creationId xmlns:a16="http://schemas.microsoft.com/office/drawing/2014/main" id="{B4EE3BB4-F8BE-4D21-7D06-E34605F44C64}"/>
                  </a:ext>
                </a:extLst>
              </p:cNvPr>
              <p:cNvSpPr/>
              <p:nvPr/>
            </p:nvSpPr>
            <p:spPr>
              <a:xfrm>
                <a:off x="1652336" y="2510590"/>
                <a:ext cx="3144253" cy="1791121"/>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3E0021F-E3A6-7400-F59E-AD7926962F2D}"/>
                  </a:ext>
                </a:extLst>
              </p:cNvPr>
              <p:cNvSpPr/>
              <p:nvPr/>
            </p:nvSpPr>
            <p:spPr>
              <a:xfrm>
                <a:off x="2783972" y="2971800"/>
                <a:ext cx="914400" cy="9144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55EBFAF2-8611-7D14-930F-FD5C0B0FB8DC}"/>
                  </a:ext>
                </a:extLst>
              </p:cNvPr>
              <p:cNvSpPr txBox="1"/>
              <p:nvPr/>
            </p:nvSpPr>
            <p:spPr>
              <a:xfrm>
                <a:off x="2979312" y="3031728"/>
                <a:ext cx="367408" cy="523220"/>
              </a:xfrm>
              <a:prstGeom prst="rect">
                <a:avLst/>
              </a:prstGeom>
              <a:noFill/>
            </p:spPr>
            <p:txBody>
              <a:bodyPr wrap="none" rtlCol="0">
                <a:spAutoFit/>
              </a:bodyPr>
              <a:lstStyle/>
              <a:p>
                <a:r>
                  <a:rPr lang="en-US" sz="2800" b="1" dirty="0"/>
                  <a:t>4</a:t>
                </a:r>
                <a:endParaRPr lang="en-US" sz="3600" b="1" dirty="0"/>
              </a:p>
            </p:txBody>
          </p:sp>
        </p:grpSp>
        <p:grpSp>
          <p:nvGrpSpPr>
            <p:cNvPr id="13" name="Group 12">
              <a:extLst>
                <a:ext uri="{FF2B5EF4-FFF2-40B4-BE49-F238E27FC236}">
                  <a16:creationId xmlns:a16="http://schemas.microsoft.com/office/drawing/2014/main" id="{A723BDFE-6A34-02EC-2E92-87B9E0288BA0}"/>
                </a:ext>
              </a:extLst>
            </p:cNvPr>
            <p:cNvGrpSpPr/>
            <p:nvPr/>
          </p:nvGrpSpPr>
          <p:grpSpPr>
            <a:xfrm>
              <a:off x="2826614" y="1923459"/>
              <a:ext cx="3144253" cy="1791121"/>
              <a:chOff x="1652336" y="2510590"/>
              <a:chExt cx="3144253" cy="1791121"/>
            </a:xfrm>
            <a:solidFill>
              <a:schemeClr val="bg1"/>
            </a:solidFill>
          </p:grpSpPr>
          <p:sp>
            <p:nvSpPr>
              <p:cNvPr id="14" name="Rectangle 13">
                <a:extLst>
                  <a:ext uri="{FF2B5EF4-FFF2-40B4-BE49-F238E27FC236}">
                    <a16:creationId xmlns:a16="http://schemas.microsoft.com/office/drawing/2014/main" id="{D5043942-B063-1CEA-9489-16FA67C409F9}"/>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593C1A-9DA3-3F2B-69D2-BB4A873133AB}"/>
                  </a:ext>
                </a:extLst>
              </p:cNvPr>
              <p:cNvSpPr/>
              <p:nvPr/>
            </p:nvSpPr>
            <p:spPr>
              <a:xfrm>
                <a:off x="2783971" y="2971800"/>
                <a:ext cx="914400" cy="914399"/>
              </a:xfrm>
              <a:prstGeom prst="rect">
                <a:avLst/>
              </a:prstGeom>
              <a:grp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A562B4E-94F2-7CF4-D8C7-6452337B243B}"/>
                  </a:ext>
                </a:extLst>
              </p:cNvPr>
              <p:cNvSpPr txBox="1"/>
              <p:nvPr/>
            </p:nvSpPr>
            <p:spPr>
              <a:xfrm>
                <a:off x="2974734" y="3082516"/>
                <a:ext cx="367408" cy="523220"/>
              </a:xfrm>
              <a:prstGeom prst="rect">
                <a:avLst/>
              </a:prstGeom>
              <a:grpFill/>
            </p:spPr>
            <p:txBody>
              <a:bodyPr wrap="none" rtlCol="0">
                <a:spAutoFit/>
              </a:bodyPr>
              <a:lstStyle/>
              <a:p>
                <a:r>
                  <a:rPr lang="en-US" sz="2800" b="1" dirty="0"/>
                  <a:t>2</a:t>
                </a:r>
                <a:endParaRPr lang="en-US" sz="3600" b="1" dirty="0"/>
              </a:p>
            </p:txBody>
          </p:sp>
        </p:grpSp>
        <p:grpSp>
          <p:nvGrpSpPr>
            <p:cNvPr id="17" name="Group 16">
              <a:extLst>
                <a:ext uri="{FF2B5EF4-FFF2-40B4-BE49-F238E27FC236}">
                  <a16:creationId xmlns:a16="http://schemas.microsoft.com/office/drawing/2014/main" id="{B219E40F-4CCD-60E1-CCF3-55730809CD55}"/>
                </a:ext>
              </a:extLst>
            </p:cNvPr>
            <p:cNvGrpSpPr/>
            <p:nvPr/>
          </p:nvGrpSpPr>
          <p:grpSpPr>
            <a:xfrm>
              <a:off x="5364463" y="2403508"/>
              <a:ext cx="3144253" cy="1791121"/>
              <a:chOff x="1652336" y="2510590"/>
              <a:chExt cx="3144253" cy="1791121"/>
            </a:xfrm>
            <a:solidFill>
              <a:schemeClr val="bg1"/>
            </a:solidFill>
          </p:grpSpPr>
          <p:sp>
            <p:nvSpPr>
              <p:cNvPr id="18" name="Rectangle 17">
                <a:extLst>
                  <a:ext uri="{FF2B5EF4-FFF2-40B4-BE49-F238E27FC236}">
                    <a16:creationId xmlns:a16="http://schemas.microsoft.com/office/drawing/2014/main" id="{78C12A86-B236-DE2D-91D9-2201EDD14A82}"/>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8882392-AF2F-A30C-1ECB-8B0A33F4B130}"/>
                  </a:ext>
                </a:extLst>
              </p:cNvPr>
              <p:cNvSpPr/>
              <p:nvPr/>
            </p:nvSpPr>
            <p:spPr>
              <a:xfrm>
                <a:off x="2783972" y="2971800"/>
                <a:ext cx="914400" cy="914400"/>
              </a:xfrm>
              <a:prstGeom prst="rect">
                <a:avLst/>
              </a:prstGeom>
              <a:grp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20" name="TextBox 19">
                <a:extLst>
                  <a:ext uri="{FF2B5EF4-FFF2-40B4-BE49-F238E27FC236}">
                    <a16:creationId xmlns:a16="http://schemas.microsoft.com/office/drawing/2014/main" id="{4D13C27B-6C22-7C06-4976-934DD5A659D4}"/>
                  </a:ext>
                </a:extLst>
              </p:cNvPr>
              <p:cNvSpPr txBox="1"/>
              <p:nvPr/>
            </p:nvSpPr>
            <p:spPr>
              <a:xfrm>
                <a:off x="2976552" y="3048744"/>
                <a:ext cx="367408" cy="523220"/>
              </a:xfrm>
              <a:prstGeom prst="rect">
                <a:avLst/>
              </a:prstGeom>
              <a:grpFill/>
            </p:spPr>
            <p:txBody>
              <a:bodyPr wrap="none" rtlCol="0">
                <a:spAutoFit/>
              </a:bodyPr>
              <a:lstStyle/>
              <a:p>
                <a:r>
                  <a:rPr lang="en-US" sz="2800" b="1" dirty="0"/>
                  <a:t>9</a:t>
                </a:r>
                <a:endParaRPr lang="en-US" sz="3600" b="1" dirty="0"/>
              </a:p>
            </p:txBody>
          </p:sp>
        </p:grpSp>
        <p:grpSp>
          <p:nvGrpSpPr>
            <p:cNvPr id="21" name="Group 20">
              <a:extLst>
                <a:ext uri="{FF2B5EF4-FFF2-40B4-BE49-F238E27FC236}">
                  <a16:creationId xmlns:a16="http://schemas.microsoft.com/office/drawing/2014/main" id="{282693A1-5681-FF60-D4EC-A6017B16F735}"/>
                </a:ext>
              </a:extLst>
            </p:cNvPr>
            <p:cNvGrpSpPr/>
            <p:nvPr/>
          </p:nvGrpSpPr>
          <p:grpSpPr>
            <a:xfrm>
              <a:off x="7935731" y="2864718"/>
              <a:ext cx="3144253" cy="1791121"/>
              <a:chOff x="1652336" y="2510590"/>
              <a:chExt cx="3144253" cy="1791121"/>
            </a:xfrm>
            <a:solidFill>
              <a:schemeClr val="bg1"/>
            </a:solidFill>
          </p:grpSpPr>
          <p:sp>
            <p:nvSpPr>
              <p:cNvPr id="22" name="Rectangle 21">
                <a:extLst>
                  <a:ext uri="{FF2B5EF4-FFF2-40B4-BE49-F238E27FC236}">
                    <a16:creationId xmlns:a16="http://schemas.microsoft.com/office/drawing/2014/main" id="{DE2153AA-E783-E1EA-37AA-FB73E666F8DD}"/>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868103F-FCD5-E621-3945-F69B2160386A}"/>
                  </a:ext>
                </a:extLst>
              </p:cNvPr>
              <p:cNvSpPr/>
              <p:nvPr/>
            </p:nvSpPr>
            <p:spPr>
              <a:xfrm>
                <a:off x="2783971" y="2971800"/>
                <a:ext cx="914400" cy="914399"/>
              </a:xfrm>
              <a:prstGeom prst="rect">
                <a:avLst/>
              </a:prstGeom>
              <a:grp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826D3BA3-DD38-F7DD-6689-B485BC79A30D}"/>
                  </a:ext>
                </a:extLst>
              </p:cNvPr>
              <p:cNvSpPr txBox="1"/>
              <p:nvPr/>
            </p:nvSpPr>
            <p:spPr>
              <a:xfrm>
                <a:off x="2989547" y="3046118"/>
                <a:ext cx="367408" cy="523220"/>
              </a:xfrm>
              <a:prstGeom prst="rect">
                <a:avLst/>
              </a:prstGeom>
              <a:grpFill/>
            </p:spPr>
            <p:txBody>
              <a:bodyPr wrap="none" rtlCol="0">
                <a:spAutoFit/>
              </a:bodyPr>
              <a:lstStyle/>
              <a:p>
                <a:r>
                  <a:rPr lang="en-US" sz="2800" b="1" dirty="0"/>
                  <a:t>1</a:t>
                </a:r>
                <a:endParaRPr lang="en-US" sz="3600" b="1" dirty="0"/>
              </a:p>
            </p:txBody>
          </p:sp>
        </p:grpSp>
        <p:sp>
          <p:nvSpPr>
            <p:cNvPr id="25" name="TextBox 24">
              <a:extLst>
                <a:ext uri="{FF2B5EF4-FFF2-40B4-BE49-F238E27FC236}">
                  <a16:creationId xmlns:a16="http://schemas.microsoft.com/office/drawing/2014/main" id="{47907E08-6CC6-700D-3D79-22590D46F1F3}"/>
                </a:ext>
              </a:extLst>
            </p:cNvPr>
            <p:cNvSpPr txBox="1"/>
            <p:nvPr/>
          </p:nvSpPr>
          <p:spPr>
            <a:xfrm>
              <a:off x="964242" y="850851"/>
              <a:ext cx="1326773" cy="369332"/>
            </a:xfrm>
            <a:prstGeom prst="rect">
              <a:avLst/>
            </a:prstGeom>
            <a:noFill/>
          </p:spPr>
          <p:txBody>
            <a:bodyPr wrap="none" rtlCol="0">
              <a:spAutoFit/>
            </a:bodyPr>
            <a:lstStyle/>
            <a:p>
              <a:r>
                <a:rPr lang="en-US" dirty="0"/>
                <a:t>Incongruent</a:t>
              </a:r>
            </a:p>
          </p:txBody>
        </p:sp>
        <p:sp>
          <p:nvSpPr>
            <p:cNvPr id="26" name="TextBox 25">
              <a:extLst>
                <a:ext uri="{FF2B5EF4-FFF2-40B4-BE49-F238E27FC236}">
                  <a16:creationId xmlns:a16="http://schemas.microsoft.com/office/drawing/2014/main" id="{33D05802-9CC4-129A-F075-B9AF5EB218CB}"/>
                </a:ext>
              </a:extLst>
            </p:cNvPr>
            <p:cNvSpPr txBox="1"/>
            <p:nvPr/>
          </p:nvSpPr>
          <p:spPr>
            <a:xfrm>
              <a:off x="3545876" y="1327482"/>
              <a:ext cx="1326773" cy="369332"/>
            </a:xfrm>
            <a:prstGeom prst="rect">
              <a:avLst/>
            </a:prstGeom>
            <a:noFill/>
          </p:spPr>
          <p:txBody>
            <a:bodyPr wrap="none" rtlCol="0">
              <a:spAutoFit/>
            </a:bodyPr>
            <a:lstStyle/>
            <a:p>
              <a:r>
                <a:rPr lang="en-US" dirty="0"/>
                <a:t>Incongruent</a:t>
              </a:r>
            </a:p>
          </p:txBody>
        </p:sp>
        <p:sp>
          <p:nvSpPr>
            <p:cNvPr id="27" name="TextBox 26">
              <a:extLst>
                <a:ext uri="{FF2B5EF4-FFF2-40B4-BE49-F238E27FC236}">
                  <a16:creationId xmlns:a16="http://schemas.microsoft.com/office/drawing/2014/main" id="{32ADC69B-F187-BB23-3077-D367B0592CB6}"/>
                </a:ext>
              </a:extLst>
            </p:cNvPr>
            <p:cNvSpPr txBox="1"/>
            <p:nvPr/>
          </p:nvSpPr>
          <p:spPr>
            <a:xfrm>
              <a:off x="6025291" y="1803330"/>
              <a:ext cx="1326773" cy="369332"/>
            </a:xfrm>
            <a:prstGeom prst="rect">
              <a:avLst/>
            </a:prstGeom>
            <a:noFill/>
          </p:spPr>
          <p:txBody>
            <a:bodyPr wrap="none" rtlCol="0">
              <a:spAutoFit/>
            </a:bodyPr>
            <a:lstStyle/>
            <a:p>
              <a:r>
                <a:rPr lang="en-US" dirty="0"/>
                <a:t>Incongruent</a:t>
              </a:r>
            </a:p>
          </p:txBody>
        </p:sp>
        <p:sp>
          <p:nvSpPr>
            <p:cNvPr id="28" name="TextBox 27">
              <a:extLst>
                <a:ext uri="{FF2B5EF4-FFF2-40B4-BE49-F238E27FC236}">
                  <a16:creationId xmlns:a16="http://schemas.microsoft.com/office/drawing/2014/main" id="{A04CE84A-5071-A4DA-81F6-47683151569E}"/>
                </a:ext>
              </a:extLst>
            </p:cNvPr>
            <p:cNvSpPr txBox="1"/>
            <p:nvPr/>
          </p:nvSpPr>
          <p:spPr>
            <a:xfrm>
              <a:off x="8685537" y="2277517"/>
              <a:ext cx="1174810" cy="369332"/>
            </a:xfrm>
            <a:prstGeom prst="rect">
              <a:avLst/>
            </a:prstGeom>
            <a:noFill/>
          </p:spPr>
          <p:txBody>
            <a:bodyPr wrap="none" rtlCol="0">
              <a:spAutoFit/>
            </a:bodyPr>
            <a:lstStyle/>
            <a:p>
              <a:r>
                <a:rPr lang="en-US" dirty="0"/>
                <a:t>Congruent</a:t>
              </a:r>
            </a:p>
          </p:txBody>
        </p:sp>
      </p:grpSp>
      <p:sp>
        <p:nvSpPr>
          <p:cNvPr id="30" name="TextBox 29">
            <a:extLst>
              <a:ext uri="{FF2B5EF4-FFF2-40B4-BE49-F238E27FC236}">
                <a16:creationId xmlns:a16="http://schemas.microsoft.com/office/drawing/2014/main" id="{65F2B070-3992-D7AF-C84A-37AADDDFBBB4}"/>
              </a:ext>
            </a:extLst>
          </p:cNvPr>
          <p:cNvSpPr txBox="1"/>
          <p:nvPr/>
        </p:nvSpPr>
        <p:spPr>
          <a:xfrm>
            <a:off x="-20252" y="0"/>
            <a:ext cx="1447999" cy="369332"/>
          </a:xfrm>
          <a:prstGeom prst="rect">
            <a:avLst/>
          </a:prstGeom>
          <a:noFill/>
        </p:spPr>
        <p:txBody>
          <a:bodyPr wrap="square" rtlCol="0">
            <a:spAutoFit/>
          </a:bodyPr>
          <a:lstStyle/>
          <a:p>
            <a:r>
              <a:rPr lang="en-US" dirty="0" err="1"/>
              <a:t>Egner</a:t>
            </a:r>
            <a:r>
              <a:rPr lang="en-US" dirty="0"/>
              <a:t>, 2023</a:t>
            </a:r>
          </a:p>
        </p:txBody>
      </p:sp>
      <p:pic>
        <p:nvPicPr>
          <p:cNvPr id="31" name="Picture 30" descr="A person wearing a yellow garment&#10;&#10;Description automatically generated">
            <a:extLst>
              <a:ext uri="{FF2B5EF4-FFF2-40B4-BE49-F238E27FC236}">
                <a16:creationId xmlns:a16="http://schemas.microsoft.com/office/drawing/2014/main" id="{BCFCC661-CFD9-E752-BFC8-85DDBF809300}"/>
              </a:ext>
            </a:extLst>
          </p:cNvPr>
          <p:cNvPicPr>
            <a:picLocks noChangeAspect="1"/>
          </p:cNvPicPr>
          <p:nvPr/>
        </p:nvPicPr>
        <p:blipFill rotWithShape="1">
          <a:blip r:embed="rId3"/>
          <a:srcRect t="18750"/>
          <a:stretch/>
        </p:blipFill>
        <p:spPr>
          <a:xfrm>
            <a:off x="85660" y="365125"/>
            <a:ext cx="969670" cy="786511"/>
          </a:xfrm>
          <a:prstGeom prst="rect">
            <a:avLst/>
          </a:prstGeom>
        </p:spPr>
      </p:pic>
      <p:grpSp>
        <p:nvGrpSpPr>
          <p:cNvPr id="34" name="Group 33">
            <a:extLst>
              <a:ext uri="{FF2B5EF4-FFF2-40B4-BE49-F238E27FC236}">
                <a16:creationId xmlns:a16="http://schemas.microsoft.com/office/drawing/2014/main" id="{75DA90FC-DF3F-C20D-E11F-0966206CF059}"/>
              </a:ext>
            </a:extLst>
          </p:cNvPr>
          <p:cNvGrpSpPr>
            <a:grpSpLocks noChangeAspect="1"/>
          </p:cNvGrpSpPr>
          <p:nvPr/>
        </p:nvGrpSpPr>
        <p:grpSpPr>
          <a:xfrm>
            <a:off x="1414859" y="3796735"/>
            <a:ext cx="6702552" cy="2278372"/>
            <a:chOff x="300653" y="1248076"/>
            <a:chExt cx="10779331" cy="3407763"/>
          </a:xfrm>
        </p:grpSpPr>
        <p:grpSp>
          <p:nvGrpSpPr>
            <p:cNvPr id="35" name="Group 34">
              <a:extLst>
                <a:ext uri="{FF2B5EF4-FFF2-40B4-BE49-F238E27FC236}">
                  <a16:creationId xmlns:a16="http://schemas.microsoft.com/office/drawing/2014/main" id="{B9E893E0-C782-5B47-9385-1EA11A3974B1}"/>
                </a:ext>
              </a:extLst>
            </p:cNvPr>
            <p:cNvGrpSpPr/>
            <p:nvPr/>
          </p:nvGrpSpPr>
          <p:grpSpPr>
            <a:xfrm>
              <a:off x="300653" y="1451028"/>
              <a:ext cx="3144253" cy="1791121"/>
              <a:chOff x="1652336" y="2510590"/>
              <a:chExt cx="3144253" cy="1791121"/>
            </a:xfrm>
          </p:grpSpPr>
          <p:sp>
            <p:nvSpPr>
              <p:cNvPr id="51" name="Rectangle 50">
                <a:extLst>
                  <a:ext uri="{FF2B5EF4-FFF2-40B4-BE49-F238E27FC236}">
                    <a16:creationId xmlns:a16="http://schemas.microsoft.com/office/drawing/2014/main" id="{CA21277C-BF12-A239-17C5-421726A3DA91}"/>
                  </a:ext>
                </a:extLst>
              </p:cNvPr>
              <p:cNvSpPr/>
              <p:nvPr/>
            </p:nvSpPr>
            <p:spPr>
              <a:xfrm>
                <a:off x="1652336" y="2510590"/>
                <a:ext cx="3144253" cy="1791121"/>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83B6A7F8-6690-1EF4-952C-54079D2B5590}"/>
                  </a:ext>
                </a:extLst>
              </p:cNvPr>
              <p:cNvSpPr/>
              <p:nvPr/>
            </p:nvSpPr>
            <p:spPr>
              <a:xfrm>
                <a:off x="2783972" y="2971800"/>
                <a:ext cx="914400" cy="9144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790E8D16-1512-6EE9-06CE-5F3816ACC8CE}"/>
                  </a:ext>
                </a:extLst>
              </p:cNvPr>
              <p:cNvSpPr txBox="1"/>
              <p:nvPr/>
            </p:nvSpPr>
            <p:spPr>
              <a:xfrm>
                <a:off x="2979312" y="3031728"/>
                <a:ext cx="367408" cy="523220"/>
              </a:xfrm>
              <a:prstGeom prst="rect">
                <a:avLst/>
              </a:prstGeom>
              <a:noFill/>
            </p:spPr>
            <p:txBody>
              <a:bodyPr wrap="none" rtlCol="0">
                <a:spAutoFit/>
              </a:bodyPr>
              <a:lstStyle/>
              <a:p>
                <a:r>
                  <a:rPr lang="en-US" sz="2800" b="1" dirty="0"/>
                  <a:t>4</a:t>
                </a:r>
                <a:endParaRPr lang="en-US" sz="3600" b="1" dirty="0"/>
              </a:p>
            </p:txBody>
          </p:sp>
        </p:grpSp>
        <p:grpSp>
          <p:nvGrpSpPr>
            <p:cNvPr id="36" name="Group 35">
              <a:extLst>
                <a:ext uri="{FF2B5EF4-FFF2-40B4-BE49-F238E27FC236}">
                  <a16:creationId xmlns:a16="http://schemas.microsoft.com/office/drawing/2014/main" id="{B2E01524-6546-C4F9-2E83-B1F3412F7FF6}"/>
                </a:ext>
              </a:extLst>
            </p:cNvPr>
            <p:cNvGrpSpPr/>
            <p:nvPr/>
          </p:nvGrpSpPr>
          <p:grpSpPr>
            <a:xfrm>
              <a:off x="2826614" y="1923459"/>
              <a:ext cx="3144253" cy="1791121"/>
              <a:chOff x="1652336" y="2510590"/>
              <a:chExt cx="3144253" cy="1791121"/>
            </a:xfrm>
            <a:solidFill>
              <a:schemeClr val="bg1"/>
            </a:solidFill>
          </p:grpSpPr>
          <p:sp>
            <p:nvSpPr>
              <p:cNvPr id="48" name="Rectangle 47">
                <a:extLst>
                  <a:ext uri="{FF2B5EF4-FFF2-40B4-BE49-F238E27FC236}">
                    <a16:creationId xmlns:a16="http://schemas.microsoft.com/office/drawing/2014/main" id="{99FA1F79-C59E-59E2-4978-E3FF18F67046}"/>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1FA5DAF2-369A-74B5-C58C-52333978C427}"/>
                  </a:ext>
                </a:extLst>
              </p:cNvPr>
              <p:cNvSpPr/>
              <p:nvPr/>
            </p:nvSpPr>
            <p:spPr>
              <a:xfrm>
                <a:off x="2783971" y="2971800"/>
                <a:ext cx="914400" cy="914399"/>
              </a:xfrm>
              <a:prstGeom prst="rect">
                <a:avLst/>
              </a:prstGeom>
              <a:grp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00E37408-CB2B-2FE3-F50C-D34BDC1CBD25}"/>
                  </a:ext>
                </a:extLst>
              </p:cNvPr>
              <p:cNvSpPr txBox="1"/>
              <p:nvPr/>
            </p:nvSpPr>
            <p:spPr>
              <a:xfrm>
                <a:off x="2974734" y="3082516"/>
                <a:ext cx="367408" cy="523220"/>
              </a:xfrm>
              <a:prstGeom prst="rect">
                <a:avLst/>
              </a:prstGeom>
              <a:grpFill/>
            </p:spPr>
            <p:txBody>
              <a:bodyPr wrap="none" rtlCol="0">
                <a:spAutoFit/>
              </a:bodyPr>
              <a:lstStyle/>
              <a:p>
                <a:r>
                  <a:rPr lang="en-US" sz="2800" b="1" dirty="0"/>
                  <a:t>2</a:t>
                </a:r>
                <a:endParaRPr lang="en-US" sz="3600" b="1" dirty="0"/>
              </a:p>
            </p:txBody>
          </p:sp>
        </p:grpSp>
        <p:grpSp>
          <p:nvGrpSpPr>
            <p:cNvPr id="37" name="Group 36">
              <a:extLst>
                <a:ext uri="{FF2B5EF4-FFF2-40B4-BE49-F238E27FC236}">
                  <a16:creationId xmlns:a16="http://schemas.microsoft.com/office/drawing/2014/main" id="{82BE7EFE-EF6C-3F85-D63C-D5FA213CB120}"/>
                </a:ext>
              </a:extLst>
            </p:cNvPr>
            <p:cNvGrpSpPr/>
            <p:nvPr/>
          </p:nvGrpSpPr>
          <p:grpSpPr>
            <a:xfrm>
              <a:off x="5364463" y="2403508"/>
              <a:ext cx="3144253" cy="1791121"/>
              <a:chOff x="1652336" y="2510590"/>
              <a:chExt cx="3144253" cy="1791121"/>
            </a:xfrm>
            <a:solidFill>
              <a:schemeClr val="bg1"/>
            </a:solidFill>
          </p:grpSpPr>
          <p:sp>
            <p:nvSpPr>
              <p:cNvPr id="45" name="Rectangle 44">
                <a:extLst>
                  <a:ext uri="{FF2B5EF4-FFF2-40B4-BE49-F238E27FC236}">
                    <a16:creationId xmlns:a16="http://schemas.microsoft.com/office/drawing/2014/main" id="{34BD95CF-A574-FF12-4E3D-428ED5F8254E}"/>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9409109-E4F9-711A-244F-EA160A274A34}"/>
                  </a:ext>
                </a:extLst>
              </p:cNvPr>
              <p:cNvSpPr/>
              <p:nvPr/>
            </p:nvSpPr>
            <p:spPr>
              <a:xfrm>
                <a:off x="2783972" y="2971800"/>
                <a:ext cx="914400" cy="914400"/>
              </a:xfrm>
              <a:prstGeom prst="rect">
                <a:avLst/>
              </a:prstGeom>
              <a:grp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47" name="TextBox 46">
                <a:extLst>
                  <a:ext uri="{FF2B5EF4-FFF2-40B4-BE49-F238E27FC236}">
                    <a16:creationId xmlns:a16="http://schemas.microsoft.com/office/drawing/2014/main" id="{FDEE21ED-3EDC-9A1B-7D8F-429F1E0B0CCD}"/>
                  </a:ext>
                </a:extLst>
              </p:cNvPr>
              <p:cNvSpPr txBox="1"/>
              <p:nvPr/>
            </p:nvSpPr>
            <p:spPr>
              <a:xfrm>
                <a:off x="2976552" y="3048744"/>
                <a:ext cx="367408" cy="523220"/>
              </a:xfrm>
              <a:prstGeom prst="rect">
                <a:avLst/>
              </a:prstGeom>
              <a:grpFill/>
            </p:spPr>
            <p:txBody>
              <a:bodyPr wrap="none" rtlCol="0">
                <a:spAutoFit/>
              </a:bodyPr>
              <a:lstStyle/>
              <a:p>
                <a:r>
                  <a:rPr lang="en-US" sz="2800" b="1" dirty="0"/>
                  <a:t>9</a:t>
                </a:r>
                <a:endParaRPr lang="en-US" sz="3600" b="1" dirty="0"/>
              </a:p>
            </p:txBody>
          </p:sp>
        </p:grpSp>
        <p:grpSp>
          <p:nvGrpSpPr>
            <p:cNvPr id="38" name="Group 37">
              <a:extLst>
                <a:ext uri="{FF2B5EF4-FFF2-40B4-BE49-F238E27FC236}">
                  <a16:creationId xmlns:a16="http://schemas.microsoft.com/office/drawing/2014/main" id="{90796E3E-D919-A8C4-2DC4-BE02301DB323}"/>
                </a:ext>
              </a:extLst>
            </p:cNvPr>
            <p:cNvGrpSpPr/>
            <p:nvPr/>
          </p:nvGrpSpPr>
          <p:grpSpPr>
            <a:xfrm>
              <a:off x="7935731" y="2864718"/>
              <a:ext cx="3144253" cy="1791121"/>
              <a:chOff x="1652336" y="2510590"/>
              <a:chExt cx="3144253" cy="1791121"/>
            </a:xfrm>
            <a:solidFill>
              <a:schemeClr val="bg1"/>
            </a:solidFill>
          </p:grpSpPr>
          <p:sp>
            <p:nvSpPr>
              <p:cNvPr id="42" name="Rectangle 41">
                <a:extLst>
                  <a:ext uri="{FF2B5EF4-FFF2-40B4-BE49-F238E27FC236}">
                    <a16:creationId xmlns:a16="http://schemas.microsoft.com/office/drawing/2014/main" id="{19DA8C38-9224-897E-C2C8-56446A1FA5E2}"/>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73118863-E1DD-E922-4F58-B0D9C4841043}"/>
                  </a:ext>
                </a:extLst>
              </p:cNvPr>
              <p:cNvSpPr/>
              <p:nvPr/>
            </p:nvSpPr>
            <p:spPr>
              <a:xfrm>
                <a:off x="2783971" y="2971800"/>
                <a:ext cx="914400" cy="914399"/>
              </a:xfrm>
              <a:prstGeom prst="rect">
                <a:avLst/>
              </a:prstGeom>
              <a:grp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BF941567-1682-F276-47B7-69DE0A3320AC}"/>
                  </a:ext>
                </a:extLst>
              </p:cNvPr>
              <p:cNvSpPr txBox="1"/>
              <p:nvPr/>
            </p:nvSpPr>
            <p:spPr>
              <a:xfrm>
                <a:off x="2989547" y="3046118"/>
                <a:ext cx="367408" cy="523220"/>
              </a:xfrm>
              <a:prstGeom prst="rect">
                <a:avLst/>
              </a:prstGeom>
              <a:grpFill/>
            </p:spPr>
            <p:txBody>
              <a:bodyPr wrap="none" rtlCol="0">
                <a:spAutoFit/>
              </a:bodyPr>
              <a:lstStyle/>
              <a:p>
                <a:r>
                  <a:rPr lang="en-US" sz="2800" b="1" dirty="0"/>
                  <a:t>1</a:t>
                </a:r>
                <a:endParaRPr lang="en-US" sz="3600" b="1" dirty="0"/>
              </a:p>
            </p:txBody>
          </p:sp>
        </p:grpSp>
        <p:sp>
          <p:nvSpPr>
            <p:cNvPr id="39" name="TextBox 38">
              <a:extLst>
                <a:ext uri="{FF2B5EF4-FFF2-40B4-BE49-F238E27FC236}">
                  <a16:creationId xmlns:a16="http://schemas.microsoft.com/office/drawing/2014/main" id="{BF11F9CE-C5B4-5877-DAA2-E58445A97EEA}"/>
                </a:ext>
              </a:extLst>
            </p:cNvPr>
            <p:cNvSpPr txBox="1"/>
            <p:nvPr/>
          </p:nvSpPr>
          <p:spPr>
            <a:xfrm>
              <a:off x="3760382" y="1248076"/>
              <a:ext cx="1276716" cy="519741"/>
            </a:xfrm>
            <a:prstGeom prst="rect">
              <a:avLst/>
            </a:prstGeom>
            <a:noFill/>
          </p:spPr>
          <p:txBody>
            <a:bodyPr wrap="none" rtlCol="0">
              <a:spAutoFit/>
            </a:bodyPr>
            <a:lstStyle/>
            <a:p>
              <a:r>
                <a:rPr lang="en-US" dirty="0"/>
                <a:t>Repeat</a:t>
              </a:r>
            </a:p>
          </p:txBody>
        </p:sp>
        <p:sp>
          <p:nvSpPr>
            <p:cNvPr id="40" name="TextBox 39">
              <a:extLst>
                <a:ext uri="{FF2B5EF4-FFF2-40B4-BE49-F238E27FC236}">
                  <a16:creationId xmlns:a16="http://schemas.microsoft.com/office/drawing/2014/main" id="{7919F6C1-C545-B3DF-B32F-4463C8AF67B5}"/>
                </a:ext>
              </a:extLst>
            </p:cNvPr>
            <p:cNvSpPr txBox="1"/>
            <p:nvPr/>
          </p:nvSpPr>
          <p:spPr>
            <a:xfrm>
              <a:off x="6331121" y="1826847"/>
              <a:ext cx="1210936" cy="519741"/>
            </a:xfrm>
            <a:prstGeom prst="rect">
              <a:avLst/>
            </a:prstGeom>
            <a:noFill/>
          </p:spPr>
          <p:txBody>
            <a:bodyPr wrap="none" rtlCol="0">
              <a:spAutoFit/>
            </a:bodyPr>
            <a:lstStyle/>
            <a:p>
              <a:r>
                <a:rPr lang="en-US" dirty="0"/>
                <a:t>Switch</a:t>
              </a:r>
            </a:p>
          </p:txBody>
        </p:sp>
        <p:sp>
          <p:nvSpPr>
            <p:cNvPr id="41" name="TextBox 40">
              <a:extLst>
                <a:ext uri="{FF2B5EF4-FFF2-40B4-BE49-F238E27FC236}">
                  <a16:creationId xmlns:a16="http://schemas.microsoft.com/office/drawing/2014/main" id="{EA083A1B-A8AC-64E7-1A40-97BACD09BB5C}"/>
                </a:ext>
              </a:extLst>
            </p:cNvPr>
            <p:cNvSpPr txBox="1"/>
            <p:nvPr/>
          </p:nvSpPr>
          <p:spPr>
            <a:xfrm>
              <a:off x="8902390" y="2241208"/>
              <a:ext cx="1210936" cy="519741"/>
            </a:xfrm>
            <a:prstGeom prst="rect">
              <a:avLst/>
            </a:prstGeom>
            <a:noFill/>
          </p:spPr>
          <p:txBody>
            <a:bodyPr wrap="none" rtlCol="0">
              <a:spAutoFit/>
            </a:bodyPr>
            <a:lstStyle/>
            <a:p>
              <a:r>
                <a:rPr lang="en-US" dirty="0"/>
                <a:t>Switch</a:t>
              </a:r>
            </a:p>
          </p:txBody>
        </p:sp>
      </p:grpSp>
      <p:sp>
        <p:nvSpPr>
          <p:cNvPr id="55" name="TextBox 54">
            <a:extLst>
              <a:ext uri="{FF2B5EF4-FFF2-40B4-BE49-F238E27FC236}">
                <a16:creationId xmlns:a16="http://schemas.microsoft.com/office/drawing/2014/main" id="{A3A0CA38-CA07-1C29-CED7-E2A41C2E2B2D}"/>
              </a:ext>
            </a:extLst>
          </p:cNvPr>
          <p:cNvSpPr txBox="1"/>
          <p:nvPr/>
        </p:nvSpPr>
        <p:spPr>
          <a:xfrm>
            <a:off x="1312728" y="-82110"/>
            <a:ext cx="336952" cy="461665"/>
          </a:xfrm>
          <a:prstGeom prst="rect">
            <a:avLst/>
          </a:prstGeom>
          <a:noFill/>
        </p:spPr>
        <p:txBody>
          <a:bodyPr wrap="none" rtlCol="0">
            <a:spAutoFit/>
          </a:bodyPr>
          <a:lstStyle/>
          <a:p>
            <a:r>
              <a:rPr lang="en-US" sz="2400" b="1" dirty="0"/>
              <a:t>a</a:t>
            </a:r>
          </a:p>
        </p:txBody>
      </p:sp>
      <p:sp>
        <p:nvSpPr>
          <p:cNvPr id="56" name="TextBox 55">
            <a:extLst>
              <a:ext uri="{FF2B5EF4-FFF2-40B4-BE49-F238E27FC236}">
                <a16:creationId xmlns:a16="http://schemas.microsoft.com/office/drawing/2014/main" id="{6B4B4A7F-BC58-F3CF-B446-62819DA1699F}"/>
              </a:ext>
            </a:extLst>
          </p:cNvPr>
          <p:cNvSpPr txBox="1"/>
          <p:nvPr/>
        </p:nvSpPr>
        <p:spPr>
          <a:xfrm>
            <a:off x="1352266" y="3424481"/>
            <a:ext cx="312906" cy="461665"/>
          </a:xfrm>
          <a:prstGeom prst="rect">
            <a:avLst/>
          </a:prstGeom>
          <a:noFill/>
        </p:spPr>
        <p:txBody>
          <a:bodyPr wrap="none" rtlCol="0">
            <a:spAutoFit/>
          </a:bodyPr>
          <a:lstStyle/>
          <a:p>
            <a:r>
              <a:rPr lang="en-US" sz="2400" b="1" dirty="0"/>
              <a:t>c</a:t>
            </a:r>
          </a:p>
        </p:txBody>
      </p:sp>
      <p:sp>
        <p:nvSpPr>
          <p:cNvPr id="58" name="Rectangle 57">
            <a:extLst>
              <a:ext uri="{FF2B5EF4-FFF2-40B4-BE49-F238E27FC236}">
                <a16:creationId xmlns:a16="http://schemas.microsoft.com/office/drawing/2014/main" id="{5B2C5539-811E-9A78-DB55-26A848D84E61}"/>
              </a:ext>
            </a:extLst>
          </p:cNvPr>
          <p:cNvSpPr/>
          <p:nvPr/>
        </p:nvSpPr>
        <p:spPr>
          <a:xfrm>
            <a:off x="902931" y="3288632"/>
            <a:ext cx="11289070" cy="35093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ight Bracket 53">
            <a:extLst>
              <a:ext uri="{FF2B5EF4-FFF2-40B4-BE49-F238E27FC236}">
                <a16:creationId xmlns:a16="http://schemas.microsoft.com/office/drawing/2014/main" id="{894ACBFA-075C-5913-0192-D2F1845C4083}"/>
              </a:ext>
            </a:extLst>
          </p:cNvPr>
          <p:cNvSpPr/>
          <p:nvPr/>
        </p:nvSpPr>
        <p:spPr>
          <a:xfrm rot="10800000" flipH="1">
            <a:off x="10000087" y="3932425"/>
            <a:ext cx="126174" cy="777240"/>
          </a:xfrm>
          <a:prstGeom prst="rightBracket">
            <a:avLst/>
          </a:pr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C000"/>
              </a:solidFill>
            </a:endParaRPr>
          </a:p>
        </p:txBody>
      </p:sp>
      <p:sp>
        <p:nvSpPr>
          <p:cNvPr id="57" name="TextBox 56">
            <a:extLst>
              <a:ext uri="{FF2B5EF4-FFF2-40B4-BE49-F238E27FC236}">
                <a16:creationId xmlns:a16="http://schemas.microsoft.com/office/drawing/2014/main" id="{1E2300B1-885F-5566-7C43-982D40367AFF}"/>
              </a:ext>
            </a:extLst>
          </p:cNvPr>
          <p:cNvSpPr txBox="1"/>
          <p:nvPr/>
        </p:nvSpPr>
        <p:spPr>
          <a:xfrm>
            <a:off x="10100982" y="3986675"/>
            <a:ext cx="730393" cy="523220"/>
          </a:xfrm>
          <a:prstGeom prst="rect">
            <a:avLst/>
          </a:prstGeom>
          <a:noFill/>
          <a:ln>
            <a:noFill/>
          </a:ln>
        </p:spPr>
        <p:txBody>
          <a:bodyPr wrap="square" rtlCol="0">
            <a:spAutoFit/>
          </a:bodyPr>
          <a:lstStyle/>
          <a:p>
            <a:r>
              <a:rPr lang="en-US" sz="1400" dirty="0">
                <a:solidFill>
                  <a:srgbClr val="FFC000"/>
                </a:solidFill>
              </a:rPr>
              <a:t>Switch Cost</a:t>
            </a:r>
          </a:p>
        </p:txBody>
      </p:sp>
      <p:sp>
        <p:nvSpPr>
          <p:cNvPr id="59" name="Right Bracket 58">
            <a:extLst>
              <a:ext uri="{FF2B5EF4-FFF2-40B4-BE49-F238E27FC236}">
                <a16:creationId xmlns:a16="http://schemas.microsoft.com/office/drawing/2014/main" id="{A7EA8954-6A7F-F3F6-5A67-0BC1D7DF4549}"/>
              </a:ext>
            </a:extLst>
          </p:cNvPr>
          <p:cNvSpPr/>
          <p:nvPr/>
        </p:nvSpPr>
        <p:spPr>
          <a:xfrm rot="10800000" flipH="1">
            <a:off x="11587051" y="4269966"/>
            <a:ext cx="45719" cy="261007"/>
          </a:xfrm>
          <a:prstGeom prst="rightBracket">
            <a:avLst/>
          </a:pr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0" name="TextBox 59">
            <a:extLst>
              <a:ext uri="{FF2B5EF4-FFF2-40B4-BE49-F238E27FC236}">
                <a16:creationId xmlns:a16="http://schemas.microsoft.com/office/drawing/2014/main" id="{4FA4AA15-831D-A1EA-5B80-CF8683DFD676}"/>
              </a:ext>
            </a:extLst>
          </p:cNvPr>
          <p:cNvSpPr txBox="1"/>
          <p:nvPr/>
        </p:nvSpPr>
        <p:spPr>
          <a:xfrm>
            <a:off x="11604349" y="4192720"/>
            <a:ext cx="733480" cy="415498"/>
          </a:xfrm>
          <a:prstGeom prst="rect">
            <a:avLst/>
          </a:prstGeom>
          <a:noFill/>
        </p:spPr>
        <p:txBody>
          <a:bodyPr wrap="square" rtlCol="0">
            <a:spAutoFit/>
          </a:bodyPr>
          <a:lstStyle/>
          <a:p>
            <a:r>
              <a:rPr lang="en-US" sz="1050" dirty="0">
                <a:solidFill>
                  <a:srgbClr val="FFC000"/>
                </a:solidFill>
              </a:rPr>
              <a:t>Switch Cost</a:t>
            </a:r>
          </a:p>
        </p:txBody>
      </p:sp>
      <p:sp>
        <p:nvSpPr>
          <p:cNvPr id="61" name="Rectangle 60">
            <a:extLst>
              <a:ext uri="{FF2B5EF4-FFF2-40B4-BE49-F238E27FC236}">
                <a16:creationId xmlns:a16="http://schemas.microsoft.com/office/drawing/2014/main" id="{9E350781-2CCE-737E-63D8-0F6D46282FC8}"/>
              </a:ext>
            </a:extLst>
          </p:cNvPr>
          <p:cNvSpPr/>
          <p:nvPr/>
        </p:nvSpPr>
        <p:spPr>
          <a:xfrm>
            <a:off x="0" y="3428209"/>
            <a:ext cx="12192001" cy="34144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Content Placeholder 4" descr="A diagram of different types of graphs&#10;&#10;Description automatically generated with medium confidence">
            <a:extLst>
              <a:ext uri="{FF2B5EF4-FFF2-40B4-BE49-F238E27FC236}">
                <a16:creationId xmlns:a16="http://schemas.microsoft.com/office/drawing/2014/main" id="{7A0C7179-DE06-75D0-C4C5-B6020D441DB6}"/>
              </a:ext>
            </a:extLst>
          </p:cNvPr>
          <p:cNvPicPr>
            <a:picLocks noGrp="1" noChangeAspect="1"/>
          </p:cNvPicPr>
          <p:nvPr>
            <p:ph idx="1"/>
          </p:nvPr>
        </p:nvPicPr>
        <p:blipFill rotWithShape="1">
          <a:blip r:embed="rId4"/>
          <a:srcRect l="58070" t="1619"/>
          <a:stretch/>
        </p:blipFill>
        <p:spPr>
          <a:xfrm>
            <a:off x="8493440" y="-4519"/>
            <a:ext cx="3698561" cy="6858000"/>
          </a:xfrm>
          <a:ln>
            <a:solidFill>
              <a:srgbClr val="92D050"/>
            </a:solidFill>
          </a:ln>
        </p:spPr>
      </p:pic>
      <p:sp>
        <p:nvSpPr>
          <p:cNvPr id="4" name="Right Bracket 3">
            <a:extLst>
              <a:ext uri="{FF2B5EF4-FFF2-40B4-BE49-F238E27FC236}">
                <a16:creationId xmlns:a16="http://schemas.microsoft.com/office/drawing/2014/main" id="{F9D06416-50A1-8C97-65AB-82BC2C24B058}"/>
              </a:ext>
            </a:extLst>
          </p:cNvPr>
          <p:cNvSpPr/>
          <p:nvPr/>
        </p:nvSpPr>
        <p:spPr>
          <a:xfrm rot="10800000" flipH="1">
            <a:off x="9971597" y="382707"/>
            <a:ext cx="126174" cy="777240"/>
          </a:xfrm>
          <a:prstGeom prst="rightBracket">
            <a:avLst/>
          </a:prstGeom>
          <a:ln w="127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7030A0"/>
              </a:solidFill>
            </a:endParaRPr>
          </a:p>
        </p:txBody>
      </p:sp>
      <p:sp>
        <p:nvSpPr>
          <p:cNvPr id="32" name="Right Bracket 31">
            <a:extLst>
              <a:ext uri="{FF2B5EF4-FFF2-40B4-BE49-F238E27FC236}">
                <a16:creationId xmlns:a16="http://schemas.microsoft.com/office/drawing/2014/main" id="{7E819F66-1C01-5C39-000C-15E12D266F4B}"/>
              </a:ext>
            </a:extLst>
          </p:cNvPr>
          <p:cNvSpPr/>
          <p:nvPr/>
        </p:nvSpPr>
        <p:spPr>
          <a:xfrm rot="10800000" flipH="1">
            <a:off x="11558630" y="697516"/>
            <a:ext cx="45719" cy="261007"/>
          </a:xfrm>
          <a:prstGeom prst="rightBracket">
            <a:avLst/>
          </a:prstGeom>
          <a:ln w="127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7030A0"/>
              </a:solidFill>
            </a:endParaRPr>
          </a:p>
        </p:txBody>
      </p:sp>
      <p:sp>
        <p:nvSpPr>
          <p:cNvPr id="62" name="TextBox 61">
            <a:extLst>
              <a:ext uri="{FF2B5EF4-FFF2-40B4-BE49-F238E27FC236}">
                <a16:creationId xmlns:a16="http://schemas.microsoft.com/office/drawing/2014/main" id="{CBA3D628-60BF-B192-756B-DFB66B5F2518}"/>
              </a:ext>
            </a:extLst>
          </p:cNvPr>
          <p:cNvSpPr txBox="1"/>
          <p:nvPr/>
        </p:nvSpPr>
        <p:spPr>
          <a:xfrm>
            <a:off x="10063174" y="466133"/>
            <a:ext cx="730393" cy="523220"/>
          </a:xfrm>
          <a:prstGeom prst="rect">
            <a:avLst/>
          </a:prstGeom>
          <a:noFill/>
        </p:spPr>
        <p:txBody>
          <a:bodyPr wrap="square" rtlCol="0">
            <a:spAutoFit/>
          </a:bodyPr>
          <a:lstStyle/>
          <a:p>
            <a:r>
              <a:rPr lang="en-US" sz="1400" dirty="0">
                <a:solidFill>
                  <a:srgbClr val="7030A0"/>
                </a:solidFill>
              </a:rPr>
              <a:t>Con. Effect</a:t>
            </a:r>
          </a:p>
        </p:txBody>
      </p:sp>
      <p:sp>
        <p:nvSpPr>
          <p:cNvPr id="63" name="TextBox 62">
            <a:extLst>
              <a:ext uri="{FF2B5EF4-FFF2-40B4-BE49-F238E27FC236}">
                <a16:creationId xmlns:a16="http://schemas.microsoft.com/office/drawing/2014/main" id="{240AEA3A-7A41-C65C-2384-0C50C2E7618C}"/>
              </a:ext>
            </a:extLst>
          </p:cNvPr>
          <p:cNvSpPr txBox="1"/>
          <p:nvPr/>
        </p:nvSpPr>
        <p:spPr>
          <a:xfrm>
            <a:off x="11594198" y="612575"/>
            <a:ext cx="733480" cy="430887"/>
          </a:xfrm>
          <a:prstGeom prst="rect">
            <a:avLst/>
          </a:prstGeom>
          <a:noFill/>
        </p:spPr>
        <p:txBody>
          <a:bodyPr wrap="square" rtlCol="0">
            <a:spAutoFit/>
          </a:bodyPr>
          <a:lstStyle/>
          <a:p>
            <a:r>
              <a:rPr lang="en-US" sz="1050" dirty="0">
                <a:solidFill>
                  <a:srgbClr val="7030A0"/>
                </a:solidFill>
              </a:rPr>
              <a:t>Con. Effect</a:t>
            </a:r>
          </a:p>
        </p:txBody>
      </p:sp>
      <p:sp>
        <p:nvSpPr>
          <p:cNvPr id="64" name="Right Bracket 63">
            <a:extLst>
              <a:ext uri="{FF2B5EF4-FFF2-40B4-BE49-F238E27FC236}">
                <a16:creationId xmlns:a16="http://schemas.microsoft.com/office/drawing/2014/main" id="{6A108169-C6C6-992F-7767-F2F4F24450ED}"/>
              </a:ext>
            </a:extLst>
          </p:cNvPr>
          <p:cNvSpPr/>
          <p:nvPr/>
        </p:nvSpPr>
        <p:spPr>
          <a:xfrm rot="10800000" flipH="1">
            <a:off x="10000087" y="3932425"/>
            <a:ext cx="126174" cy="777240"/>
          </a:xfrm>
          <a:prstGeom prst="rightBracket">
            <a:avLst/>
          </a:pr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C000"/>
              </a:solidFill>
            </a:endParaRPr>
          </a:p>
        </p:txBody>
      </p:sp>
      <p:sp>
        <p:nvSpPr>
          <p:cNvPr id="65" name="TextBox 64">
            <a:extLst>
              <a:ext uri="{FF2B5EF4-FFF2-40B4-BE49-F238E27FC236}">
                <a16:creationId xmlns:a16="http://schemas.microsoft.com/office/drawing/2014/main" id="{20F3AED2-2BAB-D133-A89A-8D842A904D37}"/>
              </a:ext>
            </a:extLst>
          </p:cNvPr>
          <p:cNvSpPr txBox="1"/>
          <p:nvPr/>
        </p:nvSpPr>
        <p:spPr>
          <a:xfrm>
            <a:off x="10100982" y="3986675"/>
            <a:ext cx="730393" cy="523220"/>
          </a:xfrm>
          <a:prstGeom prst="rect">
            <a:avLst/>
          </a:prstGeom>
          <a:noFill/>
          <a:ln>
            <a:noFill/>
          </a:ln>
        </p:spPr>
        <p:txBody>
          <a:bodyPr wrap="square" rtlCol="0">
            <a:spAutoFit/>
          </a:bodyPr>
          <a:lstStyle/>
          <a:p>
            <a:r>
              <a:rPr lang="en-US" sz="1400" dirty="0">
                <a:solidFill>
                  <a:srgbClr val="FFC000"/>
                </a:solidFill>
              </a:rPr>
              <a:t>Switch Cost</a:t>
            </a:r>
          </a:p>
        </p:txBody>
      </p:sp>
      <p:sp>
        <p:nvSpPr>
          <p:cNvPr id="66" name="Right Bracket 65">
            <a:extLst>
              <a:ext uri="{FF2B5EF4-FFF2-40B4-BE49-F238E27FC236}">
                <a16:creationId xmlns:a16="http://schemas.microsoft.com/office/drawing/2014/main" id="{8BC81758-B06B-DBF2-B02F-A7EDAC25B58D}"/>
              </a:ext>
            </a:extLst>
          </p:cNvPr>
          <p:cNvSpPr/>
          <p:nvPr/>
        </p:nvSpPr>
        <p:spPr>
          <a:xfrm rot="10800000" flipH="1">
            <a:off x="11587051" y="4269966"/>
            <a:ext cx="45719" cy="261007"/>
          </a:xfrm>
          <a:prstGeom prst="rightBracket">
            <a:avLst/>
          </a:pr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7" name="TextBox 66">
            <a:extLst>
              <a:ext uri="{FF2B5EF4-FFF2-40B4-BE49-F238E27FC236}">
                <a16:creationId xmlns:a16="http://schemas.microsoft.com/office/drawing/2014/main" id="{9C575969-9F76-5468-F51A-4E9003D2055C}"/>
              </a:ext>
            </a:extLst>
          </p:cNvPr>
          <p:cNvSpPr txBox="1"/>
          <p:nvPr/>
        </p:nvSpPr>
        <p:spPr>
          <a:xfrm>
            <a:off x="11604349" y="4192720"/>
            <a:ext cx="733480" cy="415498"/>
          </a:xfrm>
          <a:prstGeom prst="rect">
            <a:avLst/>
          </a:prstGeom>
          <a:noFill/>
        </p:spPr>
        <p:txBody>
          <a:bodyPr wrap="square" rtlCol="0">
            <a:spAutoFit/>
          </a:bodyPr>
          <a:lstStyle/>
          <a:p>
            <a:r>
              <a:rPr lang="en-US" sz="1050" dirty="0">
                <a:solidFill>
                  <a:srgbClr val="FFC000"/>
                </a:solidFill>
              </a:rPr>
              <a:t>Switch Cost</a:t>
            </a:r>
          </a:p>
        </p:txBody>
      </p:sp>
      <p:sp>
        <p:nvSpPr>
          <p:cNvPr id="68" name="Rectangle 67">
            <a:extLst>
              <a:ext uri="{FF2B5EF4-FFF2-40B4-BE49-F238E27FC236}">
                <a16:creationId xmlns:a16="http://schemas.microsoft.com/office/drawing/2014/main" id="{5789EC25-8652-E8DF-7F32-4664D50C8D7F}"/>
              </a:ext>
            </a:extLst>
          </p:cNvPr>
          <p:cNvSpPr/>
          <p:nvPr/>
        </p:nvSpPr>
        <p:spPr>
          <a:xfrm>
            <a:off x="9251372" y="1177224"/>
            <a:ext cx="271494" cy="133168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69" name="Rectangle 68">
            <a:extLst>
              <a:ext uri="{FF2B5EF4-FFF2-40B4-BE49-F238E27FC236}">
                <a16:creationId xmlns:a16="http://schemas.microsoft.com/office/drawing/2014/main" id="{39A6295E-AF69-562B-67AF-E9A3A4761D06}"/>
              </a:ext>
            </a:extLst>
          </p:cNvPr>
          <p:cNvSpPr/>
          <p:nvPr/>
        </p:nvSpPr>
        <p:spPr>
          <a:xfrm>
            <a:off x="10868134" y="887724"/>
            <a:ext cx="246888" cy="161848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70" name="Rectangle 69">
            <a:extLst>
              <a:ext uri="{FF2B5EF4-FFF2-40B4-BE49-F238E27FC236}">
                <a16:creationId xmlns:a16="http://schemas.microsoft.com/office/drawing/2014/main" id="{6BFF218E-B915-2372-EF17-05BB0D06B99F}"/>
              </a:ext>
            </a:extLst>
          </p:cNvPr>
          <p:cNvSpPr/>
          <p:nvPr/>
        </p:nvSpPr>
        <p:spPr>
          <a:xfrm>
            <a:off x="9609269" y="379556"/>
            <a:ext cx="271494" cy="212935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71" name="Rectangle 70">
            <a:extLst>
              <a:ext uri="{FF2B5EF4-FFF2-40B4-BE49-F238E27FC236}">
                <a16:creationId xmlns:a16="http://schemas.microsoft.com/office/drawing/2014/main" id="{F2086372-5AC8-6D26-E331-386C600F5C1A}"/>
              </a:ext>
            </a:extLst>
          </p:cNvPr>
          <p:cNvSpPr/>
          <p:nvPr/>
        </p:nvSpPr>
        <p:spPr>
          <a:xfrm>
            <a:off x="11237867" y="697515"/>
            <a:ext cx="251697" cy="182530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72" name="Rectangle 71">
            <a:extLst>
              <a:ext uri="{FF2B5EF4-FFF2-40B4-BE49-F238E27FC236}">
                <a16:creationId xmlns:a16="http://schemas.microsoft.com/office/drawing/2014/main" id="{6C99945D-415C-C260-6BB9-BA7791048908}"/>
              </a:ext>
            </a:extLst>
          </p:cNvPr>
          <p:cNvSpPr/>
          <p:nvPr/>
        </p:nvSpPr>
        <p:spPr>
          <a:xfrm>
            <a:off x="10466178" y="266362"/>
            <a:ext cx="137160" cy="13716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73" name="Rectangle 72">
            <a:extLst>
              <a:ext uri="{FF2B5EF4-FFF2-40B4-BE49-F238E27FC236}">
                <a16:creationId xmlns:a16="http://schemas.microsoft.com/office/drawing/2014/main" id="{9F08971D-3756-9D86-0DFA-797C39356687}"/>
              </a:ext>
            </a:extLst>
          </p:cNvPr>
          <p:cNvSpPr/>
          <p:nvPr/>
        </p:nvSpPr>
        <p:spPr>
          <a:xfrm>
            <a:off x="10466178" y="7965"/>
            <a:ext cx="137160" cy="13716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74" name="Rectangle 73">
            <a:extLst>
              <a:ext uri="{FF2B5EF4-FFF2-40B4-BE49-F238E27FC236}">
                <a16:creationId xmlns:a16="http://schemas.microsoft.com/office/drawing/2014/main" id="{08A7A00F-2F19-1E04-E9A4-1D519E568E49}"/>
              </a:ext>
            </a:extLst>
          </p:cNvPr>
          <p:cNvSpPr/>
          <p:nvPr/>
        </p:nvSpPr>
        <p:spPr>
          <a:xfrm>
            <a:off x="8493440" y="3288632"/>
            <a:ext cx="3698560" cy="354224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8448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1163EF44-4202-729F-67D8-401EB3D02E23}"/>
              </a:ext>
            </a:extLst>
          </p:cNvPr>
          <p:cNvGrpSpPr>
            <a:grpSpLocks noChangeAspect="1"/>
          </p:cNvGrpSpPr>
          <p:nvPr/>
        </p:nvGrpSpPr>
        <p:grpSpPr>
          <a:xfrm>
            <a:off x="1423109" y="61070"/>
            <a:ext cx="6698711" cy="2542492"/>
            <a:chOff x="300653" y="850851"/>
            <a:chExt cx="10779331" cy="3804988"/>
          </a:xfrm>
        </p:grpSpPr>
        <p:grpSp>
          <p:nvGrpSpPr>
            <p:cNvPr id="5" name="Group 4">
              <a:extLst>
                <a:ext uri="{FF2B5EF4-FFF2-40B4-BE49-F238E27FC236}">
                  <a16:creationId xmlns:a16="http://schemas.microsoft.com/office/drawing/2014/main" id="{DB0DE86B-530D-BC67-BCB7-F93DEAA0938F}"/>
                </a:ext>
              </a:extLst>
            </p:cNvPr>
            <p:cNvGrpSpPr/>
            <p:nvPr/>
          </p:nvGrpSpPr>
          <p:grpSpPr>
            <a:xfrm>
              <a:off x="300653" y="1451028"/>
              <a:ext cx="3144253" cy="1791121"/>
              <a:chOff x="1652336" y="2510590"/>
              <a:chExt cx="3144253" cy="1791121"/>
            </a:xfrm>
          </p:grpSpPr>
          <p:sp>
            <p:nvSpPr>
              <p:cNvPr id="6" name="Rectangle 5">
                <a:extLst>
                  <a:ext uri="{FF2B5EF4-FFF2-40B4-BE49-F238E27FC236}">
                    <a16:creationId xmlns:a16="http://schemas.microsoft.com/office/drawing/2014/main" id="{B4EE3BB4-F8BE-4D21-7D06-E34605F44C64}"/>
                  </a:ext>
                </a:extLst>
              </p:cNvPr>
              <p:cNvSpPr/>
              <p:nvPr/>
            </p:nvSpPr>
            <p:spPr>
              <a:xfrm>
                <a:off x="1652336" y="2510590"/>
                <a:ext cx="3144253" cy="1791121"/>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3E0021F-E3A6-7400-F59E-AD7926962F2D}"/>
                  </a:ext>
                </a:extLst>
              </p:cNvPr>
              <p:cNvSpPr/>
              <p:nvPr/>
            </p:nvSpPr>
            <p:spPr>
              <a:xfrm>
                <a:off x="2783972" y="2971800"/>
                <a:ext cx="914400" cy="9144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55EBFAF2-8611-7D14-930F-FD5C0B0FB8DC}"/>
                  </a:ext>
                </a:extLst>
              </p:cNvPr>
              <p:cNvSpPr txBox="1"/>
              <p:nvPr/>
            </p:nvSpPr>
            <p:spPr>
              <a:xfrm>
                <a:off x="2979312" y="3031728"/>
                <a:ext cx="367408" cy="523220"/>
              </a:xfrm>
              <a:prstGeom prst="rect">
                <a:avLst/>
              </a:prstGeom>
              <a:noFill/>
            </p:spPr>
            <p:txBody>
              <a:bodyPr wrap="none" rtlCol="0">
                <a:spAutoFit/>
              </a:bodyPr>
              <a:lstStyle/>
              <a:p>
                <a:r>
                  <a:rPr lang="en-US" sz="2800" b="1" dirty="0"/>
                  <a:t>4</a:t>
                </a:r>
                <a:endParaRPr lang="en-US" sz="3600" b="1" dirty="0"/>
              </a:p>
            </p:txBody>
          </p:sp>
        </p:grpSp>
        <p:grpSp>
          <p:nvGrpSpPr>
            <p:cNvPr id="13" name="Group 12">
              <a:extLst>
                <a:ext uri="{FF2B5EF4-FFF2-40B4-BE49-F238E27FC236}">
                  <a16:creationId xmlns:a16="http://schemas.microsoft.com/office/drawing/2014/main" id="{A723BDFE-6A34-02EC-2E92-87B9E0288BA0}"/>
                </a:ext>
              </a:extLst>
            </p:cNvPr>
            <p:cNvGrpSpPr/>
            <p:nvPr/>
          </p:nvGrpSpPr>
          <p:grpSpPr>
            <a:xfrm>
              <a:off x="2826614" y="1923459"/>
              <a:ext cx="3144253" cy="1791121"/>
              <a:chOff x="1652336" y="2510590"/>
              <a:chExt cx="3144253" cy="1791121"/>
            </a:xfrm>
            <a:solidFill>
              <a:schemeClr val="bg1"/>
            </a:solidFill>
          </p:grpSpPr>
          <p:sp>
            <p:nvSpPr>
              <p:cNvPr id="14" name="Rectangle 13">
                <a:extLst>
                  <a:ext uri="{FF2B5EF4-FFF2-40B4-BE49-F238E27FC236}">
                    <a16:creationId xmlns:a16="http://schemas.microsoft.com/office/drawing/2014/main" id="{D5043942-B063-1CEA-9489-16FA67C409F9}"/>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593C1A-9DA3-3F2B-69D2-BB4A873133AB}"/>
                  </a:ext>
                </a:extLst>
              </p:cNvPr>
              <p:cNvSpPr/>
              <p:nvPr/>
            </p:nvSpPr>
            <p:spPr>
              <a:xfrm>
                <a:off x="2783971" y="2971800"/>
                <a:ext cx="914400" cy="914399"/>
              </a:xfrm>
              <a:prstGeom prst="rect">
                <a:avLst/>
              </a:prstGeom>
              <a:grp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A562B4E-94F2-7CF4-D8C7-6452337B243B}"/>
                  </a:ext>
                </a:extLst>
              </p:cNvPr>
              <p:cNvSpPr txBox="1"/>
              <p:nvPr/>
            </p:nvSpPr>
            <p:spPr>
              <a:xfrm>
                <a:off x="2974734" y="3082516"/>
                <a:ext cx="367408" cy="523220"/>
              </a:xfrm>
              <a:prstGeom prst="rect">
                <a:avLst/>
              </a:prstGeom>
              <a:grpFill/>
            </p:spPr>
            <p:txBody>
              <a:bodyPr wrap="none" rtlCol="0">
                <a:spAutoFit/>
              </a:bodyPr>
              <a:lstStyle/>
              <a:p>
                <a:r>
                  <a:rPr lang="en-US" sz="2800" b="1" dirty="0"/>
                  <a:t>2</a:t>
                </a:r>
                <a:endParaRPr lang="en-US" sz="3600" b="1" dirty="0"/>
              </a:p>
            </p:txBody>
          </p:sp>
        </p:grpSp>
        <p:grpSp>
          <p:nvGrpSpPr>
            <p:cNvPr id="17" name="Group 16">
              <a:extLst>
                <a:ext uri="{FF2B5EF4-FFF2-40B4-BE49-F238E27FC236}">
                  <a16:creationId xmlns:a16="http://schemas.microsoft.com/office/drawing/2014/main" id="{B219E40F-4CCD-60E1-CCF3-55730809CD55}"/>
                </a:ext>
              </a:extLst>
            </p:cNvPr>
            <p:cNvGrpSpPr/>
            <p:nvPr/>
          </p:nvGrpSpPr>
          <p:grpSpPr>
            <a:xfrm>
              <a:off x="5364463" y="2403508"/>
              <a:ext cx="3144253" cy="1791121"/>
              <a:chOff x="1652336" y="2510590"/>
              <a:chExt cx="3144253" cy="1791121"/>
            </a:xfrm>
            <a:solidFill>
              <a:schemeClr val="bg1"/>
            </a:solidFill>
          </p:grpSpPr>
          <p:sp>
            <p:nvSpPr>
              <p:cNvPr id="18" name="Rectangle 17">
                <a:extLst>
                  <a:ext uri="{FF2B5EF4-FFF2-40B4-BE49-F238E27FC236}">
                    <a16:creationId xmlns:a16="http://schemas.microsoft.com/office/drawing/2014/main" id="{78C12A86-B236-DE2D-91D9-2201EDD14A82}"/>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8882392-AF2F-A30C-1ECB-8B0A33F4B130}"/>
                  </a:ext>
                </a:extLst>
              </p:cNvPr>
              <p:cNvSpPr/>
              <p:nvPr/>
            </p:nvSpPr>
            <p:spPr>
              <a:xfrm>
                <a:off x="2783972" y="2971800"/>
                <a:ext cx="914400" cy="914400"/>
              </a:xfrm>
              <a:prstGeom prst="rect">
                <a:avLst/>
              </a:prstGeom>
              <a:grp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20" name="TextBox 19">
                <a:extLst>
                  <a:ext uri="{FF2B5EF4-FFF2-40B4-BE49-F238E27FC236}">
                    <a16:creationId xmlns:a16="http://schemas.microsoft.com/office/drawing/2014/main" id="{4D13C27B-6C22-7C06-4976-934DD5A659D4}"/>
                  </a:ext>
                </a:extLst>
              </p:cNvPr>
              <p:cNvSpPr txBox="1"/>
              <p:nvPr/>
            </p:nvSpPr>
            <p:spPr>
              <a:xfrm>
                <a:off x="2976552" y="3048744"/>
                <a:ext cx="367408" cy="523220"/>
              </a:xfrm>
              <a:prstGeom prst="rect">
                <a:avLst/>
              </a:prstGeom>
              <a:grpFill/>
            </p:spPr>
            <p:txBody>
              <a:bodyPr wrap="none" rtlCol="0">
                <a:spAutoFit/>
              </a:bodyPr>
              <a:lstStyle/>
              <a:p>
                <a:r>
                  <a:rPr lang="en-US" sz="2800" b="1" dirty="0"/>
                  <a:t>9</a:t>
                </a:r>
                <a:endParaRPr lang="en-US" sz="3600" b="1" dirty="0"/>
              </a:p>
            </p:txBody>
          </p:sp>
        </p:grpSp>
        <p:grpSp>
          <p:nvGrpSpPr>
            <p:cNvPr id="21" name="Group 20">
              <a:extLst>
                <a:ext uri="{FF2B5EF4-FFF2-40B4-BE49-F238E27FC236}">
                  <a16:creationId xmlns:a16="http://schemas.microsoft.com/office/drawing/2014/main" id="{282693A1-5681-FF60-D4EC-A6017B16F735}"/>
                </a:ext>
              </a:extLst>
            </p:cNvPr>
            <p:cNvGrpSpPr/>
            <p:nvPr/>
          </p:nvGrpSpPr>
          <p:grpSpPr>
            <a:xfrm>
              <a:off x="7935731" y="2864718"/>
              <a:ext cx="3144253" cy="1791121"/>
              <a:chOff x="1652336" y="2510590"/>
              <a:chExt cx="3144253" cy="1791121"/>
            </a:xfrm>
            <a:solidFill>
              <a:schemeClr val="bg1"/>
            </a:solidFill>
          </p:grpSpPr>
          <p:sp>
            <p:nvSpPr>
              <p:cNvPr id="22" name="Rectangle 21">
                <a:extLst>
                  <a:ext uri="{FF2B5EF4-FFF2-40B4-BE49-F238E27FC236}">
                    <a16:creationId xmlns:a16="http://schemas.microsoft.com/office/drawing/2014/main" id="{DE2153AA-E783-E1EA-37AA-FB73E666F8DD}"/>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868103F-FCD5-E621-3945-F69B2160386A}"/>
                  </a:ext>
                </a:extLst>
              </p:cNvPr>
              <p:cNvSpPr/>
              <p:nvPr/>
            </p:nvSpPr>
            <p:spPr>
              <a:xfrm>
                <a:off x="2783971" y="2971800"/>
                <a:ext cx="914400" cy="914399"/>
              </a:xfrm>
              <a:prstGeom prst="rect">
                <a:avLst/>
              </a:prstGeom>
              <a:grp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826D3BA3-DD38-F7DD-6689-B485BC79A30D}"/>
                  </a:ext>
                </a:extLst>
              </p:cNvPr>
              <p:cNvSpPr txBox="1"/>
              <p:nvPr/>
            </p:nvSpPr>
            <p:spPr>
              <a:xfrm>
                <a:off x="2989547" y="3046118"/>
                <a:ext cx="367408" cy="523220"/>
              </a:xfrm>
              <a:prstGeom prst="rect">
                <a:avLst/>
              </a:prstGeom>
              <a:grpFill/>
            </p:spPr>
            <p:txBody>
              <a:bodyPr wrap="none" rtlCol="0">
                <a:spAutoFit/>
              </a:bodyPr>
              <a:lstStyle/>
              <a:p>
                <a:r>
                  <a:rPr lang="en-US" sz="2800" b="1" dirty="0"/>
                  <a:t>1</a:t>
                </a:r>
                <a:endParaRPr lang="en-US" sz="3600" b="1" dirty="0"/>
              </a:p>
            </p:txBody>
          </p:sp>
        </p:grpSp>
        <p:sp>
          <p:nvSpPr>
            <p:cNvPr id="25" name="TextBox 24">
              <a:extLst>
                <a:ext uri="{FF2B5EF4-FFF2-40B4-BE49-F238E27FC236}">
                  <a16:creationId xmlns:a16="http://schemas.microsoft.com/office/drawing/2014/main" id="{47907E08-6CC6-700D-3D79-22590D46F1F3}"/>
                </a:ext>
              </a:extLst>
            </p:cNvPr>
            <p:cNvSpPr txBox="1"/>
            <p:nvPr/>
          </p:nvSpPr>
          <p:spPr>
            <a:xfrm>
              <a:off x="964242" y="850851"/>
              <a:ext cx="1326773" cy="369332"/>
            </a:xfrm>
            <a:prstGeom prst="rect">
              <a:avLst/>
            </a:prstGeom>
            <a:noFill/>
          </p:spPr>
          <p:txBody>
            <a:bodyPr wrap="none" rtlCol="0">
              <a:spAutoFit/>
            </a:bodyPr>
            <a:lstStyle/>
            <a:p>
              <a:r>
                <a:rPr lang="en-US" dirty="0"/>
                <a:t>Incongruent</a:t>
              </a:r>
            </a:p>
          </p:txBody>
        </p:sp>
        <p:sp>
          <p:nvSpPr>
            <p:cNvPr id="26" name="TextBox 25">
              <a:extLst>
                <a:ext uri="{FF2B5EF4-FFF2-40B4-BE49-F238E27FC236}">
                  <a16:creationId xmlns:a16="http://schemas.microsoft.com/office/drawing/2014/main" id="{33D05802-9CC4-129A-F075-B9AF5EB218CB}"/>
                </a:ext>
              </a:extLst>
            </p:cNvPr>
            <p:cNvSpPr txBox="1"/>
            <p:nvPr/>
          </p:nvSpPr>
          <p:spPr>
            <a:xfrm>
              <a:off x="3545876" y="1327482"/>
              <a:ext cx="1326773" cy="369332"/>
            </a:xfrm>
            <a:prstGeom prst="rect">
              <a:avLst/>
            </a:prstGeom>
            <a:noFill/>
          </p:spPr>
          <p:txBody>
            <a:bodyPr wrap="none" rtlCol="0">
              <a:spAutoFit/>
            </a:bodyPr>
            <a:lstStyle/>
            <a:p>
              <a:r>
                <a:rPr lang="en-US" dirty="0"/>
                <a:t>Incongruent</a:t>
              </a:r>
            </a:p>
          </p:txBody>
        </p:sp>
        <p:sp>
          <p:nvSpPr>
            <p:cNvPr id="27" name="TextBox 26">
              <a:extLst>
                <a:ext uri="{FF2B5EF4-FFF2-40B4-BE49-F238E27FC236}">
                  <a16:creationId xmlns:a16="http://schemas.microsoft.com/office/drawing/2014/main" id="{32ADC69B-F187-BB23-3077-D367B0592CB6}"/>
                </a:ext>
              </a:extLst>
            </p:cNvPr>
            <p:cNvSpPr txBox="1"/>
            <p:nvPr/>
          </p:nvSpPr>
          <p:spPr>
            <a:xfrm>
              <a:off x="6025291" y="1803330"/>
              <a:ext cx="1326773" cy="369332"/>
            </a:xfrm>
            <a:prstGeom prst="rect">
              <a:avLst/>
            </a:prstGeom>
            <a:noFill/>
          </p:spPr>
          <p:txBody>
            <a:bodyPr wrap="none" rtlCol="0">
              <a:spAutoFit/>
            </a:bodyPr>
            <a:lstStyle/>
            <a:p>
              <a:r>
                <a:rPr lang="en-US" dirty="0"/>
                <a:t>Incongruent</a:t>
              </a:r>
            </a:p>
          </p:txBody>
        </p:sp>
        <p:sp>
          <p:nvSpPr>
            <p:cNvPr id="28" name="TextBox 27">
              <a:extLst>
                <a:ext uri="{FF2B5EF4-FFF2-40B4-BE49-F238E27FC236}">
                  <a16:creationId xmlns:a16="http://schemas.microsoft.com/office/drawing/2014/main" id="{A04CE84A-5071-A4DA-81F6-47683151569E}"/>
                </a:ext>
              </a:extLst>
            </p:cNvPr>
            <p:cNvSpPr txBox="1"/>
            <p:nvPr/>
          </p:nvSpPr>
          <p:spPr>
            <a:xfrm>
              <a:off x="8685537" y="2277517"/>
              <a:ext cx="1174810" cy="369332"/>
            </a:xfrm>
            <a:prstGeom prst="rect">
              <a:avLst/>
            </a:prstGeom>
            <a:noFill/>
          </p:spPr>
          <p:txBody>
            <a:bodyPr wrap="none" rtlCol="0">
              <a:spAutoFit/>
            </a:bodyPr>
            <a:lstStyle/>
            <a:p>
              <a:r>
                <a:rPr lang="en-US" dirty="0"/>
                <a:t>Congruent</a:t>
              </a:r>
            </a:p>
          </p:txBody>
        </p:sp>
      </p:grpSp>
      <p:sp>
        <p:nvSpPr>
          <p:cNvPr id="30" name="TextBox 29">
            <a:extLst>
              <a:ext uri="{FF2B5EF4-FFF2-40B4-BE49-F238E27FC236}">
                <a16:creationId xmlns:a16="http://schemas.microsoft.com/office/drawing/2014/main" id="{65F2B070-3992-D7AF-C84A-37AADDDFBBB4}"/>
              </a:ext>
            </a:extLst>
          </p:cNvPr>
          <p:cNvSpPr txBox="1"/>
          <p:nvPr/>
        </p:nvSpPr>
        <p:spPr>
          <a:xfrm>
            <a:off x="-20252" y="0"/>
            <a:ext cx="1447999" cy="369332"/>
          </a:xfrm>
          <a:prstGeom prst="rect">
            <a:avLst/>
          </a:prstGeom>
          <a:noFill/>
        </p:spPr>
        <p:txBody>
          <a:bodyPr wrap="square" rtlCol="0">
            <a:spAutoFit/>
          </a:bodyPr>
          <a:lstStyle/>
          <a:p>
            <a:r>
              <a:rPr lang="en-US" dirty="0" err="1"/>
              <a:t>Egner</a:t>
            </a:r>
            <a:r>
              <a:rPr lang="en-US" dirty="0"/>
              <a:t>, 2023</a:t>
            </a:r>
          </a:p>
        </p:txBody>
      </p:sp>
      <p:pic>
        <p:nvPicPr>
          <p:cNvPr id="31" name="Picture 30" descr="A person wearing a yellow garment&#10;&#10;Description automatically generated">
            <a:extLst>
              <a:ext uri="{FF2B5EF4-FFF2-40B4-BE49-F238E27FC236}">
                <a16:creationId xmlns:a16="http://schemas.microsoft.com/office/drawing/2014/main" id="{BCFCC661-CFD9-E752-BFC8-85DDBF809300}"/>
              </a:ext>
            </a:extLst>
          </p:cNvPr>
          <p:cNvPicPr>
            <a:picLocks noChangeAspect="1"/>
          </p:cNvPicPr>
          <p:nvPr/>
        </p:nvPicPr>
        <p:blipFill rotWithShape="1">
          <a:blip r:embed="rId3"/>
          <a:srcRect t="18750"/>
          <a:stretch/>
        </p:blipFill>
        <p:spPr>
          <a:xfrm>
            <a:off x="85660" y="365125"/>
            <a:ext cx="969670" cy="786511"/>
          </a:xfrm>
          <a:prstGeom prst="rect">
            <a:avLst/>
          </a:prstGeom>
        </p:spPr>
      </p:pic>
      <p:grpSp>
        <p:nvGrpSpPr>
          <p:cNvPr id="34" name="Group 33">
            <a:extLst>
              <a:ext uri="{FF2B5EF4-FFF2-40B4-BE49-F238E27FC236}">
                <a16:creationId xmlns:a16="http://schemas.microsoft.com/office/drawing/2014/main" id="{75DA90FC-DF3F-C20D-E11F-0966206CF059}"/>
              </a:ext>
            </a:extLst>
          </p:cNvPr>
          <p:cNvGrpSpPr>
            <a:grpSpLocks noChangeAspect="1"/>
          </p:cNvGrpSpPr>
          <p:nvPr/>
        </p:nvGrpSpPr>
        <p:grpSpPr>
          <a:xfrm>
            <a:off x="1414859" y="3796735"/>
            <a:ext cx="6702552" cy="2278372"/>
            <a:chOff x="300653" y="1248076"/>
            <a:chExt cx="10779331" cy="3407763"/>
          </a:xfrm>
        </p:grpSpPr>
        <p:grpSp>
          <p:nvGrpSpPr>
            <p:cNvPr id="35" name="Group 34">
              <a:extLst>
                <a:ext uri="{FF2B5EF4-FFF2-40B4-BE49-F238E27FC236}">
                  <a16:creationId xmlns:a16="http://schemas.microsoft.com/office/drawing/2014/main" id="{B9E893E0-C782-5B47-9385-1EA11A3974B1}"/>
                </a:ext>
              </a:extLst>
            </p:cNvPr>
            <p:cNvGrpSpPr/>
            <p:nvPr/>
          </p:nvGrpSpPr>
          <p:grpSpPr>
            <a:xfrm>
              <a:off x="300653" y="1451028"/>
              <a:ext cx="3144253" cy="1791121"/>
              <a:chOff x="1652336" y="2510590"/>
              <a:chExt cx="3144253" cy="1791121"/>
            </a:xfrm>
          </p:grpSpPr>
          <p:sp>
            <p:nvSpPr>
              <p:cNvPr id="51" name="Rectangle 50">
                <a:extLst>
                  <a:ext uri="{FF2B5EF4-FFF2-40B4-BE49-F238E27FC236}">
                    <a16:creationId xmlns:a16="http://schemas.microsoft.com/office/drawing/2014/main" id="{CA21277C-BF12-A239-17C5-421726A3DA91}"/>
                  </a:ext>
                </a:extLst>
              </p:cNvPr>
              <p:cNvSpPr/>
              <p:nvPr/>
            </p:nvSpPr>
            <p:spPr>
              <a:xfrm>
                <a:off x="1652336" y="2510590"/>
                <a:ext cx="3144253" cy="1791121"/>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83B6A7F8-6690-1EF4-952C-54079D2B5590}"/>
                  </a:ext>
                </a:extLst>
              </p:cNvPr>
              <p:cNvSpPr/>
              <p:nvPr/>
            </p:nvSpPr>
            <p:spPr>
              <a:xfrm>
                <a:off x="2783972" y="2971800"/>
                <a:ext cx="914400" cy="9144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790E8D16-1512-6EE9-06CE-5F3816ACC8CE}"/>
                  </a:ext>
                </a:extLst>
              </p:cNvPr>
              <p:cNvSpPr txBox="1"/>
              <p:nvPr/>
            </p:nvSpPr>
            <p:spPr>
              <a:xfrm>
                <a:off x="2979312" y="3031728"/>
                <a:ext cx="367408" cy="523220"/>
              </a:xfrm>
              <a:prstGeom prst="rect">
                <a:avLst/>
              </a:prstGeom>
              <a:noFill/>
            </p:spPr>
            <p:txBody>
              <a:bodyPr wrap="none" rtlCol="0">
                <a:spAutoFit/>
              </a:bodyPr>
              <a:lstStyle/>
              <a:p>
                <a:r>
                  <a:rPr lang="en-US" sz="2800" b="1" dirty="0"/>
                  <a:t>4</a:t>
                </a:r>
                <a:endParaRPr lang="en-US" sz="3600" b="1" dirty="0"/>
              </a:p>
            </p:txBody>
          </p:sp>
        </p:grpSp>
        <p:grpSp>
          <p:nvGrpSpPr>
            <p:cNvPr id="36" name="Group 35">
              <a:extLst>
                <a:ext uri="{FF2B5EF4-FFF2-40B4-BE49-F238E27FC236}">
                  <a16:creationId xmlns:a16="http://schemas.microsoft.com/office/drawing/2014/main" id="{B2E01524-6546-C4F9-2E83-B1F3412F7FF6}"/>
                </a:ext>
              </a:extLst>
            </p:cNvPr>
            <p:cNvGrpSpPr/>
            <p:nvPr/>
          </p:nvGrpSpPr>
          <p:grpSpPr>
            <a:xfrm>
              <a:off x="2826614" y="1923459"/>
              <a:ext cx="3144253" cy="1791121"/>
              <a:chOff x="1652336" y="2510590"/>
              <a:chExt cx="3144253" cy="1791121"/>
            </a:xfrm>
            <a:solidFill>
              <a:schemeClr val="bg1"/>
            </a:solidFill>
          </p:grpSpPr>
          <p:sp>
            <p:nvSpPr>
              <p:cNvPr id="48" name="Rectangle 47">
                <a:extLst>
                  <a:ext uri="{FF2B5EF4-FFF2-40B4-BE49-F238E27FC236}">
                    <a16:creationId xmlns:a16="http://schemas.microsoft.com/office/drawing/2014/main" id="{99FA1F79-C59E-59E2-4978-E3FF18F67046}"/>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1FA5DAF2-369A-74B5-C58C-52333978C427}"/>
                  </a:ext>
                </a:extLst>
              </p:cNvPr>
              <p:cNvSpPr/>
              <p:nvPr/>
            </p:nvSpPr>
            <p:spPr>
              <a:xfrm>
                <a:off x="2783971" y="2971800"/>
                <a:ext cx="914400" cy="914399"/>
              </a:xfrm>
              <a:prstGeom prst="rect">
                <a:avLst/>
              </a:prstGeom>
              <a:grp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00E37408-CB2B-2FE3-F50C-D34BDC1CBD25}"/>
                  </a:ext>
                </a:extLst>
              </p:cNvPr>
              <p:cNvSpPr txBox="1"/>
              <p:nvPr/>
            </p:nvSpPr>
            <p:spPr>
              <a:xfrm>
                <a:off x="2974734" y="3082516"/>
                <a:ext cx="367408" cy="523220"/>
              </a:xfrm>
              <a:prstGeom prst="rect">
                <a:avLst/>
              </a:prstGeom>
              <a:grpFill/>
            </p:spPr>
            <p:txBody>
              <a:bodyPr wrap="none" rtlCol="0">
                <a:spAutoFit/>
              </a:bodyPr>
              <a:lstStyle/>
              <a:p>
                <a:r>
                  <a:rPr lang="en-US" sz="2800" b="1" dirty="0"/>
                  <a:t>2</a:t>
                </a:r>
                <a:endParaRPr lang="en-US" sz="3600" b="1" dirty="0"/>
              </a:p>
            </p:txBody>
          </p:sp>
        </p:grpSp>
        <p:grpSp>
          <p:nvGrpSpPr>
            <p:cNvPr id="37" name="Group 36">
              <a:extLst>
                <a:ext uri="{FF2B5EF4-FFF2-40B4-BE49-F238E27FC236}">
                  <a16:creationId xmlns:a16="http://schemas.microsoft.com/office/drawing/2014/main" id="{82BE7EFE-EF6C-3F85-D63C-D5FA213CB120}"/>
                </a:ext>
              </a:extLst>
            </p:cNvPr>
            <p:cNvGrpSpPr/>
            <p:nvPr/>
          </p:nvGrpSpPr>
          <p:grpSpPr>
            <a:xfrm>
              <a:off x="5364463" y="2403508"/>
              <a:ext cx="3144253" cy="1791121"/>
              <a:chOff x="1652336" y="2510590"/>
              <a:chExt cx="3144253" cy="1791121"/>
            </a:xfrm>
            <a:solidFill>
              <a:schemeClr val="bg1"/>
            </a:solidFill>
          </p:grpSpPr>
          <p:sp>
            <p:nvSpPr>
              <p:cNvPr id="45" name="Rectangle 44">
                <a:extLst>
                  <a:ext uri="{FF2B5EF4-FFF2-40B4-BE49-F238E27FC236}">
                    <a16:creationId xmlns:a16="http://schemas.microsoft.com/office/drawing/2014/main" id="{34BD95CF-A574-FF12-4E3D-428ED5F8254E}"/>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9409109-E4F9-711A-244F-EA160A274A34}"/>
                  </a:ext>
                </a:extLst>
              </p:cNvPr>
              <p:cNvSpPr/>
              <p:nvPr/>
            </p:nvSpPr>
            <p:spPr>
              <a:xfrm>
                <a:off x="2783972" y="2971800"/>
                <a:ext cx="914400" cy="914400"/>
              </a:xfrm>
              <a:prstGeom prst="rect">
                <a:avLst/>
              </a:prstGeom>
              <a:grp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47" name="TextBox 46">
                <a:extLst>
                  <a:ext uri="{FF2B5EF4-FFF2-40B4-BE49-F238E27FC236}">
                    <a16:creationId xmlns:a16="http://schemas.microsoft.com/office/drawing/2014/main" id="{FDEE21ED-3EDC-9A1B-7D8F-429F1E0B0CCD}"/>
                  </a:ext>
                </a:extLst>
              </p:cNvPr>
              <p:cNvSpPr txBox="1"/>
              <p:nvPr/>
            </p:nvSpPr>
            <p:spPr>
              <a:xfrm>
                <a:off x="2976552" y="3048744"/>
                <a:ext cx="367408" cy="523220"/>
              </a:xfrm>
              <a:prstGeom prst="rect">
                <a:avLst/>
              </a:prstGeom>
              <a:grpFill/>
            </p:spPr>
            <p:txBody>
              <a:bodyPr wrap="none" rtlCol="0">
                <a:spAutoFit/>
              </a:bodyPr>
              <a:lstStyle/>
              <a:p>
                <a:r>
                  <a:rPr lang="en-US" sz="2800" b="1" dirty="0"/>
                  <a:t>9</a:t>
                </a:r>
                <a:endParaRPr lang="en-US" sz="3600" b="1" dirty="0"/>
              </a:p>
            </p:txBody>
          </p:sp>
        </p:grpSp>
        <p:grpSp>
          <p:nvGrpSpPr>
            <p:cNvPr id="38" name="Group 37">
              <a:extLst>
                <a:ext uri="{FF2B5EF4-FFF2-40B4-BE49-F238E27FC236}">
                  <a16:creationId xmlns:a16="http://schemas.microsoft.com/office/drawing/2014/main" id="{90796E3E-D919-A8C4-2DC4-BE02301DB323}"/>
                </a:ext>
              </a:extLst>
            </p:cNvPr>
            <p:cNvGrpSpPr/>
            <p:nvPr/>
          </p:nvGrpSpPr>
          <p:grpSpPr>
            <a:xfrm>
              <a:off x="7935731" y="2864718"/>
              <a:ext cx="3144253" cy="1791121"/>
              <a:chOff x="1652336" y="2510590"/>
              <a:chExt cx="3144253" cy="1791121"/>
            </a:xfrm>
            <a:solidFill>
              <a:schemeClr val="bg1"/>
            </a:solidFill>
          </p:grpSpPr>
          <p:sp>
            <p:nvSpPr>
              <p:cNvPr id="42" name="Rectangle 41">
                <a:extLst>
                  <a:ext uri="{FF2B5EF4-FFF2-40B4-BE49-F238E27FC236}">
                    <a16:creationId xmlns:a16="http://schemas.microsoft.com/office/drawing/2014/main" id="{19DA8C38-9224-897E-C2C8-56446A1FA5E2}"/>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73118863-E1DD-E922-4F58-B0D9C4841043}"/>
                  </a:ext>
                </a:extLst>
              </p:cNvPr>
              <p:cNvSpPr/>
              <p:nvPr/>
            </p:nvSpPr>
            <p:spPr>
              <a:xfrm>
                <a:off x="2783971" y="2971800"/>
                <a:ext cx="914400" cy="914399"/>
              </a:xfrm>
              <a:prstGeom prst="rect">
                <a:avLst/>
              </a:prstGeom>
              <a:grp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BF941567-1682-F276-47B7-69DE0A3320AC}"/>
                  </a:ext>
                </a:extLst>
              </p:cNvPr>
              <p:cNvSpPr txBox="1"/>
              <p:nvPr/>
            </p:nvSpPr>
            <p:spPr>
              <a:xfrm>
                <a:off x="2989547" y="3046118"/>
                <a:ext cx="367408" cy="523220"/>
              </a:xfrm>
              <a:prstGeom prst="rect">
                <a:avLst/>
              </a:prstGeom>
              <a:grpFill/>
            </p:spPr>
            <p:txBody>
              <a:bodyPr wrap="none" rtlCol="0">
                <a:spAutoFit/>
              </a:bodyPr>
              <a:lstStyle/>
              <a:p>
                <a:r>
                  <a:rPr lang="en-US" sz="2800" b="1" dirty="0"/>
                  <a:t>1</a:t>
                </a:r>
                <a:endParaRPr lang="en-US" sz="3600" b="1" dirty="0"/>
              </a:p>
            </p:txBody>
          </p:sp>
        </p:grpSp>
        <p:sp>
          <p:nvSpPr>
            <p:cNvPr id="39" name="TextBox 38">
              <a:extLst>
                <a:ext uri="{FF2B5EF4-FFF2-40B4-BE49-F238E27FC236}">
                  <a16:creationId xmlns:a16="http://schemas.microsoft.com/office/drawing/2014/main" id="{BF11F9CE-C5B4-5877-DAA2-E58445A97EEA}"/>
                </a:ext>
              </a:extLst>
            </p:cNvPr>
            <p:cNvSpPr txBox="1"/>
            <p:nvPr/>
          </p:nvSpPr>
          <p:spPr>
            <a:xfrm>
              <a:off x="3760382" y="1248076"/>
              <a:ext cx="1276716" cy="519741"/>
            </a:xfrm>
            <a:prstGeom prst="rect">
              <a:avLst/>
            </a:prstGeom>
            <a:noFill/>
          </p:spPr>
          <p:txBody>
            <a:bodyPr wrap="none" rtlCol="0">
              <a:spAutoFit/>
            </a:bodyPr>
            <a:lstStyle/>
            <a:p>
              <a:r>
                <a:rPr lang="en-US" dirty="0"/>
                <a:t>Repeat</a:t>
              </a:r>
            </a:p>
          </p:txBody>
        </p:sp>
        <p:sp>
          <p:nvSpPr>
            <p:cNvPr id="40" name="TextBox 39">
              <a:extLst>
                <a:ext uri="{FF2B5EF4-FFF2-40B4-BE49-F238E27FC236}">
                  <a16:creationId xmlns:a16="http://schemas.microsoft.com/office/drawing/2014/main" id="{7919F6C1-C545-B3DF-B32F-4463C8AF67B5}"/>
                </a:ext>
              </a:extLst>
            </p:cNvPr>
            <p:cNvSpPr txBox="1"/>
            <p:nvPr/>
          </p:nvSpPr>
          <p:spPr>
            <a:xfrm>
              <a:off x="6331121" y="1826847"/>
              <a:ext cx="1210936" cy="519741"/>
            </a:xfrm>
            <a:prstGeom prst="rect">
              <a:avLst/>
            </a:prstGeom>
            <a:noFill/>
          </p:spPr>
          <p:txBody>
            <a:bodyPr wrap="none" rtlCol="0">
              <a:spAutoFit/>
            </a:bodyPr>
            <a:lstStyle/>
            <a:p>
              <a:r>
                <a:rPr lang="en-US" dirty="0"/>
                <a:t>Switch</a:t>
              </a:r>
            </a:p>
          </p:txBody>
        </p:sp>
        <p:sp>
          <p:nvSpPr>
            <p:cNvPr id="41" name="TextBox 40">
              <a:extLst>
                <a:ext uri="{FF2B5EF4-FFF2-40B4-BE49-F238E27FC236}">
                  <a16:creationId xmlns:a16="http://schemas.microsoft.com/office/drawing/2014/main" id="{EA083A1B-A8AC-64E7-1A40-97BACD09BB5C}"/>
                </a:ext>
              </a:extLst>
            </p:cNvPr>
            <p:cNvSpPr txBox="1"/>
            <p:nvPr/>
          </p:nvSpPr>
          <p:spPr>
            <a:xfrm>
              <a:off x="8902390" y="2241208"/>
              <a:ext cx="1210936" cy="519741"/>
            </a:xfrm>
            <a:prstGeom prst="rect">
              <a:avLst/>
            </a:prstGeom>
            <a:noFill/>
          </p:spPr>
          <p:txBody>
            <a:bodyPr wrap="none" rtlCol="0">
              <a:spAutoFit/>
            </a:bodyPr>
            <a:lstStyle/>
            <a:p>
              <a:r>
                <a:rPr lang="en-US" dirty="0"/>
                <a:t>Switch</a:t>
              </a:r>
            </a:p>
          </p:txBody>
        </p:sp>
      </p:grpSp>
      <p:sp>
        <p:nvSpPr>
          <p:cNvPr id="55" name="TextBox 54">
            <a:extLst>
              <a:ext uri="{FF2B5EF4-FFF2-40B4-BE49-F238E27FC236}">
                <a16:creationId xmlns:a16="http://schemas.microsoft.com/office/drawing/2014/main" id="{A3A0CA38-CA07-1C29-CED7-E2A41C2E2B2D}"/>
              </a:ext>
            </a:extLst>
          </p:cNvPr>
          <p:cNvSpPr txBox="1"/>
          <p:nvPr/>
        </p:nvSpPr>
        <p:spPr>
          <a:xfrm>
            <a:off x="1312728" y="-82110"/>
            <a:ext cx="336952" cy="461665"/>
          </a:xfrm>
          <a:prstGeom prst="rect">
            <a:avLst/>
          </a:prstGeom>
          <a:noFill/>
        </p:spPr>
        <p:txBody>
          <a:bodyPr wrap="none" rtlCol="0">
            <a:spAutoFit/>
          </a:bodyPr>
          <a:lstStyle/>
          <a:p>
            <a:r>
              <a:rPr lang="en-US" sz="2400" b="1" dirty="0"/>
              <a:t>a</a:t>
            </a:r>
          </a:p>
        </p:txBody>
      </p:sp>
      <p:sp>
        <p:nvSpPr>
          <p:cNvPr id="56" name="TextBox 55">
            <a:extLst>
              <a:ext uri="{FF2B5EF4-FFF2-40B4-BE49-F238E27FC236}">
                <a16:creationId xmlns:a16="http://schemas.microsoft.com/office/drawing/2014/main" id="{6B4B4A7F-BC58-F3CF-B446-62819DA1699F}"/>
              </a:ext>
            </a:extLst>
          </p:cNvPr>
          <p:cNvSpPr txBox="1"/>
          <p:nvPr/>
        </p:nvSpPr>
        <p:spPr>
          <a:xfrm>
            <a:off x="1352266" y="3424481"/>
            <a:ext cx="312906" cy="461665"/>
          </a:xfrm>
          <a:prstGeom prst="rect">
            <a:avLst/>
          </a:prstGeom>
          <a:noFill/>
        </p:spPr>
        <p:txBody>
          <a:bodyPr wrap="none" rtlCol="0">
            <a:spAutoFit/>
          </a:bodyPr>
          <a:lstStyle/>
          <a:p>
            <a:r>
              <a:rPr lang="en-US" sz="2400" b="1" dirty="0"/>
              <a:t>c</a:t>
            </a:r>
          </a:p>
        </p:txBody>
      </p:sp>
      <p:pic>
        <p:nvPicPr>
          <p:cNvPr id="3" name="Content Placeholder 4" descr="A diagram of different types of graphs&#10;&#10;Description automatically generated with medium confidence">
            <a:extLst>
              <a:ext uri="{FF2B5EF4-FFF2-40B4-BE49-F238E27FC236}">
                <a16:creationId xmlns:a16="http://schemas.microsoft.com/office/drawing/2014/main" id="{008FF5A1-1CB7-DAC8-C979-058423C6E3F9}"/>
              </a:ext>
            </a:extLst>
          </p:cNvPr>
          <p:cNvPicPr>
            <a:picLocks noGrp="1" noChangeAspect="1"/>
          </p:cNvPicPr>
          <p:nvPr>
            <p:ph idx="1"/>
          </p:nvPr>
        </p:nvPicPr>
        <p:blipFill rotWithShape="1">
          <a:blip r:embed="rId4"/>
          <a:srcRect l="58070" t="1619"/>
          <a:stretch/>
        </p:blipFill>
        <p:spPr>
          <a:xfrm>
            <a:off x="8493440" y="-4519"/>
            <a:ext cx="3698561" cy="6858000"/>
          </a:xfrm>
          <a:ln>
            <a:solidFill>
              <a:srgbClr val="92D050"/>
            </a:solidFill>
          </a:ln>
        </p:spPr>
      </p:pic>
      <p:sp>
        <p:nvSpPr>
          <p:cNvPr id="4" name="Right Bracket 3">
            <a:extLst>
              <a:ext uri="{FF2B5EF4-FFF2-40B4-BE49-F238E27FC236}">
                <a16:creationId xmlns:a16="http://schemas.microsoft.com/office/drawing/2014/main" id="{66B4B7D2-04B9-7C96-FEC9-917DA43AF782}"/>
              </a:ext>
            </a:extLst>
          </p:cNvPr>
          <p:cNvSpPr/>
          <p:nvPr/>
        </p:nvSpPr>
        <p:spPr>
          <a:xfrm rot="10800000" flipH="1">
            <a:off x="9971597" y="382707"/>
            <a:ext cx="126174" cy="777240"/>
          </a:xfrm>
          <a:prstGeom prst="rightBracket">
            <a:avLst/>
          </a:prstGeom>
          <a:ln w="127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7030A0"/>
              </a:solidFill>
            </a:endParaRPr>
          </a:p>
        </p:txBody>
      </p:sp>
      <p:sp>
        <p:nvSpPr>
          <p:cNvPr id="32" name="Right Bracket 31">
            <a:extLst>
              <a:ext uri="{FF2B5EF4-FFF2-40B4-BE49-F238E27FC236}">
                <a16:creationId xmlns:a16="http://schemas.microsoft.com/office/drawing/2014/main" id="{A83064D0-0823-8361-673B-1C456B80A73B}"/>
              </a:ext>
            </a:extLst>
          </p:cNvPr>
          <p:cNvSpPr/>
          <p:nvPr/>
        </p:nvSpPr>
        <p:spPr>
          <a:xfrm rot="10800000" flipH="1">
            <a:off x="11558630" y="697516"/>
            <a:ext cx="45719" cy="261007"/>
          </a:xfrm>
          <a:prstGeom prst="rightBracket">
            <a:avLst/>
          </a:prstGeom>
          <a:ln w="127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7030A0"/>
              </a:solidFill>
            </a:endParaRPr>
          </a:p>
        </p:txBody>
      </p:sp>
      <p:sp>
        <p:nvSpPr>
          <p:cNvPr id="58" name="TextBox 57">
            <a:extLst>
              <a:ext uri="{FF2B5EF4-FFF2-40B4-BE49-F238E27FC236}">
                <a16:creationId xmlns:a16="http://schemas.microsoft.com/office/drawing/2014/main" id="{B895D0BE-9619-2333-89D8-97AC1CA6687E}"/>
              </a:ext>
            </a:extLst>
          </p:cNvPr>
          <p:cNvSpPr txBox="1"/>
          <p:nvPr/>
        </p:nvSpPr>
        <p:spPr>
          <a:xfrm>
            <a:off x="10063174" y="466133"/>
            <a:ext cx="730393" cy="523220"/>
          </a:xfrm>
          <a:prstGeom prst="rect">
            <a:avLst/>
          </a:prstGeom>
          <a:noFill/>
        </p:spPr>
        <p:txBody>
          <a:bodyPr wrap="square" rtlCol="0">
            <a:spAutoFit/>
          </a:bodyPr>
          <a:lstStyle/>
          <a:p>
            <a:r>
              <a:rPr lang="en-US" sz="1400" dirty="0">
                <a:solidFill>
                  <a:srgbClr val="7030A0"/>
                </a:solidFill>
              </a:rPr>
              <a:t>Con. Effect</a:t>
            </a:r>
          </a:p>
        </p:txBody>
      </p:sp>
      <p:sp>
        <p:nvSpPr>
          <p:cNvPr id="62" name="TextBox 61">
            <a:extLst>
              <a:ext uri="{FF2B5EF4-FFF2-40B4-BE49-F238E27FC236}">
                <a16:creationId xmlns:a16="http://schemas.microsoft.com/office/drawing/2014/main" id="{C09E25CF-02E9-DDB5-DD9D-36639F7456D2}"/>
              </a:ext>
            </a:extLst>
          </p:cNvPr>
          <p:cNvSpPr txBox="1"/>
          <p:nvPr/>
        </p:nvSpPr>
        <p:spPr>
          <a:xfrm>
            <a:off x="11594198" y="612575"/>
            <a:ext cx="733480" cy="430887"/>
          </a:xfrm>
          <a:prstGeom prst="rect">
            <a:avLst/>
          </a:prstGeom>
          <a:noFill/>
        </p:spPr>
        <p:txBody>
          <a:bodyPr wrap="square" rtlCol="0">
            <a:spAutoFit/>
          </a:bodyPr>
          <a:lstStyle/>
          <a:p>
            <a:r>
              <a:rPr lang="en-US" sz="1050" dirty="0">
                <a:solidFill>
                  <a:srgbClr val="7030A0"/>
                </a:solidFill>
              </a:rPr>
              <a:t>Con. Effect</a:t>
            </a:r>
          </a:p>
        </p:txBody>
      </p:sp>
      <p:sp>
        <p:nvSpPr>
          <p:cNvPr id="63" name="Right Bracket 62">
            <a:extLst>
              <a:ext uri="{FF2B5EF4-FFF2-40B4-BE49-F238E27FC236}">
                <a16:creationId xmlns:a16="http://schemas.microsoft.com/office/drawing/2014/main" id="{15F86433-7749-55F0-5768-B5064FE2B3D9}"/>
              </a:ext>
            </a:extLst>
          </p:cNvPr>
          <p:cNvSpPr/>
          <p:nvPr/>
        </p:nvSpPr>
        <p:spPr>
          <a:xfrm rot="10800000" flipH="1">
            <a:off x="10000087" y="3932425"/>
            <a:ext cx="126174" cy="777240"/>
          </a:xfrm>
          <a:prstGeom prst="rightBracket">
            <a:avLst/>
          </a:pr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C000"/>
              </a:solidFill>
            </a:endParaRPr>
          </a:p>
        </p:txBody>
      </p:sp>
      <p:sp>
        <p:nvSpPr>
          <p:cNvPr id="64" name="TextBox 63">
            <a:extLst>
              <a:ext uri="{FF2B5EF4-FFF2-40B4-BE49-F238E27FC236}">
                <a16:creationId xmlns:a16="http://schemas.microsoft.com/office/drawing/2014/main" id="{06488441-DC72-F9E7-6E0D-7E994E64D127}"/>
              </a:ext>
            </a:extLst>
          </p:cNvPr>
          <p:cNvSpPr txBox="1"/>
          <p:nvPr/>
        </p:nvSpPr>
        <p:spPr>
          <a:xfrm>
            <a:off x="10100982" y="3986675"/>
            <a:ext cx="730393" cy="523220"/>
          </a:xfrm>
          <a:prstGeom prst="rect">
            <a:avLst/>
          </a:prstGeom>
          <a:noFill/>
          <a:ln>
            <a:noFill/>
          </a:ln>
        </p:spPr>
        <p:txBody>
          <a:bodyPr wrap="square" rtlCol="0">
            <a:spAutoFit/>
          </a:bodyPr>
          <a:lstStyle/>
          <a:p>
            <a:r>
              <a:rPr lang="en-US" sz="1400" dirty="0">
                <a:solidFill>
                  <a:srgbClr val="FFC000"/>
                </a:solidFill>
              </a:rPr>
              <a:t>Switch Cost</a:t>
            </a:r>
          </a:p>
        </p:txBody>
      </p:sp>
      <p:sp>
        <p:nvSpPr>
          <p:cNvPr id="65" name="Right Bracket 64">
            <a:extLst>
              <a:ext uri="{FF2B5EF4-FFF2-40B4-BE49-F238E27FC236}">
                <a16:creationId xmlns:a16="http://schemas.microsoft.com/office/drawing/2014/main" id="{C7927752-8FBE-F9A0-318C-8CCC0821DCF9}"/>
              </a:ext>
            </a:extLst>
          </p:cNvPr>
          <p:cNvSpPr/>
          <p:nvPr/>
        </p:nvSpPr>
        <p:spPr>
          <a:xfrm rot="10800000" flipH="1">
            <a:off x="11587051" y="4269966"/>
            <a:ext cx="45719" cy="261007"/>
          </a:xfrm>
          <a:prstGeom prst="rightBracket">
            <a:avLst/>
          </a:pr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6" name="TextBox 65">
            <a:extLst>
              <a:ext uri="{FF2B5EF4-FFF2-40B4-BE49-F238E27FC236}">
                <a16:creationId xmlns:a16="http://schemas.microsoft.com/office/drawing/2014/main" id="{9F344CC3-A5C2-AF9B-1E0B-78A4F300C736}"/>
              </a:ext>
            </a:extLst>
          </p:cNvPr>
          <p:cNvSpPr txBox="1"/>
          <p:nvPr/>
        </p:nvSpPr>
        <p:spPr>
          <a:xfrm>
            <a:off x="11604349" y="4192720"/>
            <a:ext cx="733480" cy="415498"/>
          </a:xfrm>
          <a:prstGeom prst="rect">
            <a:avLst/>
          </a:prstGeom>
          <a:noFill/>
        </p:spPr>
        <p:txBody>
          <a:bodyPr wrap="square" rtlCol="0">
            <a:spAutoFit/>
          </a:bodyPr>
          <a:lstStyle/>
          <a:p>
            <a:r>
              <a:rPr lang="en-US" sz="1050" dirty="0">
                <a:solidFill>
                  <a:srgbClr val="FFC000"/>
                </a:solidFill>
              </a:rPr>
              <a:t>Switch Cost</a:t>
            </a:r>
          </a:p>
        </p:txBody>
      </p:sp>
      <p:sp>
        <p:nvSpPr>
          <p:cNvPr id="67" name="Rectangle 66">
            <a:extLst>
              <a:ext uri="{FF2B5EF4-FFF2-40B4-BE49-F238E27FC236}">
                <a16:creationId xmlns:a16="http://schemas.microsoft.com/office/drawing/2014/main" id="{58707A5D-2312-5293-B948-F6C9AD487BC3}"/>
              </a:ext>
            </a:extLst>
          </p:cNvPr>
          <p:cNvSpPr/>
          <p:nvPr/>
        </p:nvSpPr>
        <p:spPr>
          <a:xfrm>
            <a:off x="9251372" y="1177224"/>
            <a:ext cx="271494" cy="133168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68" name="Rectangle 67">
            <a:extLst>
              <a:ext uri="{FF2B5EF4-FFF2-40B4-BE49-F238E27FC236}">
                <a16:creationId xmlns:a16="http://schemas.microsoft.com/office/drawing/2014/main" id="{C34B3555-04AD-7C71-E01E-8B1F06FD583A}"/>
              </a:ext>
            </a:extLst>
          </p:cNvPr>
          <p:cNvSpPr/>
          <p:nvPr/>
        </p:nvSpPr>
        <p:spPr>
          <a:xfrm>
            <a:off x="10868134" y="887724"/>
            <a:ext cx="246888" cy="161848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69" name="Rectangle 68">
            <a:extLst>
              <a:ext uri="{FF2B5EF4-FFF2-40B4-BE49-F238E27FC236}">
                <a16:creationId xmlns:a16="http://schemas.microsoft.com/office/drawing/2014/main" id="{5E029110-6F30-90BB-9123-BF6D76139FD9}"/>
              </a:ext>
            </a:extLst>
          </p:cNvPr>
          <p:cNvSpPr/>
          <p:nvPr/>
        </p:nvSpPr>
        <p:spPr>
          <a:xfrm>
            <a:off x="9609269" y="379556"/>
            <a:ext cx="271494" cy="212935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70" name="Rectangle 69">
            <a:extLst>
              <a:ext uri="{FF2B5EF4-FFF2-40B4-BE49-F238E27FC236}">
                <a16:creationId xmlns:a16="http://schemas.microsoft.com/office/drawing/2014/main" id="{CE3C92B7-84CB-9468-8502-290F26661701}"/>
              </a:ext>
            </a:extLst>
          </p:cNvPr>
          <p:cNvSpPr/>
          <p:nvPr/>
        </p:nvSpPr>
        <p:spPr>
          <a:xfrm>
            <a:off x="11237867" y="697515"/>
            <a:ext cx="251697" cy="182530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71" name="Rectangle 70">
            <a:extLst>
              <a:ext uri="{FF2B5EF4-FFF2-40B4-BE49-F238E27FC236}">
                <a16:creationId xmlns:a16="http://schemas.microsoft.com/office/drawing/2014/main" id="{CCA31A6A-41AA-D4E1-05CB-E2FDF1CF7794}"/>
              </a:ext>
            </a:extLst>
          </p:cNvPr>
          <p:cNvSpPr/>
          <p:nvPr/>
        </p:nvSpPr>
        <p:spPr>
          <a:xfrm>
            <a:off x="10466178" y="266362"/>
            <a:ext cx="137160" cy="13716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72" name="Rectangle 71">
            <a:extLst>
              <a:ext uri="{FF2B5EF4-FFF2-40B4-BE49-F238E27FC236}">
                <a16:creationId xmlns:a16="http://schemas.microsoft.com/office/drawing/2014/main" id="{D09E13C0-F981-12F2-9905-0C60765365EB}"/>
              </a:ext>
            </a:extLst>
          </p:cNvPr>
          <p:cNvSpPr/>
          <p:nvPr/>
        </p:nvSpPr>
        <p:spPr>
          <a:xfrm>
            <a:off x="10466178" y="7965"/>
            <a:ext cx="137160" cy="13716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73" name="Rectangle 72">
            <a:extLst>
              <a:ext uri="{FF2B5EF4-FFF2-40B4-BE49-F238E27FC236}">
                <a16:creationId xmlns:a16="http://schemas.microsoft.com/office/drawing/2014/main" id="{7DCC5796-5D91-DBD4-7FB4-28604370131D}"/>
              </a:ext>
            </a:extLst>
          </p:cNvPr>
          <p:cNvSpPr/>
          <p:nvPr/>
        </p:nvSpPr>
        <p:spPr>
          <a:xfrm>
            <a:off x="10666883" y="4240782"/>
            <a:ext cx="1542943" cy="26172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062A55B8-B20C-40BB-B078-3B518C561405}"/>
              </a:ext>
            </a:extLst>
          </p:cNvPr>
          <p:cNvSpPr/>
          <p:nvPr/>
        </p:nvSpPr>
        <p:spPr>
          <a:xfrm rot="16200000">
            <a:off x="10678414" y="5695451"/>
            <a:ext cx="721443" cy="13928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71B36278-7533-057F-AB22-726215D57522}"/>
              </a:ext>
            </a:extLst>
          </p:cNvPr>
          <p:cNvSpPr txBox="1"/>
          <p:nvPr/>
        </p:nvSpPr>
        <p:spPr>
          <a:xfrm>
            <a:off x="10100982" y="3986675"/>
            <a:ext cx="1683357" cy="738664"/>
          </a:xfrm>
          <a:prstGeom prst="rect">
            <a:avLst/>
          </a:prstGeom>
          <a:noFill/>
          <a:ln>
            <a:noFill/>
          </a:ln>
        </p:spPr>
        <p:txBody>
          <a:bodyPr wrap="square" rtlCol="0">
            <a:spAutoFit/>
          </a:bodyPr>
          <a:lstStyle/>
          <a:p>
            <a:r>
              <a:rPr lang="en-US" sz="1400" dirty="0">
                <a:solidFill>
                  <a:srgbClr val="FFC000"/>
                </a:solidFill>
              </a:rPr>
              <a:t>Switch</a:t>
            </a:r>
          </a:p>
          <a:p>
            <a:r>
              <a:rPr lang="en-US" sz="1400" dirty="0">
                <a:solidFill>
                  <a:srgbClr val="FFC000"/>
                </a:solidFill>
              </a:rPr>
              <a:t>Cost</a:t>
            </a:r>
          </a:p>
          <a:p>
            <a:r>
              <a:rPr lang="en-US" sz="1400" dirty="0">
                <a:solidFill>
                  <a:srgbClr val="FFC000"/>
                </a:solidFill>
              </a:rPr>
              <a:t>(</a:t>
            </a:r>
            <a:r>
              <a:rPr lang="en-US" sz="1400" dirty="0" err="1">
                <a:solidFill>
                  <a:srgbClr val="FFC000"/>
                </a:solidFill>
              </a:rPr>
              <a:t>RT</a:t>
            </a:r>
            <a:r>
              <a:rPr lang="en-US" sz="1400" baseline="-25000" dirty="0" err="1">
                <a:solidFill>
                  <a:srgbClr val="FFC000"/>
                </a:solidFill>
              </a:rPr>
              <a:t>switch</a:t>
            </a:r>
            <a:r>
              <a:rPr lang="en-US" sz="1400" dirty="0">
                <a:solidFill>
                  <a:srgbClr val="FFC000"/>
                </a:solidFill>
              </a:rPr>
              <a:t> – </a:t>
            </a:r>
            <a:r>
              <a:rPr lang="en-US" sz="1400" dirty="0" err="1">
                <a:solidFill>
                  <a:srgbClr val="FFC000"/>
                </a:solidFill>
              </a:rPr>
              <a:t>RT</a:t>
            </a:r>
            <a:r>
              <a:rPr lang="en-US" sz="1400" baseline="-25000" dirty="0" err="1">
                <a:solidFill>
                  <a:srgbClr val="FFC000"/>
                </a:solidFill>
              </a:rPr>
              <a:t>repeat</a:t>
            </a:r>
            <a:r>
              <a:rPr lang="en-US" sz="1400" dirty="0">
                <a:solidFill>
                  <a:srgbClr val="FFC000"/>
                </a:solidFill>
              </a:rPr>
              <a:t>)</a:t>
            </a:r>
          </a:p>
        </p:txBody>
      </p:sp>
    </p:spTree>
    <p:extLst>
      <p:ext uri="{BB962C8B-B14F-4D97-AF65-F5344CB8AC3E}">
        <p14:creationId xmlns:p14="http://schemas.microsoft.com/office/powerpoint/2010/main" val="10716395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1163EF44-4202-729F-67D8-401EB3D02E23}"/>
              </a:ext>
            </a:extLst>
          </p:cNvPr>
          <p:cNvGrpSpPr>
            <a:grpSpLocks noChangeAspect="1"/>
          </p:cNvGrpSpPr>
          <p:nvPr/>
        </p:nvGrpSpPr>
        <p:grpSpPr>
          <a:xfrm>
            <a:off x="1423109" y="61070"/>
            <a:ext cx="6698711" cy="2542492"/>
            <a:chOff x="300653" y="850851"/>
            <a:chExt cx="10779331" cy="3804988"/>
          </a:xfrm>
        </p:grpSpPr>
        <p:grpSp>
          <p:nvGrpSpPr>
            <p:cNvPr id="5" name="Group 4">
              <a:extLst>
                <a:ext uri="{FF2B5EF4-FFF2-40B4-BE49-F238E27FC236}">
                  <a16:creationId xmlns:a16="http://schemas.microsoft.com/office/drawing/2014/main" id="{DB0DE86B-530D-BC67-BCB7-F93DEAA0938F}"/>
                </a:ext>
              </a:extLst>
            </p:cNvPr>
            <p:cNvGrpSpPr/>
            <p:nvPr/>
          </p:nvGrpSpPr>
          <p:grpSpPr>
            <a:xfrm>
              <a:off x="300653" y="1451028"/>
              <a:ext cx="3144253" cy="1791121"/>
              <a:chOff x="1652336" y="2510590"/>
              <a:chExt cx="3144253" cy="1791121"/>
            </a:xfrm>
          </p:grpSpPr>
          <p:sp>
            <p:nvSpPr>
              <p:cNvPr id="6" name="Rectangle 5">
                <a:extLst>
                  <a:ext uri="{FF2B5EF4-FFF2-40B4-BE49-F238E27FC236}">
                    <a16:creationId xmlns:a16="http://schemas.microsoft.com/office/drawing/2014/main" id="{B4EE3BB4-F8BE-4D21-7D06-E34605F44C64}"/>
                  </a:ext>
                </a:extLst>
              </p:cNvPr>
              <p:cNvSpPr/>
              <p:nvPr/>
            </p:nvSpPr>
            <p:spPr>
              <a:xfrm>
                <a:off x="1652336" y="2510590"/>
                <a:ext cx="3144253" cy="1791121"/>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3E0021F-E3A6-7400-F59E-AD7926962F2D}"/>
                  </a:ext>
                </a:extLst>
              </p:cNvPr>
              <p:cNvSpPr/>
              <p:nvPr/>
            </p:nvSpPr>
            <p:spPr>
              <a:xfrm>
                <a:off x="2783972" y="2971800"/>
                <a:ext cx="914400" cy="9144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55EBFAF2-8611-7D14-930F-FD5C0B0FB8DC}"/>
                  </a:ext>
                </a:extLst>
              </p:cNvPr>
              <p:cNvSpPr txBox="1"/>
              <p:nvPr/>
            </p:nvSpPr>
            <p:spPr>
              <a:xfrm>
                <a:off x="2979312" y="3031728"/>
                <a:ext cx="367408" cy="523220"/>
              </a:xfrm>
              <a:prstGeom prst="rect">
                <a:avLst/>
              </a:prstGeom>
              <a:noFill/>
            </p:spPr>
            <p:txBody>
              <a:bodyPr wrap="none" rtlCol="0">
                <a:spAutoFit/>
              </a:bodyPr>
              <a:lstStyle/>
              <a:p>
                <a:r>
                  <a:rPr lang="en-US" sz="2800" b="1" dirty="0"/>
                  <a:t>4</a:t>
                </a:r>
                <a:endParaRPr lang="en-US" sz="3600" b="1" dirty="0"/>
              </a:p>
            </p:txBody>
          </p:sp>
        </p:grpSp>
        <p:grpSp>
          <p:nvGrpSpPr>
            <p:cNvPr id="13" name="Group 12">
              <a:extLst>
                <a:ext uri="{FF2B5EF4-FFF2-40B4-BE49-F238E27FC236}">
                  <a16:creationId xmlns:a16="http://schemas.microsoft.com/office/drawing/2014/main" id="{A723BDFE-6A34-02EC-2E92-87B9E0288BA0}"/>
                </a:ext>
              </a:extLst>
            </p:cNvPr>
            <p:cNvGrpSpPr/>
            <p:nvPr/>
          </p:nvGrpSpPr>
          <p:grpSpPr>
            <a:xfrm>
              <a:off x="2826614" y="1923459"/>
              <a:ext cx="3144253" cy="1791121"/>
              <a:chOff x="1652336" y="2510590"/>
              <a:chExt cx="3144253" cy="1791121"/>
            </a:xfrm>
            <a:solidFill>
              <a:schemeClr val="bg1"/>
            </a:solidFill>
          </p:grpSpPr>
          <p:sp>
            <p:nvSpPr>
              <p:cNvPr id="14" name="Rectangle 13">
                <a:extLst>
                  <a:ext uri="{FF2B5EF4-FFF2-40B4-BE49-F238E27FC236}">
                    <a16:creationId xmlns:a16="http://schemas.microsoft.com/office/drawing/2014/main" id="{D5043942-B063-1CEA-9489-16FA67C409F9}"/>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593C1A-9DA3-3F2B-69D2-BB4A873133AB}"/>
                  </a:ext>
                </a:extLst>
              </p:cNvPr>
              <p:cNvSpPr/>
              <p:nvPr/>
            </p:nvSpPr>
            <p:spPr>
              <a:xfrm>
                <a:off x="2783971" y="2971800"/>
                <a:ext cx="914400" cy="914399"/>
              </a:xfrm>
              <a:prstGeom prst="rect">
                <a:avLst/>
              </a:prstGeom>
              <a:grp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A562B4E-94F2-7CF4-D8C7-6452337B243B}"/>
                  </a:ext>
                </a:extLst>
              </p:cNvPr>
              <p:cNvSpPr txBox="1"/>
              <p:nvPr/>
            </p:nvSpPr>
            <p:spPr>
              <a:xfrm>
                <a:off x="2974734" y="3082516"/>
                <a:ext cx="367408" cy="523220"/>
              </a:xfrm>
              <a:prstGeom prst="rect">
                <a:avLst/>
              </a:prstGeom>
              <a:grpFill/>
            </p:spPr>
            <p:txBody>
              <a:bodyPr wrap="none" rtlCol="0">
                <a:spAutoFit/>
              </a:bodyPr>
              <a:lstStyle/>
              <a:p>
                <a:r>
                  <a:rPr lang="en-US" sz="2800" b="1" dirty="0"/>
                  <a:t>2</a:t>
                </a:r>
                <a:endParaRPr lang="en-US" sz="3600" b="1" dirty="0"/>
              </a:p>
            </p:txBody>
          </p:sp>
        </p:grpSp>
        <p:grpSp>
          <p:nvGrpSpPr>
            <p:cNvPr id="17" name="Group 16">
              <a:extLst>
                <a:ext uri="{FF2B5EF4-FFF2-40B4-BE49-F238E27FC236}">
                  <a16:creationId xmlns:a16="http://schemas.microsoft.com/office/drawing/2014/main" id="{B219E40F-4CCD-60E1-CCF3-55730809CD55}"/>
                </a:ext>
              </a:extLst>
            </p:cNvPr>
            <p:cNvGrpSpPr/>
            <p:nvPr/>
          </p:nvGrpSpPr>
          <p:grpSpPr>
            <a:xfrm>
              <a:off x="5364463" y="2403508"/>
              <a:ext cx="3144253" cy="1791121"/>
              <a:chOff x="1652336" y="2510590"/>
              <a:chExt cx="3144253" cy="1791121"/>
            </a:xfrm>
            <a:solidFill>
              <a:schemeClr val="bg1"/>
            </a:solidFill>
          </p:grpSpPr>
          <p:sp>
            <p:nvSpPr>
              <p:cNvPr id="18" name="Rectangle 17">
                <a:extLst>
                  <a:ext uri="{FF2B5EF4-FFF2-40B4-BE49-F238E27FC236}">
                    <a16:creationId xmlns:a16="http://schemas.microsoft.com/office/drawing/2014/main" id="{78C12A86-B236-DE2D-91D9-2201EDD14A82}"/>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8882392-AF2F-A30C-1ECB-8B0A33F4B130}"/>
                  </a:ext>
                </a:extLst>
              </p:cNvPr>
              <p:cNvSpPr/>
              <p:nvPr/>
            </p:nvSpPr>
            <p:spPr>
              <a:xfrm>
                <a:off x="2783972" y="2971800"/>
                <a:ext cx="914400" cy="914400"/>
              </a:xfrm>
              <a:prstGeom prst="rect">
                <a:avLst/>
              </a:prstGeom>
              <a:grp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20" name="TextBox 19">
                <a:extLst>
                  <a:ext uri="{FF2B5EF4-FFF2-40B4-BE49-F238E27FC236}">
                    <a16:creationId xmlns:a16="http://schemas.microsoft.com/office/drawing/2014/main" id="{4D13C27B-6C22-7C06-4976-934DD5A659D4}"/>
                  </a:ext>
                </a:extLst>
              </p:cNvPr>
              <p:cNvSpPr txBox="1"/>
              <p:nvPr/>
            </p:nvSpPr>
            <p:spPr>
              <a:xfrm>
                <a:off x="2976552" y="3048744"/>
                <a:ext cx="367408" cy="523220"/>
              </a:xfrm>
              <a:prstGeom prst="rect">
                <a:avLst/>
              </a:prstGeom>
              <a:grpFill/>
            </p:spPr>
            <p:txBody>
              <a:bodyPr wrap="none" rtlCol="0">
                <a:spAutoFit/>
              </a:bodyPr>
              <a:lstStyle/>
              <a:p>
                <a:r>
                  <a:rPr lang="en-US" sz="2800" b="1" dirty="0"/>
                  <a:t>9</a:t>
                </a:r>
                <a:endParaRPr lang="en-US" sz="3600" b="1" dirty="0"/>
              </a:p>
            </p:txBody>
          </p:sp>
        </p:grpSp>
        <p:grpSp>
          <p:nvGrpSpPr>
            <p:cNvPr id="21" name="Group 20">
              <a:extLst>
                <a:ext uri="{FF2B5EF4-FFF2-40B4-BE49-F238E27FC236}">
                  <a16:creationId xmlns:a16="http://schemas.microsoft.com/office/drawing/2014/main" id="{282693A1-5681-FF60-D4EC-A6017B16F735}"/>
                </a:ext>
              </a:extLst>
            </p:cNvPr>
            <p:cNvGrpSpPr/>
            <p:nvPr/>
          </p:nvGrpSpPr>
          <p:grpSpPr>
            <a:xfrm>
              <a:off x="7935731" y="2864718"/>
              <a:ext cx="3144253" cy="1791121"/>
              <a:chOff x="1652336" y="2510590"/>
              <a:chExt cx="3144253" cy="1791121"/>
            </a:xfrm>
            <a:solidFill>
              <a:schemeClr val="bg1"/>
            </a:solidFill>
          </p:grpSpPr>
          <p:sp>
            <p:nvSpPr>
              <p:cNvPr id="22" name="Rectangle 21">
                <a:extLst>
                  <a:ext uri="{FF2B5EF4-FFF2-40B4-BE49-F238E27FC236}">
                    <a16:creationId xmlns:a16="http://schemas.microsoft.com/office/drawing/2014/main" id="{DE2153AA-E783-E1EA-37AA-FB73E666F8DD}"/>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868103F-FCD5-E621-3945-F69B2160386A}"/>
                  </a:ext>
                </a:extLst>
              </p:cNvPr>
              <p:cNvSpPr/>
              <p:nvPr/>
            </p:nvSpPr>
            <p:spPr>
              <a:xfrm>
                <a:off x="2783971" y="2971800"/>
                <a:ext cx="914400" cy="914399"/>
              </a:xfrm>
              <a:prstGeom prst="rect">
                <a:avLst/>
              </a:prstGeom>
              <a:grp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826D3BA3-DD38-F7DD-6689-B485BC79A30D}"/>
                  </a:ext>
                </a:extLst>
              </p:cNvPr>
              <p:cNvSpPr txBox="1"/>
              <p:nvPr/>
            </p:nvSpPr>
            <p:spPr>
              <a:xfrm>
                <a:off x="2989547" y="3046118"/>
                <a:ext cx="367408" cy="523220"/>
              </a:xfrm>
              <a:prstGeom prst="rect">
                <a:avLst/>
              </a:prstGeom>
              <a:grpFill/>
            </p:spPr>
            <p:txBody>
              <a:bodyPr wrap="none" rtlCol="0">
                <a:spAutoFit/>
              </a:bodyPr>
              <a:lstStyle/>
              <a:p>
                <a:r>
                  <a:rPr lang="en-US" sz="2800" b="1" dirty="0"/>
                  <a:t>1</a:t>
                </a:r>
                <a:endParaRPr lang="en-US" sz="3600" b="1" dirty="0"/>
              </a:p>
            </p:txBody>
          </p:sp>
        </p:grpSp>
        <p:sp>
          <p:nvSpPr>
            <p:cNvPr id="25" name="TextBox 24">
              <a:extLst>
                <a:ext uri="{FF2B5EF4-FFF2-40B4-BE49-F238E27FC236}">
                  <a16:creationId xmlns:a16="http://schemas.microsoft.com/office/drawing/2014/main" id="{47907E08-6CC6-700D-3D79-22590D46F1F3}"/>
                </a:ext>
              </a:extLst>
            </p:cNvPr>
            <p:cNvSpPr txBox="1"/>
            <p:nvPr/>
          </p:nvSpPr>
          <p:spPr>
            <a:xfrm>
              <a:off x="964242" y="850851"/>
              <a:ext cx="1326773" cy="369332"/>
            </a:xfrm>
            <a:prstGeom prst="rect">
              <a:avLst/>
            </a:prstGeom>
            <a:noFill/>
          </p:spPr>
          <p:txBody>
            <a:bodyPr wrap="none" rtlCol="0">
              <a:spAutoFit/>
            </a:bodyPr>
            <a:lstStyle/>
            <a:p>
              <a:r>
                <a:rPr lang="en-US" dirty="0"/>
                <a:t>Incongruent</a:t>
              </a:r>
            </a:p>
          </p:txBody>
        </p:sp>
        <p:sp>
          <p:nvSpPr>
            <p:cNvPr id="26" name="TextBox 25">
              <a:extLst>
                <a:ext uri="{FF2B5EF4-FFF2-40B4-BE49-F238E27FC236}">
                  <a16:creationId xmlns:a16="http://schemas.microsoft.com/office/drawing/2014/main" id="{33D05802-9CC4-129A-F075-B9AF5EB218CB}"/>
                </a:ext>
              </a:extLst>
            </p:cNvPr>
            <p:cNvSpPr txBox="1"/>
            <p:nvPr/>
          </p:nvSpPr>
          <p:spPr>
            <a:xfrm>
              <a:off x="3545876" y="1327482"/>
              <a:ext cx="1326773" cy="369332"/>
            </a:xfrm>
            <a:prstGeom prst="rect">
              <a:avLst/>
            </a:prstGeom>
            <a:noFill/>
          </p:spPr>
          <p:txBody>
            <a:bodyPr wrap="none" rtlCol="0">
              <a:spAutoFit/>
            </a:bodyPr>
            <a:lstStyle/>
            <a:p>
              <a:r>
                <a:rPr lang="en-US" dirty="0"/>
                <a:t>Incongruent</a:t>
              </a:r>
            </a:p>
          </p:txBody>
        </p:sp>
        <p:sp>
          <p:nvSpPr>
            <p:cNvPr id="27" name="TextBox 26">
              <a:extLst>
                <a:ext uri="{FF2B5EF4-FFF2-40B4-BE49-F238E27FC236}">
                  <a16:creationId xmlns:a16="http://schemas.microsoft.com/office/drawing/2014/main" id="{32ADC69B-F187-BB23-3077-D367B0592CB6}"/>
                </a:ext>
              </a:extLst>
            </p:cNvPr>
            <p:cNvSpPr txBox="1"/>
            <p:nvPr/>
          </p:nvSpPr>
          <p:spPr>
            <a:xfrm>
              <a:off x="6025291" y="1803330"/>
              <a:ext cx="1326773" cy="369332"/>
            </a:xfrm>
            <a:prstGeom prst="rect">
              <a:avLst/>
            </a:prstGeom>
            <a:noFill/>
          </p:spPr>
          <p:txBody>
            <a:bodyPr wrap="none" rtlCol="0">
              <a:spAutoFit/>
            </a:bodyPr>
            <a:lstStyle/>
            <a:p>
              <a:r>
                <a:rPr lang="en-US" dirty="0"/>
                <a:t>Incongruent</a:t>
              </a:r>
            </a:p>
          </p:txBody>
        </p:sp>
        <p:sp>
          <p:nvSpPr>
            <p:cNvPr id="28" name="TextBox 27">
              <a:extLst>
                <a:ext uri="{FF2B5EF4-FFF2-40B4-BE49-F238E27FC236}">
                  <a16:creationId xmlns:a16="http://schemas.microsoft.com/office/drawing/2014/main" id="{A04CE84A-5071-A4DA-81F6-47683151569E}"/>
                </a:ext>
              </a:extLst>
            </p:cNvPr>
            <p:cNvSpPr txBox="1"/>
            <p:nvPr/>
          </p:nvSpPr>
          <p:spPr>
            <a:xfrm>
              <a:off x="8685537" y="2277517"/>
              <a:ext cx="1174810" cy="369332"/>
            </a:xfrm>
            <a:prstGeom prst="rect">
              <a:avLst/>
            </a:prstGeom>
            <a:noFill/>
          </p:spPr>
          <p:txBody>
            <a:bodyPr wrap="none" rtlCol="0">
              <a:spAutoFit/>
            </a:bodyPr>
            <a:lstStyle/>
            <a:p>
              <a:r>
                <a:rPr lang="en-US" dirty="0"/>
                <a:t>Congruent</a:t>
              </a:r>
            </a:p>
          </p:txBody>
        </p:sp>
      </p:grpSp>
      <p:sp>
        <p:nvSpPr>
          <p:cNvPr id="30" name="TextBox 29">
            <a:extLst>
              <a:ext uri="{FF2B5EF4-FFF2-40B4-BE49-F238E27FC236}">
                <a16:creationId xmlns:a16="http://schemas.microsoft.com/office/drawing/2014/main" id="{65F2B070-3992-D7AF-C84A-37AADDDFBBB4}"/>
              </a:ext>
            </a:extLst>
          </p:cNvPr>
          <p:cNvSpPr txBox="1"/>
          <p:nvPr/>
        </p:nvSpPr>
        <p:spPr>
          <a:xfrm>
            <a:off x="-20252" y="0"/>
            <a:ext cx="1447999" cy="369332"/>
          </a:xfrm>
          <a:prstGeom prst="rect">
            <a:avLst/>
          </a:prstGeom>
          <a:noFill/>
        </p:spPr>
        <p:txBody>
          <a:bodyPr wrap="square" rtlCol="0">
            <a:spAutoFit/>
          </a:bodyPr>
          <a:lstStyle/>
          <a:p>
            <a:r>
              <a:rPr lang="en-US" dirty="0" err="1"/>
              <a:t>Egner</a:t>
            </a:r>
            <a:r>
              <a:rPr lang="en-US" dirty="0"/>
              <a:t>, 2023</a:t>
            </a:r>
          </a:p>
        </p:txBody>
      </p:sp>
      <p:pic>
        <p:nvPicPr>
          <p:cNvPr id="31" name="Picture 30" descr="A person wearing a yellow garment&#10;&#10;Description automatically generated">
            <a:extLst>
              <a:ext uri="{FF2B5EF4-FFF2-40B4-BE49-F238E27FC236}">
                <a16:creationId xmlns:a16="http://schemas.microsoft.com/office/drawing/2014/main" id="{BCFCC661-CFD9-E752-BFC8-85DDBF809300}"/>
              </a:ext>
            </a:extLst>
          </p:cNvPr>
          <p:cNvPicPr>
            <a:picLocks noChangeAspect="1"/>
          </p:cNvPicPr>
          <p:nvPr/>
        </p:nvPicPr>
        <p:blipFill rotWithShape="1">
          <a:blip r:embed="rId3"/>
          <a:srcRect t="18750"/>
          <a:stretch/>
        </p:blipFill>
        <p:spPr>
          <a:xfrm>
            <a:off x="85660" y="365125"/>
            <a:ext cx="969670" cy="786511"/>
          </a:xfrm>
          <a:prstGeom prst="rect">
            <a:avLst/>
          </a:prstGeom>
        </p:spPr>
      </p:pic>
      <p:pic>
        <p:nvPicPr>
          <p:cNvPr id="32" name="Content Placeholder 4" descr="A diagram of different types of graphs&#10;&#10;Description automatically generated with medium confidence">
            <a:extLst>
              <a:ext uri="{FF2B5EF4-FFF2-40B4-BE49-F238E27FC236}">
                <a16:creationId xmlns:a16="http://schemas.microsoft.com/office/drawing/2014/main" id="{6BE21807-2F5A-FE5F-9623-EDF46455D7E6}"/>
              </a:ext>
            </a:extLst>
          </p:cNvPr>
          <p:cNvPicPr>
            <a:picLocks noGrp="1" noChangeAspect="1"/>
          </p:cNvPicPr>
          <p:nvPr>
            <p:ph idx="1"/>
          </p:nvPr>
        </p:nvPicPr>
        <p:blipFill rotWithShape="1">
          <a:blip r:embed="rId4"/>
          <a:srcRect l="58070" t="1619"/>
          <a:stretch/>
        </p:blipFill>
        <p:spPr>
          <a:xfrm>
            <a:off x="8493440" y="-4519"/>
            <a:ext cx="3698561" cy="6858000"/>
          </a:xfrm>
          <a:ln>
            <a:solidFill>
              <a:srgbClr val="92D050"/>
            </a:solidFill>
          </a:ln>
        </p:spPr>
      </p:pic>
      <p:grpSp>
        <p:nvGrpSpPr>
          <p:cNvPr id="34" name="Group 33">
            <a:extLst>
              <a:ext uri="{FF2B5EF4-FFF2-40B4-BE49-F238E27FC236}">
                <a16:creationId xmlns:a16="http://schemas.microsoft.com/office/drawing/2014/main" id="{75DA90FC-DF3F-C20D-E11F-0966206CF059}"/>
              </a:ext>
            </a:extLst>
          </p:cNvPr>
          <p:cNvGrpSpPr>
            <a:grpSpLocks noChangeAspect="1"/>
          </p:cNvGrpSpPr>
          <p:nvPr/>
        </p:nvGrpSpPr>
        <p:grpSpPr>
          <a:xfrm>
            <a:off x="1414859" y="3796735"/>
            <a:ext cx="6702552" cy="2278372"/>
            <a:chOff x="300653" y="1248076"/>
            <a:chExt cx="10779331" cy="3407763"/>
          </a:xfrm>
        </p:grpSpPr>
        <p:grpSp>
          <p:nvGrpSpPr>
            <p:cNvPr id="35" name="Group 34">
              <a:extLst>
                <a:ext uri="{FF2B5EF4-FFF2-40B4-BE49-F238E27FC236}">
                  <a16:creationId xmlns:a16="http://schemas.microsoft.com/office/drawing/2014/main" id="{B9E893E0-C782-5B47-9385-1EA11A3974B1}"/>
                </a:ext>
              </a:extLst>
            </p:cNvPr>
            <p:cNvGrpSpPr/>
            <p:nvPr/>
          </p:nvGrpSpPr>
          <p:grpSpPr>
            <a:xfrm>
              <a:off x="300653" y="1451028"/>
              <a:ext cx="3144253" cy="1791121"/>
              <a:chOff x="1652336" y="2510590"/>
              <a:chExt cx="3144253" cy="1791121"/>
            </a:xfrm>
          </p:grpSpPr>
          <p:sp>
            <p:nvSpPr>
              <p:cNvPr id="51" name="Rectangle 50">
                <a:extLst>
                  <a:ext uri="{FF2B5EF4-FFF2-40B4-BE49-F238E27FC236}">
                    <a16:creationId xmlns:a16="http://schemas.microsoft.com/office/drawing/2014/main" id="{CA21277C-BF12-A239-17C5-421726A3DA91}"/>
                  </a:ext>
                </a:extLst>
              </p:cNvPr>
              <p:cNvSpPr/>
              <p:nvPr/>
            </p:nvSpPr>
            <p:spPr>
              <a:xfrm>
                <a:off x="1652336" y="2510590"/>
                <a:ext cx="3144253" cy="1791121"/>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83B6A7F8-6690-1EF4-952C-54079D2B5590}"/>
                  </a:ext>
                </a:extLst>
              </p:cNvPr>
              <p:cNvSpPr/>
              <p:nvPr/>
            </p:nvSpPr>
            <p:spPr>
              <a:xfrm>
                <a:off x="2783972" y="2971800"/>
                <a:ext cx="914400" cy="9144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790E8D16-1512-6EE9-06CE-5F3816ACC8CE}"/>
                  </a:ext>
                </a:extLst>
              </p:cNvPr>
              <p:cNvSpPr txBox="1"/>
              <p:nvPr/>
            </p:nvSpPr>
            <p:spPr>
              <a:xfrm>
                <a:off x="2979312" y="3031728"/>
                <a:ext cx="367408" cy="523220"/>
              </a:xfrm>
              <a:prstGeom prst="rect">
                <a:avLst/>
              </a:prstGeom>
              <a:noFill/>
            </p:spPr>
            <p:txBody>
              <a:bodyPr wrap="none" rtlCol="0">
                <a:spAutoFit/>
              </a:bodyPr>
              <a:lstStyle/>
              <a:p>
                <a:r>
                  <a:rPr lang="en-US" sz="2800" b="1" dirty="0"/>
                  <a:t>4</a:t>
                </a:r>
                <a:endParaRPr lang="en-US" sz="3600" b="1" dirty="0"/>
              </a:p>
            </p:txBody>
          </p:sp>
        </p:grpSp>
        <p:grpSp>
          <p:nvGrpSpPr>
            <p:cNvPr id="36" name="Group 35">
              <a:extLst>
                <a:ext uri="{FF2B5EF4-FFF2-40B4-BE49-F238E27FC236}">
                  <a16:creationId xmlns:a16="http://schemas.microsoft.com/office/drawing/2014/main" id="{B2E01524-6546-C4F9-2E83-B1F3412F7FF6}"/>
                </a:ext>
              </a:extLst>
            </p:cNvPr>
            <p:cNvGrpSpPr/>
            <p:nvPr/>
          </p:nvGrpSpPr>
          <p:grpSpPr>
            <a:xfrm>
              <a:off x="2826614" y="1923459"/>
              <a:ext cx="3144253" cy="1791121"/>
              <a:chOff x="1652336" y="2510590"/>
              <a:chExt cx="3144253" cy="1791121"/>
            </a:xfrm>
            <a:solidFill>
              <a:schemeClr val="bg1"/>
            </a:solidFill>
          </p:grpSpPr>
          <p:sp>
            <p:nvSpPr>
              <p:cNvPr id="48" name="Rectangle 47">
                <a:extLst>
                  <a:ext uri="{FF2B5EF4-FFF2-40B4-BE49-F238E27FC236}">
                    <a16:creationId xmlns:a16="http://schemas.microsoft.com/office/drawing/2014/main" id="{99FA1F79-C59E-59E2-4978-E3FF18F67046}"/>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1FA5DAF2-369A-74B5-C58C-52333978C427}"/>
                  </a:ext>
                </a:extLst>
              </p:cNvPr>
              <p:cNvSpPr/>
              <p:nvPr/>
            </p:nvSpPr>
            <p:spPr>
              <a:xfrm>
                <a:off x="2783971" y="2971800"/>
                <a:ext cx="914400" cy="914399"/>
              </a:xfrm>
              <a:prstGeom prst="rect">
                <a:avLst/>
              </a:prstGeom>
              <a:grp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00E37408-CB2B-2FE3-F50C-D34BDC1CBD25}"/>
                  </a:ext>
                </a:extLst>
              </p:cNvPr>
              <p:cNvSpPr txBox="1"/>
              <p:nvPr/>
            </p:nvSpPr>
            <p:spPr>
              <a:xfrm>
                <a:off x="2974734" y="3082516"/>
                <a:ext cx="367408" cy="523220"/>
              </a:xfrm>
              <a:prstGeom prst="rect">
                <a:avLst/>
              </a:prstGeom>
              <a:grpFill/>
            </p:spPr>
            <p:txBody>
              <a:bodyPr wrap="none" rtlCol="0">
                <a:spAutoFit/>
              </a:bodyPr>
              <a:lstStyle/>
              <a:p>
                <a:r>
                  <a:rPr lang="en-US" sz="2800" b="1" dirty="0"/>
                  <a:t>2</a:t>
                </a:r>
                <a:endParaRPr lang="en-US" sz="3600" b="1" dirty="0"/>
              </a:p>
            </p:txBody>
          </p:sp>
        </p:grpSp>
        <p:grpSp>
          <p:nvGrpSpPr>
            <p:cNvPr id="37" name="Group 36">
              <a:extLst>
                <a:ext uri="{FF2B5EF4-FFF2-40B4-BE49-F238E27FC236}">
                  <a16:creationId xmlns:a16="http://schemas.microsoft.com/office/drawing/2014/main" id="{82BE7EFE-EF6C-3F85-D63C-D5FA213CB120}"/>
                </a:ext>
              </a:extLst>
            </p:cNvPr>
            <p:cNvGrpSpPr/>
            <p:nvPr/>
          </p:nvGrpSpPr>
          <p:grpSpPr>
            <a:xfrm>
              <a:off x="5364463" y="2403508"/>
              <a:ext cx="3144253" cy="1791121"/>
              <a:chOff x="1652336" y="2510590"/>
              <a:chExt cx="3144253" cy="1791121"/>
            </a:xfrm>
            <a:solidFill>
              <a:schemeClr val="bg1"/>
            </a:solidFill>
          </p:grpSpPr>
          <p:sp>
            <p:nvSpPr>
              <p:cNvPr id="45" name="Rectangle 44">
                <a:extLst>
                  <a:ext uri="{FF2B5EF4-FFF2-40B4-BE49-F238E27FC236}">
                    <a16:creationId xmlns:a16="http://schemas.microsoft.com/office/drawing/2014/main" id="{34BD95CF-A574-FF12-4E3D-428ED5F8254E}"/>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9409109-E4F9-711A-244F-EA160A274A34}"/>
                  </a:ext>
                </a:extLst>
              </p:cNvPr>
              <p:cNvSpPr/>
              <p:nvPr/>
            </p:nvSpPr>
            <p:spPr>
              <a:xfrm>
                <a:off x="2783972" y="2971800"/>
                <a:ext cx="914400" cy="914400"/>
              </a:xfrm>
              <a:prstGeom prst="rect">
                <a:avLst/>
              </a:prstGeom>
              <a:grp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sp>
            <p:nvSpPr>
              <p:cNvPr id="47" name="TextBox 46">
                <a:extLst>
                  <a:ext uri="{FF2B5EF4-FFF2-40B4-BE49-F238E27FC236}">
                    <a16:creationId xmlns:a16="http://schemas.microsoft.com/office/drawing/2014/main" id="{FDEE21ED-3EDC-9A1B-7D8F-429F1E0B0CCD}"/>
                  </a:ext>
                </a:extLst>
              </p:cNvPr>
              <p:cNvSpPr txBox="1"/>
              <p:nvPr/>
            </p:nvSpPr>
            <p:spPr>
              <a:xfrm>
                <a:off x="2976552" y="3048744"/>
                <a:ext cx="367408" cy="523220"/>
              </a:xfrm>
              <a:prstGeom prst="rect">
                <a:avLst/>
              </a:prstGeom>
              <a:grpFill/>
            </p:spPr>
            <p:txBody>
              <a:bodyPr wrap="none" rtlCol="0">
                <a:spAutoFit/>
              </a:bodyPr>
              <a:lstStyle/>
              <a:p>
                <a:r>
                  <a:rPr lang="en-US" sz="2800" b="1" dirty="0"/>
                  <a:t>9</a:t>
                </a:r>
                <a:endParaRPr lang="en-US" sz="3600" b="1" dirty="0"/>
              </a:p>
            </p:txBody>
          </p:sp>
        </p:grpSp>
        <p:grpSp>
          <p:nvGrpSpPr>
            <p:cNvPr id="38" name="Group 37">
              <a:extLst>
                <a:ext uri="{FF2B5EF4-FFF2-40B4-BE49-F238E27FC236}">
                  <a16:creationId xmlns:a16="http://schemas.microsoft.com/office/drawing/2014/main" id="{90796E3E-D919-A8C4-2DC4-BE02301DB323}"/>
                </a:ext>
              </a:extLst>
            </p:cNvPr>
            <p:cNvGrpSpPr/>
            <p:nvPr/>
          </p:nvGrpSpPr>
          <p:grpSpPr>
            <a:xfrm>
              <a:off x="7935731" y="2864718"/>
              <a:ext cx="3144253" cy="1791121"/>
              <a:chOff x="1652336" y="2510590"/>
              <a:chExt cx="3144253" cy="1791121"/>
            </a:xfrm>
            <a:solidFill>
              <a:schemeClr val="bg1"/>
            </a:solidFill>
          </p:grpSpPr>
          <p:sp>
            <p:nvSpPr>
              <p:cNvPr id="42" name="Rectangle 41">
                <a:extLst>
                  <a:ext uri="{FF2B5EF4-FFF2-40B4-BE49-F238E27FC236}">
                    <a16:creationId xmlns:a16="http://schemas.microsoft.com/office/drawing/2014/main" id="{19DA8C38-9224-897E-C2C8-56446A1FA5E2}"/>
                  </a:ext>
                </a:extLst>
              </p:cNvPr>
              <p:cNvSpPr/>
              <p:nvPr/>
            </p:nvSpPr>
            <p:spPr>
              <a:xfrm>
                <a:off x="1652336" y="2510590"/>
                <a:ext cx="3144253" cy="1791121"/>
              </a:xfrm>
              <a:prstGeom prst="rect">
                <a:avLst/>
              </a:prstGeom>
              <a:grp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73118863-E1DD-E922-4F58-B0D9C4841043}"/>
                  </a:ext>
                </a:extLst>
              </p:cNvPr>
              <p:cNvSpPr/>
              <p:nvPr/>
            </p:nvSpPr>
            <p:spPr>
              <a:xfrm>
                <a:off x="2783971" y="2971800"/>
                <a:ext cx="914400" cy="914399"/>
              </a:xfrm>
              <a:prstGeom prst="rect">
                <a:avLst/>
              </a:prstGeom>
              <a:grp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BF941567-1682-F276-47B7-69DE0A3320AC}"/>
                  </a:ext>
                </a:extLst>
              </p:cNvPr>
              <p:cNvSpPr txBox="1"/>
              <p:nvPr/>
            </p:nvSpPr>
            <p:spPr>
              <a:xfrm>
                <a:off x="2989547" y="3046118"/>
                <a:ext cx="367408" cy="523220"/>
              </a:xfrm>
              <a:prstGeom prst="rect">
                <a:avLst/>
              </a:prstGeom>
              <a:grpFill/>
            </p:spPr>
            <p:txBody>
              <a:bodyPr wrap="none" rtlCol="0">
                <a:spAutoFit/>
              </a:bodyPr>
              <a:lstStyle/>
              <a:p>
                <a:r>
                  <a:rPr lang="en-US" sz="2800" b="1" dirty="0"/>
                  <a:t>1</a:t>
                </a:r>
                <a:endParaRPr lang="en-US" sz="3600" b="1" dirty="0"/>
              </a:p>
            </p:txBody>
          </p:sp>
        </p:grpSp>
        <p:sp>
          <p:nvSpPr>
            <p:cNvPr id="39" name="TextBox 38">
              <a:extLst>
                <a:ext uri="{FF2B5EF4-FFF2-40B4-BE49-F238E27FC236}">
                  <a16:creationId xmlns:a16="http://schemas.microsoft.com/office/drawing/2014/main" id="{BF11F9CE-C5B4-5877-DAA2-E58445A97EEA}"/>
                </a:ext>
              </a:extLst>
            </p:cNvPr>
            <p:cNvSpPr txBox="1"/>
            <p:nvPr/>
          </p:nvSpPr>
          <p:spPr>
            <a:xfrm>
              <a:off x="3760382" y="1248076"/>
              <a:ext cx="1276716" cy="519741"/>
            </a:xfrm>
            <a:prstGeom prst="rect">
              <a:avLst/>
            </a:prstGeom>
            <a:noFill/>
          </p:spPr>
          <p:txBody>
            <a:bodyPr wrap="none" rtlCol="0">
              <a:spAutoFit/>
            </a:bodyPr>
            <a:lstStyle/>
            <a:p>
              <a:r>
                <a:rPr lang="en-US" dirty="0"/>
                <a:t>Repeat</a:t>
              </a:r>
            </a:p>
          </p:txBody>
        </p:sp>
        <p:sp>
          <p:nvSpPr>
            <p:cNvPr id="40" name="TextBox 39">
              <a:extLst>
                <a:ext uri="{FF2B5EF4-FFF2-40B4-BE49-F238E27FC236}">
                  <a16:creationId xmlns:a16="http://schemas.microsoft.com/office/drawing/2014/main" id="{7919F6C1-C545-B3DF-B32F-4463C8AF67B5}"/>
                </a:ext>
              </a:extLst>
            </p:cNvPr>
            <p:cNvSpPr txBox="1"/>
            <p:nvPr/>
          </p:nvSpPr>
          <p:spPr>
            <a:xfrm>
              <a:off x="6331121" y="1826847"/>
              <a:ext cx="1210936" cy="519741"/>
            </a:xfrm>
            <a:prstGeom prst="rect">
              <a:avLst/>
            </a:prstGeom>
            <a:noFill/>
          </p:spPr>
          <p:txBody>
            <a:bodyPr wrap="none" rtlCol="0">
              <a:spAutoFit/>
            </a:bodyPr>
            <a:lstStyle/>
            <a:p>
              <a:r>
                <a:rPr lang="en-US" dirty="0"/>
                <a:t>Switch</a:t>
              </a:r>
            </a:p>
          </p:txBody>
        </p:sp>
        <p:sp>
          <p:nvSpPr>
            <p:cNvPr id="41" name="TextBox 40">
              <a:extLst>
                <a:ext uri="{FF2B5EF4-FFF2-40B4-BE49-F238E27FC236}">
                  <a16:creationId xmlns:a16="http://schemas.microsoft.com/office/drawing/2014/main" id="{EA083A1B-A8AC-64E7-1A40-97BACD09BB5C}"/>
                </a:ext>
              </a:extLst>
            </p:cNvPr>
            <p:cNvSpPr txBox="1"/>
            <p:nvPr/>
          </p:nvSpPr>
          <p:spPr>
            <a:xfrm>
              <a:off x="8902390" y="2241208"/>
              <a:ext cx="1210936" cy="519741"/>
            </a:xfrm>
            <a:prstGeom prst="rect">
              <a:avLst/>
            </a:prstGeom>
            <a:noFill/>
          </p:spPr>
          <p:txBody>
            <a:bodyPr wrap="none" rtlCol="0">
              <a:spAutoFit/>
            </a:bodyPr>
            <a:lstStyle/>
            <a:p>
              <a:r>
                <a:rPr lang="en-US" dirty="0"/>
                <a:t>Switch</a:t>
              </a:r>
            </a:p>
          </p:txBody>
        </p:sp>
      </p:grpSp>
      <p:sp>
        <p:nvSpPr>
          <p:cNvPr id="55" name="TextBox 54">
            <a:extLst>
              <a:ext uri="{FF2B5EF4-FFF2-40B4-BE49-F238E27FC236}">
                <a16:creationId xmlns:a16="http://schemas.microsoft.com/office/drawing/2014/main" id="{A3A0CA38-CA07-1C29-CED7-E2A41C2E2B2D}"/>
              </a:ext>
            </a:extLst>
          </p:cNvPr>
          <p:cNvSpPr txBox="1"/>
          <p:nvPr/>
        </p:nvSpPr>
        <p:spPr>
          <a:xfrm>
            <a:off x="1312728" y="-82110"/>
            <a:ext cx="336952" cy="461665"/>
          </a:xfrm>
          <a:prstGeom prst="rect">
            <a:avLst/>
          </a:prstGeom>
          <a:noFill/>
        </p:spPr>
        <p:txBody>
          <a:bodyPr wrap="none" rtlCol="0">
            <a:spAutoFit/>
          </a:bodyPr>
          <a:lstStyle/>
          <a:p>
            <a:r>
              <a:rPr lang="en-US" sz="2400" b="1" dirty="0"/>
              <a:t>a</a:t>
            </a:r>
          </a:p>
        </p:txBody>
      </p:sp>
      <p:sp>
        <p:nvSpPr>
          <p:cNvPr id="56" name="TextBox 55">
            <a:extLst>
              <a:ext uri="{FF2B5EF4-FFF2-40B4-BE49-F238E27FC236}">
                <a16:creationId xmlns:a16="http://schemas.microsoft.com/office/drawing/2014/main" id="{6B4B4A7F-BC58-F3CF-B446-62819DA1699F}"/>
              </a:ext>
            </a:extLst>
          </p:cNvPr>
          <p:cNvSpPr txBox="1"/>
          <p:nvPr/>
        </p:nvSpPr>
        <p:spPr>
          <a:xfrm>
            <a:off x="1352266" y="3424481"/>
            <a:ext cx="312906" cy="461665"/>
          </a:xfrm>
          <a:prstGeom prst="rect">
            <a:avLst/>
          </a:prstGeom>
          <a:noFill/>
        </p:spPr>
        <p:txBody>
          <a:bodyPr wrap="none" rtlCol="0">
            <a:spAutoFit/>
          </a:bodyPr>
          <a:lstStyle/>
          <a:p>
            <a:r>
              <a:rPr lang="en-US" sz="2400" b="1" dirty="0"/>
              <a:t>c</a:t>
            </a:r>
          </a:p>
        </p:txBody>
      </p:sp>
      <p:sp>
        <p:nvSpPr>
          <p:cNvPr id="11" name="Right Bracket 10">
            <a:extLst>
              <a:ext uri="{FF2B5EF4-FFF2-40B4-BE49-F238E27FC236}">
                <a16:creationId xmlns:a16="http://schemas.microsoft.com/office/drawing/2014/main" id="{5F33657D-D3AD-8D25-35F2-A2934733EDFD}"/>
              </a:ext>
            </a:extLst>
          </p:cNvPr>
          <p:cNvSpPr/>
          <p:nvPr/>
        </p:nvSpPr>
        <p:spPr>
          <a:xfrm rot="10800000" flipH="1">
            <a:off x="9971597" y="382707"/>
            <a:ext cx="126174" cy="777240"/>
          </a:xfrm>
          <a:prstGeom prst="rightBracket">
            <a:avLst/>
          </a:prstGeom>
          <a:ln w="127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7030A0"/>
              </a:solidFill>
            </a:endParaRPr>
          </a:p>
        </p:txBody>
      </p:sp>
      <p:sp>
        <p:nvSpPr>
          <p:cNvPr id="33" name="Right Bracket 32">
            <a:extLst>
              <a:ext uri="{FF2B5EF4-FFF2-40B4-BE49-F238E27FC236}">
                <a16:creationId xmlns:a16="http://schemas.microsoft.com/office/drawing/2014/main" id="{991615A7-E792-1E2A-265C-6A227251FC05}"/>
              </a:ext>
            </a:extLst>
          </p:cNvPr>
          <p:cNvSpPr/>
          <p:nvPr/>
        </p:nvSpPr>
        <p:spPr>
          <a:xfrm rot="10800000" flipH="1">
            <a:off x="11558630" y="697516"/>
            <a:ext cx="45719" cy="261007"/>
          </a:xfrm>
          <a:prstGeom prst="rightBracket">
            <a:avLst/>
          </a:prstGeom>
          <a:ln w="12700">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7030A0"/>
              </a:solidFill>
            </a:endParaRPr>
          </a:p>
        </p:txBody>
      </p:sp>
      <p:sp>
        <p:nvSpPr>
          <p:cNvPr id="54" name="TextBox 53">
            <a:extLst>
              <a:ext uri="{FF2B5EF4-FFF2-40B4-BE49-F238E27FC236}">
                <a16:creationId xmlns:a16="http://schemas.microsoft.com/office/drawing/2014/main" id="{A9426589-47EA-C2E8-B882-4076E9AA20A6}"/>
              </a:ext>
            </a:extLst>
          </p:cNvPr>
          <p:cNvSpPr txBox="1"/>
          <p:nvPr/>
        </p:nvSpPr>
        <p:spPr>
          <a:xfrm>
            <a:off x="10063174" y="466133"/>
            <a:ext cx="730393" cy="523220"/>
          </a:xfrm>
          <a:prstGeom prst="rect">
            <a:avLst/>
          </a:prstGeom>
          <a:noFill/>
        </p:spPr>
        <p:txBody>
          <a:bodyPr wrap="square" rtlCol="0">
            <a:spAutoFit/>
          </a:bodyPr>
          <a:lstStyle/>
          <a:p>
            <a:r>
              <a:rPr lang="en-US" sz="1400" dirty="0">
                <a:solidFill>
                  <a:srgbClr val="7030A0"/>
                </a:solidFill>
              </a:rPr>
              <a:t>Con. Effect</a:t>
            </a:r>
          </a:p>
        </p:txBody>
      </p:sp>
      <p:sp>
        <p:nvSpPr>
          <p:cNvPr id="57" name="TextBox 56">
            <a:extLst>
              <a:ext uri="{FF2B5EF4-FFF2-40B4-BE49-F238E27FC236}">
                <a16:creationId xmlns:a16="http://schemas.microsoft.com/office/drawing/2014/main" id="{D4FCA31B-419E-C1CD-8E84-B6B9437501DE}"/>
              </a:ext>
            </a:extLst>
          </p:cNvPr>
          <p:cNvSpPr txBox="1"/>
          <p:nvPr/>
        </p:nvSpPr>
        <p:spPr>
          <a:xfrm>
            <a:off x="11594198" y="612575"/>
            <a:ext cx="733480" cy="430887"/>
          </a:xfrm>
          <a:prstGeom prst="rect">
            <a:avLst/>
          </a:prstGeom>
          <a:noFill/>
        </p:spPr>
        <p:txBody>
          <a:bodyPr wrap="square" rtlCol="0">
            <a:spAutoFit/>
          </a:bodyPr>
          <a:lstStyle/>
          <a:p>
            <a:r>
              <a:rPr lang="en-US" sz="1050" dirty="0">
                <a:solidFill>
                  <a:srgbClr val="7030A0"/>
                </a:solidFill>
              </a:rPr>
              <a:t>Con. Effect</a:t>
            </a:r>
          </a:p>
        </p:txBody>
      </p:sp>
      <p:sp>
        <p:nvSpPr>
          <p:cNvPr id="58" name="Right Bracket 57">
            <a:extLst>
              <a:ext uri="{FF2B5EF4-FFF2-40B4-BE49-F238E27FC236}">
                <a16:creationId xmlns:a16="http://schemas.microsoft.com/office/drawing/2014/main" id="{C7245393-67ED-373A-61DA-EB6E5623E577}"/>
              </a:ext>
            </a:extLst>
          </p:cNvPr>
          <p:cNvSpPr/>
          <p:nvPr/>
        </p:nvSpPr>
        <p:spPr>
          <a:xfrm rot="10800000" flipH="1">
            <a:off x="10000087" y="3932425"/>
            <a:ext cx="126174" cy="777240"/>
          </a:xfrm>
          <a:prstGeom prst="rightBracket">
            <a:avLst/>
          </a:pr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FFC000"/>
              </a:solidFill>
            </a:endParaRPr>
          </a:p>
        </p:txBody>
      </p:sp>
      <p:sp>
        <p:nvSpPr>
          <p:cNvPr id="59" name="TextBox 58">
            <a:extLst>
              <a:ext uri="{FF2B5EF4-FFF2-40B4-BE49-F238E27FC236}">
                <a16:creationId xmlns:a16="http://schemas.microsoft.com/office/drawing/2014/main" id="{8F3DF6E9-8420-0A39-5F79-56A52B97C3F5}"/>
              </a:ext>
            </a:extLst>
          </p:cNvPr>
          <p:cNvSpPr txBox="1"/>
          <p:nvPr/>
        </p:nvSpPr>
        <p:spPr>
          <a:xfrm>
            <a:off x="10100982" y="3986675"/>
            <a:ext cx="730393" cy="523220"/>
          </a:xfrm>
          <a:prstGeom prst="rect">
            <a:avLst/>
          </a:prstGeom>
          <a:noFill/>
          <a:ln>
            <a:noFill/>
          </a:ln>
        </p:spPr>
        <p:txBody>
          <a:bodyPr wrap="square" rtlCol="0">
            <a:spAutoFit/>
          </a:bodyPr>
          <a:lstStyle/>
          <a:p>
            <a:r>
              <a:rPr lang="en-US" sz="1400" dirty="0">
                <a:solidFill>
                  <a:srgbClr val="FFC000"/>
                </a:solidFill>
              </a:rPr>
              <a:t>Switch Cost</a:t>
            </a:r>
          </a:p>
        </p:txBody>
      </p:sp>
      <p:sp>
        <p:nvSpPr>
          <p:cNvPr id="60" name="Right Bracket 59">
            <a:extLst>
              <a:ext uri="{FF2B5EF4-FFF2-40B4-BE49-F238E27FC236}">
                <a16:creationId xmlns:a16="http://schemas.microsoft.com/office/drawing/2014/main" id="{06EA5DE3-C246-989F-300F-839853C5F7D2}"/>
              </a:ext>
            </a:extLst>
          </p:cNvPr>
          <p:cNvSpPr/>
          <p:nvPr/>
        </p:nvSpPr>
        <p:spPr>
          <a:xfrm rot="10800000" flipH="1">
            <a:off x="11587051" y="4269966"/>
            <a:ext cx="45719" cy="261007"/>
          </a:xfrm>
          <a:prstGeom prst="rightBracket">
            <a:avLst/>
          </a:prstGeom>
          <a:ln w="127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TextBox 60">
            <a:extLst>
              <a:ext uri="{FF2B5EF4-FFF2-40B4-BE49-F238E27FC236}">
                <a16:creationId xmlns:a16="http://schemas.microsoft.com/office/drawing/2014/main" id="{218D3EE7-40A2-A8A6-230D-FB8D30A6329F}"/>
              </a:ext>
            </a:extLst>
          </p:cNvPr>
          <p:cNvSpPr txBox="1"/>
          <p:nvPr/>
        </p:nvSpPr>
        <p:spPr>
          <a:xfrm>
            <a:off x="11604349" y="4192720"/>
            <a:ext cx="733480" cy="415498"/>
          </a:xfrm>
          <a:prstGeom prst="rect">
            <a:avLst/>
          </a:prstGeom>
          <a:noFill/>
        </p:spPr>
        <p:txBody>
          <a:bodyPr wrap="square" rtlCol="0">
            <a:spAutoFit/>
          </a:bodyPr>
          <a:lstStyle/>
          <a:p>
            <a:r>
              <a:rPr lang="en-US" sz="1050" dirty="0">
                <a:solidFill>
                  <a:srgbClr val="FFC000"/>
                </a:solidFill>
              </a:rPr>
              <a:t>Switch Cost</a:t>
            </a:r>
          </a:p>
        </p:txBody>
      </p:sp>
      <p:sp>
        <p:nvSpPr>
          <p:cNvPr id="2" name="Rectangle 1">
            <a:extLst>
              <a:ext uri="{FF2B5EF4-FFF2-40B4-BE49-F238E27FC236}">
                <a16:creationId xmlns:a16="http://schemas.microsoft.com/office/drawing/2014/main" id="{37CD7CEB-5F14-4C7D-6503-78D4043ED4F3}"/>
              </a:ext>
            </a:extLst>
          </p:cNvPr>
          <p:cNvSpPr/>
          <p:nvPr/>
        </p:nvSpPr>
        <p:spPr>
          <a:xfrm>
            <a:off x="9251372" y="1177224"/>
            <a:ext cx="271494" cy="1331683"/>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3" name="Rectangle 2">
            <a:extLst>
              <a:ext uri="{FF2B5EF4-FFF2-40B4-BE49-F238E27FC236}">
                <a16:creationId xmlns:a16="http://schemas.microsoft.com/office/drawing/2014/main" id="{E72EB49D-D11A-1201-F50E-18801241CF17}"/>
              </a:ext>
            </a:extLst>
          </p:cNvPr>
          <p:cNvSpPr/>
          <p:nvPr/>
        </p:nvSpPr>
        <p:spPr>
          <a:xfrm>
            <a:off x="10868134" y="887724"/>
            <a:ext cx="246888" cy="1618488"/>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4" name="Rectangle 3">
            <a:extLst>
              <a:ext uri="{FF2B5EF4-FFF2-40B4-BE49-F238E27FC236}">
                <a16:creationId xmlns:a16="http://schemas.microsoft.com/office/drawing/2014/main" id="{1CFB788B-5FEB-3509-610B-E7229866F69D}"/>
              </a:ext>
            </a:extLst>
          </p:cNvPr>
          <p:cNvSpPr/>
          <p:nvPr/>
        </p:nvSpPr>
        <p:spPr>
          <a:xfrm>
            <a:off x="9609269" y="379556"/>
            <a:ext cx="271494" cy="212935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9" name="Rectangle 8">
            <a:extLst>
              <a:ext uri="{FF2B5EF4-FFF2-40B4-BE49-F238E27FC236}">
                <a16:creationId xmlns:a16="http://schemas.microsoft.com/office/drawing/2014/main" id="{A57595BE-B02C-9C71-EF3E-2B92BCB44B50}"/>
              </a:ext>
            </a:extLst>
          </p:cNvPr>
          <p:cNvSpPr/>
          <p:nvPr/>
        </p:nvSpPr>
        <p:spPr>
          <a:xfrm>
            <a:off x="11237867" y="697515"/>
            <a:ext cx="251697" cy="182530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0" name="Rectangle 9">
            <a:extLst>
              <a:ext uri="{FF2B5EF4-FFF2-40B4-BE49-F238E27FC236}">
                <a16:creationId xmlns:a16="http://schemas.microsoft.com/office/drawing/2014/main" id="{9860A9D2-721C-E09E-A960-3B12162EB494}"/>
              </a:ext>
            </a:extLst>
          </p:cNvPr>
          <p:cNvSpPr/>
          <p:nvPr/>
        </p:nvSpPr>
        <p:spPr>
          <a:xfrm>
            <a:off x="10466178" y="266362"/>
            <a:ext cx="137160" cy="13716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2" name="Rectangle 11">
            <a:extLst>
              <a:ext uri="{FF2B5EF4-FFF2-40B4-BE49-F238E27FC236}">
                <a16:creationId xmlns:a16="http://schemas.microsoft.com/office/drawing/2014/main" id="{CB5D7F0A-00AA-6350-B03B-7C6C3622D4D7}"/>
              </a:ext>
            </a:extLst>
          </p:cNvPr>
          <p:cNvSpPr/>
          <p:nvPr/>
        </p:nvSpPr>
        <p:spPr>
          <a:xfrm>
            <a:off x="10466178" y="7965"/>
            <a:ext cx="137160" cy="137160"/>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Tree>
    <p:extLst>
      <p:ext uri="{BB962C8B-B14F-4D97-AF65-F5344CB8AC3E}">
        <p14:creationId xmlns:p14="http://schemas.microsoft.com/office/powerpoint/2010/main" val="3261271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22965</TotalTime>
  <Words>9109</Words>
  <Application>Microsoft Macintosh PowerPoint</Application>
  <PresentationFormat>Widescreen</PresentationFormat>
  <Paragraphs>1117</Paragraphs>
  <Slides>43</Slides>
  <Notes>38</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Calibri Light</vt:lpstr>
      <vt:lpstr>Times New Roman</vt:lpstr>
      <vt:lpstr>Wingdings</vt:lpstr>
      <vt:lpstr>Office Theme</vt:lpstr>
      <vt:lpstr>Investigating the Neural Mechanisms Underlying Concurrent Regulation of Cognitive Stability and Flexibility</vt:lpstr>
      <vt:lpstr>Outline</vt:lpstr>
      <vt:lpstr>Outline</vt:lpstr>
      <vt:lpstr>Outline</vt:lpstr>
      <vt:lpstr>Outline</vt:lpstr>
      <vt:lpstr>Outline</vt:lpstr>
      <vt:lpstr>PowerPoint Presentation</vt:lpstr>
      <vt:lpstr>PowerPoint Presentation</vt:lpstr>
      <vt:lpstr>PowerPoint Presentation</vt:lpstr>
      <vt:lpstr>PowerPoint Presentation</vt:lpstr>
      <vt:lpstr>PowerPoint Presentation</vt:lpstr>
      <vt:lpstr>Core capabilities of cognitive control</vt:lpstr>
      <vt:lpstr>Our tasks measure both stability and flexibility</vt:lpstr>
      <vt:lpstr>Our tasks measure both stability and flexibility</vt:lpstr>
      <vt:lpstr>PowerPoint Presentation</vt:lpstr>
      <vt:lpstr>fMRI (N=45)</vt:lpstr>
      <vt:lpstr>PowerPoint Presentation</vt:lpstr>
      <vt:lpstr>fMRI regions mediating flexibility (N=45)</vt:lpstr>
      <vt:lpstr>fMRI regions mediating flexibility (N=45)</vt:lpstr>
      <vt:lpstr>fMRI Next Steps</vt:lpstr>
      <vt:lpstr>iEEG (N=14)</vt:lpstr>
      <vt:lpstr>Stereo EEG and High Gamma Power</vt:lpstr>
      <vt:lpstr>Stereo EEG and High Gamma Power</vt:lpstr>
      <vt:lpstr>PowerPoint Presentation</vt:lpstr>
      <vt:lpstr>iEEG Average High Gamma Power (N=14)</vt:lpstr>
      <vt:lpstr>LPFC Decoding</vt:lpstr>
      <vt:lpstr>iEEG Next Steps</vt:lpstr>
      <vt:lpstr>Conclusion</vt:lpstr>
      <vt:lpstr>Thanks to my advisors and labmates for their support!</vt:lpstr>
      <vt:lpstr>Occ visual decoding. 51 channels x 641 timepoints. This is using randomly chosen minimum number of good trials across decoding classes</vt:lpstr>
      <vt:lpstr>lpfc visual decoding. 59 channels x 641 timepoints. This is using randomly chosen minimum number of good trials across decoding classes</vt:lpstr>
      <vt:lpstr>Occ cognitive control decoding. 51 channels x 641 timepoints. This is using randomly chosen minimum number of good trials across decoding classes</vt:lpstr>
      <vt:lpstr>lpfc cognitive control decoding. 59 channels x 641 timepoints. This is using randomly chosen minimum number of good trials across decoding classes</vt:lpstr>
      <vt:lpstr>PowerPoint Presentation</vt:lpstr>
      <vt:lpstr>PowerPoint Presentation</vt:lpstr>
      <vt:lpstr>Occ visual decoding over time (200 ms bins, dots at bin centers)</vt:lpstr>
      <vt:lpstr>Occ best filtered visual decoding over time</vt:lpstr>
      <vt:lpstr>lpfc visual decoding over time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Jim Zhang</dc:creator>
  <cp:lastModifiedBy>Jim Zhang</cp:lastModifiedBy>
  <cp:revision>270</cp:revision>
  <dcterms:created xsi:type="dcterms:W3CDTF">2023-11-28T16:11:45Z</dcterms:created>
  <dcterms:modified xsi:type="dcterms:W3CDTF">2025-05-02T01:17:00Z</dcterms:modified>
</cp:coreProperties>
</file>